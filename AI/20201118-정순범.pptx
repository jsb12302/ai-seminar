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303" r:id="rId4"/>
    <p:sldId id="304" r:id="rId5"/>
    <p:sldId id="305" r:id="rId6"/>
    <p:sldId id="260" r:id="rId7"/>
    <p:sldId id="265" r:id="rId8"/>
    <p:sldId id="266" r:id="rId9"/>
    <p:sldId id="300" r:id="rId10"/>
    <p:sldId id="301" r:id="rId11"/>
    <p:sldId id="302" r:id="rId12"/>
    <p:sldId id="267" r:id="rId13"/>
    <p:sldId id="268" r:id="rId14"/>
    <p:sldId id="298" r:id="rId15"/>
    <p:sldId id="269" r:id="rId16"/>
    <p:sldId id="271" r:id="rId17"/>
    <p:sldId id="272" r:id="rId18"/>
    <p:sldId id="299" r:id="rId19"/>
    <p:sldId id="264" r:id="rId20"/>
  </p:sldIdLst>
  <p:sldSz cx="12192000" cy="6858000"/>
  <p:notesSz cx="6858000" cy="9144000"/>
  <p:embeddedFontLst>
    <p:embeddedFont>
      <p:font typeface="나눔고딕 ExtraBold" panose="020B0600000101010101" charset="-127"/>
      <p:bold r:id="rId22"/>
    </p:embeddedFont>
    <p:embeddedFont>
      <p:font typeface="나눔스퀘어라운드 Bold" panose="020B0600000101010101" charset="-127"/>
      <p:bold r:id="rId23"/>
    </p:embeddedFont>
    <p:embeddedFont>
      <p:font typeface="나눔스퀘어라운드 ExtraBold" panose="020B0600000101010101" charset="-127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725" autoAdjust="0"/>
  </p:normalViewPr>
  <p:slideViewPr>
    <p:cSldViewPr snapToGrid="0" showGuides="1">
      <p:cViewPr varScale="1">
        <p:scale>
          <a:sx n="81" d="100"/>
          <a:sy n="81" d="100"/>
        </p:scale>
        <p:origin x="75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217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6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EF1E5-4998-47F2-BF49-17A47DE06D98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딥러닝을 위한 기초 알고리즘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951" y="1774085"/>
            <a:ext cx="1254096" cy="12540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9671900" y="6369478"/>
            <a:ext cx="2520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2020-11-18 </a:t>
            </a:r>
            <a:r>
              <a:rPr lang="ko-KR" altLang="en-US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2389" y="40003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84726" y="308756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884727" y="4013357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884726" y="4939145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04</a:t>
            </a:r>
            <a:endParaRPr lang="ko-KR" altLang="en-US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787" y="569617"/>
            <a:ext cx="771321" cy="771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A948B-EDBD-4DAA-918A-847994014BC5}"/>
              </a:ext>
            </a:extLst>
          </p:cNvPr>
          <p:cNvSpPr txBox="1"/>
          <p:nvPr/>
        </p:nvSpPr>
        <p:spPr>
          <a:xfrm>
            <a:off x="1740070" y="302889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단순 선형회귀 실습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521E5-1B59-4607-936C-6D3837A5A1DE}"/>
              </a:ext>
            </a:extLst>
          </p:cNvPr>
          <p:cNvSpPr txBox="1"/>
          <p:nvPr/>
        </p:nvSpPr>
        <p:spPr>
          <a:xfrm>
            <a:off x="1740070" y="4877992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다중 선형회귀 실습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83767-C4BC-40B3-B74D-8D064863C40C}"/>
              </a:ext>
            </a:extLst>
          </p:cNvPr>
          <p:cNvSpPr txBox="1"/>
          <p:nvPr/>
        </p:nvSpPr>
        <p:spPr>
          <a:xfrm>
            <a:off x="1740070" y="3951403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경사 하강법 실습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A3EC-5AAA-4AE8-9BCC-2E04A9B657F6}"/>
              </a:ext>
            </a:extLst>
          </p:cNvPr>
          <p:cNvSpPr/>
          <p:nvPr/>
        </p:nvSpPr>
        <p:spPr>
          <a:xfrm>
            <a:off x="884726" y="221965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A406-557D-46B8-B5F1-BE9931702316}"/>
              </a:ext>
            </a:extLst>
          </p:cNvPr>
          <p:cNvSpPr txBox="1"/>
          <p:nvPr/>
        </p:nvSpPr>
        <p:spPr>
          <a:xfrm>
            <a:off x="1740070" y="216098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텐서</a:t>
            </a:r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세션</a:t>
            </a:r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placeholder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1.1 TensorFlow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1286B-A3CA-4489-A138-3D72D4EF4B91}"/>
              </a:ext>
            </a:extLst>
          </p:cNvPr>
          <p:cNvSpPr txBox="1"/>
          <p:nvPr/>
        </p:nvSpPr>
        <p:spPr>
          <a:xfrm>
            <a:off x="639189" y="1020404"/>
            <a:ext cx="11471109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TensorFlow is an open source software library for </a:t>
            </a:r>
            <a:r>
              <a:rPr lang="en-US" altLang="ko-KR" sz="1500" b="1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numerical computation</a:t>
            </a:r>
          </a:p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using </a:t>
            </a:r>
            <a:r>
              <a:rPr lang="en-US" altLang="ko-KR" sz="1500" b="1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flow graphs</a:t>
            </a:r>
            <a:b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-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 데이터 흐름 그래프를 사용해서 숫자적인 계산을 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1A66C-C3C6-4235-A9A9-D9E46B922D2B}"/>
              </a:ext>
            </a:extLst>
          </p:cNvPr>
          <p:cNvSpPr txBox="1"/>
          <p:nvPr/>
        </p:nvSpPr>
        <p:spPr>
          <a:xfrm>
            <a:off x="639189" y="2415726"/>
            <a:ext cx="11471109" cy="14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Tesnor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수학적 의미로 여러 방향을 가진 벡터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인공지능에서는 다차뭔 배열 데이터를 의미한다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Rank, Type, Shape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세가지 속성을 가진다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AA490-EBCD-4C88-BF3D-DF5DDE5086BF}"/>
              </a:ext>
            </a:extLst>
          </p:cNvPr>
          <p:cNvSpPr txBox="1"/>
          <p:nvPr/>
        </p:nvSpPr>
        <p:spPr>
          <a:xfrm>
            <a:off x="639188" y="4138520"/>
            <a:ext cx="11471109" cy="74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flow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데이터의 흐름 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F3CA2-6E68-4464-8604-E06C2BD1037E}"/>
              </a:ext>
            </a:extLst>
          </p:cNvPr>
          <p:cNvSpPr txBox="1"/>
          <p:nvPr/>
        </p:nvSpPr>
        <p:spPr>
          <a:xfrm>
            <a:off x="639188" y="5097393"/>
            <a:ext cx="11471109" cy="14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그래프 구조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노드와 엣지로 구성된 구조를 말한다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엣지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데이터가 이동하는 통로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노드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연산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특정값을 가진다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083ED01-418E-467E-A2DB-5AE5F38E8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330" y="3429000"/>
            <a:ext cx="24288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F76AEEA-DF30-4305-B3E4-6F2EC822BB2C}"/>
              </a:ext>
            </a:extLst>
          </p:cNvPr>
          <p:cNvSpPr/>
          <p:nvPr/>
        </p:nvSpPr>
        <p:spPr>
          <a:xfrm>
            <a:off x="0" y="308537"/>
            <a:ext cx="3737811" cy="349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1.2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텐서 실행 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EC8A55-92E0-45AB-8B1E-506989BE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0" y="1327986"/>
            <a:ext cx="2495550" cy="7048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578266-1845-4809-A2CA-B97F01BD2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20" y="2452687"/>
            <a:ext cx="4953000" cy="7334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83A89-FE49-4DBE-BE78-36C5806B0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20" y="4234612"/>
            <a:ext cx="5210175" cy="1257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9CC6A6-E9B1-4B44-9C60-824F27053508}"/>
              </a:ext>
            </a:extLst>
          </p:cNvPr>
          <p:cNvSpPr txBox="1"/>
          <p:nvPr/>
        </p:nvSpPr>
        <p:spPr>
          <a:xfrm>
            <a:off x="986804" y="5774056"/>
            <a:ext cx="49643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그래프를 실행 시키기 위해 세션을 만든다</a:t>
            </a:r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51B8B-E438-4A39-8CB3-D3DD3FC1744E}"/>
              </a:ext>
            </a:extLst>
          </p:cNvPr>
          <p:cNvSpPr txBox="1"/>
          <p:nvPr/>
        </p:nvSpPr>
        <p:spPr>
          <a:xfrm>
            <a:off x="998120" y="3448752"/>
            <a:ext cx="521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그래프는 세션을 통해 실행 가능하며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print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할 경우 노드의 요소를 보여준다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3213B0-E1AC-40D1-9423-5C6B21CD4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509" y="2111604"/>
            <a:ext cx="3095516" cy="42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8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F991704-AE21-474A-AFAD-822CBB47E8A0}"/>
              </a:ext>
            </a:extLst>
          </p:cNvPr>
          <p:cNvSpPr/>
          <p:nvPr/>
        </p:nvSpPr>
        <p:spPr>
          <a:xfrm>
            <a:off x="0" y="292494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1.3 Placeholder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1E852-8168-4F06-97F3-01458F845144}"/>
              </a:ext>
            </a:extLst>
          </p:cNvPr>
          <p:cNvSpPr txBox="1"/>
          <p:nvPr/>
        </p:nvSpPr>
        <p:spPr>
          <a:xfrm>
            <a:off x="682544" y="996356"/>
            <a:ext cx="9776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Placeholder</a:t>
            </a:r>
          </a:p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- 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그래프를 미리 만들어 놓고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실행시키는 단계에서 값을 던져줄수 있다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185281-9C49-4A06-947A-5B2F73F4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44" y="2220552"/>
            <a:ext cx="5276850" cy="2171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EEB1F3-2784-4799-B765-382E2D1BDB7F}"/>
              </a:ext>
            </a:extLst>
          </p:cNvPr>
          <p:cNvSpPr txBox="1"/>
          <p:nvPr/>
        </p:nvSpPr>
        <p:spPr>
          <a:xfrm>
            <a:off x="682544" y="4938315"/>
            <a:ext cx="4964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feed_dict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사용하여 세션 실행시 값을 입력시켜 줄 수 있다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435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2.1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단순 선형회귀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3786" y="1044558"/>
            <a:ext cx="11937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분리된 문제의 답이 아니라 연속된 결과에 대한 판단</a:t>
            </a:r>
            <a:endParaRPr lang="en-US" altLang="ko-KR" sz="18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08C40F-6996-48D5-9F3F-5C3A8FAD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0" y="1967888"/>
            <a:ext cx="1943100" cy="24288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16BE9F-403D-4686-AB7B-1A84728B5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461" y="1689980"/>
            <a:ext cx="4957764" cy="29846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45D260-03EF-42C4-A8F9-67ED04EE879D}"/>
              </a:ext>
            </a:extLst>
          </p:cNvPr>
          <p:cNvSpPr txBox="1"/>
          <p:nvPr/>
        </p:nvSpPr>
        <p:spPr>
          <a:xfrm>
            <a:off x="1017670" y="5336391"/>
            <a:ext cx="9086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데이터로 부터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x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관계를 유추하고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학생이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7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시간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,8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시간을 공부 하였을 때의 성적을 예측하기위해 </a:t>
            </a:r>
            <a:endParaRPr lang="en-US" altLang="ko-KR" sz="14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수학적으로 식을 세우는데 이 식을 가설이라고 한다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29CEBC-5223-44EF-A66D-7AC4B1800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407" y="6153666"/>
            <a:ext cx="15716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-1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2.2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가설 구하기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89F140-FC0C-4ECE-8F10-CEDF7D8D5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3" y="1183005"/>
            <a:ext cx="4696778" cy="2819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74085F-B2B2-4ADC-A6A2-0BC59C5EF5BE}"/>
              </a:ext>
            </a:extLst>
          </p:cNvPr>
          <p:cNvSpPr txBox="1"/>
          <p:nvPr/>
        </p:nvSpPr>
        <p:spPr>
          <a:xfrm>
            <a:off x="6096000" y="1353586"/>
            <a:ext cx="49643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실제값과 가설의 차이를 빨간 화살표로 나태내고 있는데 이 차이값이 적으면 적을 수록 가설을 세운 직선이 점들을 가장 잘 대변한다고 할수 있다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B5DA54-5E67-4E47-AF0B-1690B1856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861" y="2364244"/>
            <a:ext cx="1143000" cy="457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B6BE15C-73E8-495F-BE64-C8DF0AD2E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861" y="3061571"/>
            <a:ext cx="3038475" cy="752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9BB49-CBD5-4F02-8C6D-AAEA23E7E76D}"/>
              </a:ext>
            </a:extLst>
          </p:cNvPr>
          <p:cNvSpPr txBox="1"/>
          <p:nvPr/>
        </p:nvSpPr>
        <p:spPr>
          <a:xfrm>
            <a:off x="5749709" y="5242804"/>
            <a:ext cx="5656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실제값과 가설의 차이값을 나타내는것이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함수인데 이것을 가장 작게 만들어주면 점들을 가장 잘 대변하는 직선을 구할수 있다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45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26508"/>
            <a:ext cx="3185160" cy="5421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2.3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A85BC6-0F4B-41A5-B403-EEBC6DB4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257299"/>
            <a:ext cx="2510790" cy="17971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86F7F7-05D6-4F50-9123-9A2AD0EE0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98" y="3261334"/>
            <a:ext cx="3795197" cy="5421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8F9C63-EDE0-4849-888B-0508E4A8B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98" y="4010343"/>
            <a:ext cx="8349433" cy="5421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0ABDF0-685E-47C1-A9D2-2046F286F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98" y="4863642"/>
            <a:ext cx="3924300" cy="952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1FB4E82-2C02-42F2-81FF-6063D8B5B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7782" y="4954505"/>
            <a:ext cx="4935652" cy="77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6F750EB-872D-490D-A8C6-D14B88C7A1AC}"/>
              </a:ext>
            </a:extLst>
          </p:cNvPr>
          <p:cNvSpPr/>
          <p:nvPr/>
        </p:nvSpPr>
        <p:spPr>
          <a:xfrm>
            <a:off x="0" y="326508"/>
            <a:ext cx="3185160" cy="5421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3.1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경사하강법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E12CBC-7925-4839-88AD-C60F69B8A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53" y="1899119"/>
            <a:ext cx="3916735" cy="1408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BDA7DA-56BE-46BE-ABBA-ED1773F14444}"/>
              </a:ext>
            </a:extLst>
          </p:cNvPr>
          <p:cNvSpPr txBox="1"/>
          <p:nvPr/>
        </p:nvSpPr>
        <p:spPr>
          <a:xfrm>
            <a:off x="5438274" y="2249501"/>
            <a:ext cx="496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 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값과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 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값을 저장할 변수 생성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564C6-EE39-4F14-B3B0-D0D580F68835}"/>
              </a:ext>
            </a:extLst>
          </p:cNvPr>
          <p:cNvSpPr txBox="1"/>
          <p:nvPr/>
        </p:nvSpPr>
        <p:spPr>
          <a:xfrm>
            <a:off x="7018421" y="4140713"/>
            <a:ext cx="4964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feed_w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데이터를 입력해주면서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어떻게 변하는지를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curr_cost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curr_w</a:t>
            </a:r>
            <a:r>
              <a:rPr lang="ko-KR" altLang="en-US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저장한다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7701E-7DFE-46D0-966E-2EFC30F56F67}"/>
              </a:ext>
            </a:extLst>
          </p:cNvPr>
          <p:cNvSpPr txBox="1"/>
          <p:nvPr/>
        </p:nvSpPr>
        <p:spPr>
          <a:xfrm>
            <a:off x="270745" y="1194392"/>
            <a:ext cx="11937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W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에 대한 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cost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함수 그래프</a:t>
            </a:r>
            <a:endParaRPr lang="en-US" altLang="ko-KR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A2E44A9-4CD7-4290-9DB7-34C9D98D9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53" y="4056281"/>
            <a:ext cx="58102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3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9563064-A1E8-4F42-B9C4-EC7EA454EC19}"/>
              </a:ext>
            </a:extLst>
          </p:cNvPr>
          <p:cNvSpPr/>
          <p:nvPr/>
        </p:nvSpPr>
        <p:spPr>
          <a:xfrm>
            <a:off x="0" y="326508"/>
            <a:ext cx="3185160" cy="5421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3.2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경사 하강법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DA31C2-B6D7-42E5-A101-2EB2242AD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42" y="1344279"/>
            <a:ext cx="4361975" cy="3237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3D120D-01D3-4945-8096-2F5296EBDAF1}"/>
              </a:ext>
            </a:extLst>
          </p:cNvPr>
          <p:cNvSpPr txBox="1"/>
          <p:nvPr/>
        </p:nvSpPr>
        <p:spPr>
          <a:xfrm>
            <a:off x="393225" y="4984538"/>
            <a:ext cx="4493092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그래프에서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가장 최소값을 가지게 하는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찾는 것이 목표이므로 블록한 부분의 맨 아래 부분의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값을 찾아야한다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z="10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F20542-3629-4110-ACCB-66DD650C5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821" y="1344279"/>
            <a:ext cx="3409950" cy="2686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4C995B-17BD-4D5A-89D8-FE71ED74BCC6}"/>
              </a:ext>
            </a:extLst>
          </p:cNvPr>
          <p:cNvSpPr txBox="1"/>
          <p:nvPr/>
        </p:nvSpPr>
        <p:spPr>
          <a:xfrm>
            <a:off x="9078454" y="2963947"/>
            <a:ext cx="3113546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임이의값 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에서 미분을 해서 기울기를 구하여 기울기가 작아지게끔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이동하면서 결국 접선의 기울기가 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0</a:t>
            </a:r>
            <a:r>
              <a:rPr lang="ko-KR" altLang="en-US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될때까지 반복한다</a:t>
            </a:r>
            <a:r>
              <a:rPr lang="en-US" altLang="ko-KR" sz="1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CFCF5A-BF77-4AF2-AA31-F92265846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158" y="4624922"/>
            <a:ext cx="2512858" cy="5760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190543-E017-4872-9EC6-68865ED8E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383" y="4624922"/>
            <a:ext cx="2590275" cy="522736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417D464-63C5-4D6D-9151-E549DD7A5F13}"/>
              </a:ext>
            </a:extLst>
          </p:cNvPr>
          <p:cNvCxnSpPr>
            <a:cxnSpLocks/>
          </p:cNvCxnSpPr>
          <p:nvPr/>
        </p:nvCxnSpPr>
        <p:spPr>
          <a:xfrm flipV="1">
            <a:off x="8218318" y="4912928"/>
            <a:ext cx="7874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24675B3-CE59-4164-B08D-31C6FF244EB4}"/>
              </a:ext>
            </a:extLst>
          </p:cNvPr>
          <p:cNvSpPr/>
          <p:nvPr/>
        </p:nvSpPr>
        <p:spPr>
          <a:xfrm>
            <a:off x="-1" y="326508"/>
            <a:ext cx="3545305" cy="5421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경사 하강법 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F10EE3-AE7A-40E4-BD60-17F34002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95" y="3000375"/>
            <a:ext cx="4343400" cy="857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8936EE1-2F9A-40C3-8473-8C4F8063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95" y="4319337"/>
            <a:ext cx="6296025" cy="5143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5DD49F-30D3-469C-920A-67B559663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95" y="5426218"/>
            <a:ext cx="2657475" cy="6953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205C12D-62E5-423A-AFDE-37642BC7F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95" y="1233738"/>
            <a:ext cx="1971675" cy="13049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7C3702-B843-4599-AD50-691481492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8790" y="378995"/>
            <a:ext cx="1762125" cy="35433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FA1C7CC-8830-4DF3-9E52-1360AF9AEE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7840" y="4133574"/>
            <a:ext cx="17430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14224"/>
            <a:ext cx="36890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3.4 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7AC7D6-03E0-420B-9602-F495B75D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34" y="3372531"/>
            <a:ext cx="8584544" cy="665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133AA-A805-4602-B673-F605BF556521}"/>
              </a:ext>
            </a:extLst>
          </p:cNvPr>
          <p:cNvSpPr txBox="1"/>
          <p:nvPr/>
        </p:nvSpPr>
        <p:spPr>
          <a:xfrm>
            <a:off x="848734" y="2106853"/>
            <a:ext cx="936206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함수를 구하고 최적화 하기위해 가장 많이 사용하는 경사 하강법을 통해 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함수를 최적화 시킨다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D089C1-2F01-47BA-881C-0A7E445E3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34" y="1247812"/>
            <a:ext cx="8349433" cy="5421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2066A-FD92-4D3E-AE26-92C3290B59F3}"/>
              </a:ext>
            </a:extLst>
          </p:cNvPr>
          <p:cNvSpPr txBox="1"/>
          <p:nvPr/>
        </p:nvSpPr>
        <p:spPr>
          <a:xfrm>
            <a:off x="848734" y="4434217"/>
            <a:ext cx="936206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Optimizer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정의하고 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minimize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함수를 호출하면서 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최적화한다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A7B7E9-BE54-434E-9FA1-9DBD38C6F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34" y="5294405"/>
            <a:ext cx="2417976" cy="4029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A585F27-4339-414A-9B40-02235FD63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089" y="5284397"/>
            <a:ext cx="5043950" cy="4029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E70B9A-8C64-4168-8B32-2B4F08AA4271}"/>
              </a:ext>
            </a:extLst>
          </p:cNvPr>
          <p:cNvSpPr txBox="1"/>
          <p:nvPr/>
        </p:nvSpPr>
        <p:spPr>
          <a:xfrm>
            <a:off x="848734" y="5891791"/>
            <a:ext cx="936206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텐서플로는 그래프연산구조를 갖기때문에 세션을 생성하고 텐서플로 변수를 사용하기위해 초기화 해준다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0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9617"/>
            <a:ext cx="5113568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3.5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실행결과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F27213-EF6B-4AF1-883D-8A6BAF392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22985"/>
            <a:ext cx="8801100" cy="15054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269014D-EE50-48DE-B178-C44150912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068" y="2773958"/>
            <a:ext cx="3619500" cy="9048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2ADDF75-3426-41DC-9615-1C79791C3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325" y="3957328"/>
            <a:ext cx="3971925" cy="8667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E5D5C9-1185-443D-81AA-291964063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324" y="5187314"/>
            <a:ext cx="3656243" cy="141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3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9617"/>
            <a:ext cx="310718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4.1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선형회귀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7D17F-5D6F-43C7-88C9-A120519F2358}"/>
              </a:ext>
            </a:extLst>
          </p:cNvPr>
          <p:cNvSpPr txBox="1"/>
          <p:nvPr/>
        </p:nvSpPr>
        <p:spPr>
          <a:xfrm>
            <a:off x="577272" y="3138944"/>
            <a:ext cx="10547928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다중선형회귀</a:t>
            </a:r>
            <a:endParaRPr lang="en-US" altLang="ko-KR" sz="20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6C47662-3A51-4AA0-B6BC-E5A4BF31E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34" y="5112151"/>
            <a:ext cx="5143500" cy="5039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C9165B-B442-4F61-B320-986C395CC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34" y="5920236"/>
            <a:ext cx="5143500" cy="904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CB78A48-CEF9-4119-8BB1-7EE2B2F5C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72" y="1038226"/>
            <a:ext cx="5823528" cy="20133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278F3D7-61E9-424C-9A4B-624669A90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134" y="3786911"/>
            <a:ext cx="4010527" cy="97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85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-1" y="325904"/>
            <a:ext cx="3322321" cy="4665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4.2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선형회귀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110721-BFDD-461C-B5D8-D9F37E5B2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1152525"/>
            <a:ext cx="3436620" cy="29759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EF8FD8-95A8-4786-9C5F-F5E68A067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" y="4644390"/>
            <a:ext cx="566591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1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3429000" cy="3939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4.3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5046A7-3670-4FEB-A574-A9EFDA695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" y="1447800"/>
            <a:ext cx="6938328" cy="624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F0B90-930D-4C88-943B-A1067E0A5586}"/>
              </a:ext>
            </a:extLst>
          </p:cNvPr>
          <p:cNvSpPr txBox="1"/>
          <p:nvPr/>
        </p:nvSpPr>
        <p:spPr>
          <a:xfrm>
            <a:off x="601027" y="2392119"/>
            <a:ext cx="5139250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A9843-4003-418A-96A3-68A5AAD66E92}"/>
              </a:ext>
            </a:extLst>
          </p:cNvPr>
          <p:cNvSpPr txBox="1"/>
          <p:nvPr/>
        </p:nvSpPr>
        <p:spPr>
          <a:xfrm>
            <a:off x="601026" y="2392119"/>
            <a:ext cx="9015414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tf.Variable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텐서플로가 사용하는 변수로 학습하는 과정에서 자체적으로 값을 변경시킨다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3C9C9C0-2E9F-4036-B029-94C3DD52A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6" y="3080384"/>
            <a:ext cx="3666174" cy="4424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13E67F2-9E18-4997-839A-9DFE56485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26" y="3817164"/>
            <a:ext cx="62103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4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71CBCF9-00CB-4897-A53F-96299C6499F5}"/>
              </a:ext>
            </a:extLst>
          </p:cNvPr>
          <p:cNvSpPr/>
          <p:nvPr/>
        </p:nvSpPr>
        <p:spPr>
          <a:xfrm>
            <a:off x="0" y="499011"/>
            <a:ext cx="3154680" cy="3849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4.4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소스코드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942E27-0E63-4732-BDFA-A4814023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" y="1895474"/>
            <a:ext cx="7272338" cy="12504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8DC3BA-6428-4933-9A3D-B29D4CA12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" y="3922969"/>
            <a:ext cx="5093018" cy="58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55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E1FFB98-D599-4DBB-890F-C0EA5E2CCC6A}"/>
              </a:ext>
            </a:extLst>
          </p:cNvPr>
          <p:cNvSpPr/>
          <p:nvPr/>
        </p:nvSpPr>
        <p:spPr>
          <a:xfrm>
            <a:off x="0" y="331371"/>
            <a:ext cx="3535680" cy="3839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4.5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실행결과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5F1D94-A9CC-4CB3-A328-39B8A82C2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" y="1116329"/>
            <a:ext cx="7201853" cy="14197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7FFF72-39C8-4B30-8902-68DD20B97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15" y="2918052"/>
            <a:ext cx="1924050" cy="31242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401A2A1-3D86-42FA-B3C5-FA0FAED90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330" y="2937102"/>
            <a:ext cx="2114550" cy="310515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C26ABE4-B494-4FB0-A01E-6BECDA1882BD}"/>
              </a:ext>
            </a:extLst>
          </p:cNvPr>
          <p:cNvCxnSpPr/>
          <p:nvPr/>
        </p:nvCxnSpPr>
        <p:spPr>
          <a:xfrm flipV="1">
            <a:off x="3718560" y="4480152"/>
            <a:ext cx="1448244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06062A50-6F0A-4602-A74B-EE5715A15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930" y="3682873"/>
            <a:ext cx="3916171" cy="201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9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406</Words>
  <Application>Microsoft Office PowerPoint</Application>
  <PresentationFormat>와이드스크린</PresentationFormat>
  <Paragraphs>76</Paragraphs>
  <Slides>19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맑은 고딕</vt:lpstr>
      <vt:lpstr>나눔고딕 ExtraBold</vt:lpstr>
      <vt:lpstr>Arial</vt:lpstr>
      <vt:lpstr>나눔스퀘어_ac Bold</vt:lpstr>
      <vt:lpstr>나눔스퀘어라운드 Bold</vt:lpstr>
      <vt:lpstr>나눔스퀘어라운드 ExtraBold</vt:lpstr>
      <vt:lpstr>Megrim</vt:lpstr>
      <vt:lpstr>나눔스퀘어_ac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160</cp:revision>
  <dcterms:created xsi:type="dcterms:W3CDTF">2018-05-24T09:13:53Z</dcterms:created>
  <dcterms:modified xsi:type="dcterms:W3CDTF">2020-11-18T05:41:29Z</dcterms:modified>
</cp:coreProperties>
</file>