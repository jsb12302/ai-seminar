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ink/ink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303" r:id="rId4"/>
    <p:sldId id="304" r:id="rId5"/>
    <p:sldId id="305" r:id="rId6"/>
    <p:sldId id="260" r:id="rId7"/>
    <p:sldId id="307" r:id="rId8"/>
    <p:sldId id="308" r:id="rId9"/>
    <p:sldId id="309" r:id="rId10"/>
    <p:sldId id="310" r:id="rId11"/>
    <p:sldId id="311" r:id="rId12"/>
    <p:sldId id="313" r:id="rId13"/>
    <p:sldId id="314" r:id="rId14"/>
    <p:sldId id="315" r:id="rId15"/>
    <p:sldId id="316" r:id="rId16"/>
    <p:sldId id="318" r:id="rId17"/>
    <p:sldId id="317" r:id="rId18"/>
    <p:sldId id="319" r:id="rId19"/>
    <p:sldId id="26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701" autoAdjust="0"/>
  </p:normalViewPr>
  <p:slideViewPr>
    <p:cSldViewPr snapToGrid="0" showGuides="1">
      <p:cViewPr varScale="1">
        <p:scale>
          <a:sx n="74" d="100"/>
          <a:sy n="74" d="100"/>
        </p:scale>
        <p:origin x="1046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0-12-18T09:11:37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4218 10795 0,'0'16'16,"-16"-16"-16,16 16 0,0 0 16,-16 0-1,1-16-15,-1 31 16,0-15-16,1 16 16,-17 16-16,17-17 0,-16 17 15,-1-16-15,1-1 16,15 2-16,0-33 0,-16 47 15,1 1-15,16-17 16,-1 17-16,16-16 0,-16-32 0,16 31 16,-15-15-16,15 1 15,-16-2-15</inkml:trace>
  <inkml:trace contextRef="#ctx0" brushRef="#br0" timeOffset="695.14">4186 10843 0,'0'16'31,"0"63"-31,0-47 16,0-1-16,0-15 0,0 16 15,16 16-15,-16-32 16,16 15-16,-16 17 0,15 0 16,1-17-16,0 1 15,-16 0-15,0-17 16,16 2-16,-16-1 16,0-1-16,0 1 0,16-16 15,-16 17 1,0-2-1</inkml:trace>
  <inkml:trace contextRef="#ctx0" brushRef="#br0" timeOffset="1629.62">3919 11161 0,'16'0'63,"0"0"-63,0 0 0,0 0 16,0 0-16,-1 15 0,17-15 0,-1 0 15,0 0-15,0 0 16,-15 0-16,15 0 15,-31 16-15,16-16 16,0 0 47</inkml:trace>
  <inkml:trace contextRef="#ctx0" brushRef="#br0" timeOffset="2310.81">3888 11986 0,'0'16'31,"0"0"-31,0 31 15,0-31-15,0 32 16,0 0-16,0-1 16,0 0-16,0 1 15,0 32-15,0-48 16,0-1-16,0-15 0,0 0 16</inkml:trace>
  <inkml:trace contextRef="#ctx0" brushRef="#br0" timeOffset="4238.46">3826 11938 0,'15'0'78,"1"0"-31,0 0-47,-1 0 16,1 0-16,-1 0 15,1 0-15,0 0 16,0 0-16,16 0 15,-32 17-15,15-17 0,1 0 16,0 0 15,-16 15-31,15-15 16,1 0-16,-1 0 16,1 0-16,-16 16 0,16-16 15,-1 0-15,-15 16 16,16-16-1,0 0 1,-16 16 0,0 0-1,15-1 1,-15 1-16,0 0 16,0 0-16,0 0 0,0 0 15,0-1 1,0 2-16,-15-17 15,-1 0 1,16 16-16,0-1 16,-16-15-16,1 0 0,-1 0 15,0 16-15,1-16 16,15 16-16,-16-16 0,1 0 16,15 16-16,-16-16 15,32 0 220,-1 0-235,1 16 0,-1-16 15,1 0-15,-16 15 16,16-15-16,-1 0 31,1 0 0,0 0-15,-1 0 0,-15 17-16,16-17 0,0 16 15,-1-16 1,-15 15 46,16-15-62,-16 16 16,0 1 0,0-2-1,0 1 1,0 0-16,0 0 15,0 0-15,-16-16 16,16 15-16,0 1 0,0 0 16,-15-16-16,-1 0 15,16 16-15,-16-16 16,16 16-16,-15-16 16,-1 0-16,16 16 0,-16-16 15,1 0 32,-1 0-31,0 0-1,-15 0-15,31 16 16,-15-16-16,-1 0 0,0 0 16,1 0-16,-1 0 15,0 0-15,16 16 31,-16-16 1,0 0-32,0 0 15,1 0-15,-1 0 16,1 0 0,-1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0-12-18T09:11:37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4218 10795 0,'0'16'16,"-16"-16"-16,16 16 0,0 0 16,-16 0-1,1-16-15,-1 31 16,0-15-16,1 16 16,-17 16-16,17-17 0,-16 17 15,-1-16-15,1-1 16,15 2-16,0-33 0,-16 47 15,1 1-15,16-17 16,-1 17-16,16-16 0,-16-32 0,16 31 16,-15-15-16,15 1 15,-16-2-15</inkml:trace>
  <inkml:trace contextRef="#ctx0" brushRef="#br0" timeOffset="695.14">4186 10843 0,'0'16'31,"0"63"-31,0-47 16,0-1-16,0-15 0,0 16 15,16 16-15,-16-32 16,16 15-16,-16 17 0,15 0 16,1-17-16,0 1 15,-16 0-15,0-17 16,16 2-16,-16-1 16,0-1-16,0 1 0,16-16 15,-16 17 1,0-2-1</inkml:trace>
  <inkml:trace contextRef="#ctx0" brushRef="#br0" timeOffset="1629.62">3919 11161 0,'16'0'63,"0"0"-63,0 0 0,0 0 16,0 0-16,-1 15 0,17-15 0,-1 0 15,0 0-15,0 0 16,-15 0-16,15 0 15,-31 16-15,16-16 16,0 0 47</inkml:trace>
  <inkml:trace contextRef="#ctx0" brushRef="#br0" timeOffset="2310.81">3888 11986 0,'0'16'31,"0"0"-31,0 31 15,0-31-15,0 32 16,0 0-16,0-1 16,0 0-16,0 1 15,0 32-15,0-48 16,0-1-16,0-15 0,0 0 16</inkml:trace>
  <inkml:trace contextRef="#ctx0" brushRef="#br0" timeOffset="4238.46">3826 11938 0,'15'0'78,"1"0"-31,0 0-47,-1 0 16,1 0-16,-1 0 15,1 0-15,0 0 16,0 0-16,16 0 15,-32 17-15,15-17 0,1 0 16,0 0 15,-16 15-31,15-15 16,1 0-16,-1 0 16,1 0-16,-16 16 0,16-16 15,-1 0-15,-15 16 16,16-16-1,0 0 1,-16 16 0,0 0-1,15-1 1,-15 1-16,0 0 16,0 0-16,0 0 0,0 0 15,0-1 1,0 2-16,-15-17 15,-1 0 1,16 16-16,0-1 16,-16-15-16,1 0 0,-1 0 15,0 16-15,1-16 16,15 16-16,-16-16 0,1 0 16,15 16-16,-16-16 15,32 0 220,-1 0-235,1 16 0,-1-16 15,1 0-15,-16 15 16,16-15-16,-1 0 31,1 0 0,0 0-15,-1 0 0,-15 17-16,16-17 0,0 16 15,-1-16 1,-15 15 46,16-15-62,-16 16 16,0 1 0,0-2-1,0 1 1,0 0-16,0 0 15,0 0-15,-16-16 16,16 15-16,0 1 0,0 0 16,-15-16-16,-1 0 15,16 16-15,-16-16 16,16 16-16,-15-16 16,-1 0-16,16 16 0,-16-16 15,1 0 32,-1 0-31,0 0-1,-15 0-15,31 16 16,-15-16-16,-1 0 0,0 0 16,1 0-16,-1 0 15,0 0-15,16 16 31,-16-16 1,0 0-32,0 0 15,1 0-15,-1 0 16,1 0 0,-1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4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B78C-409A-4F08-A4A5-A025B75B66AE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BFF2-3D21-49CA-AEF0-D920467E008E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8F6-9BBF-4EA9-9638-02286FB3198B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9874-258D-404F-89FA-496D3CAB426F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A2AE-616E-4B62-81DC-4C2CDDC420C4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16D8-15F0-45CA-A070-FDA0057DF405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F31B-90BC-44F6-8E6E-537E6B7FB44B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7A09-5E12-43A1-B9E0-01ADBD633E66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64AE-7B8F-4333-81C0-C6442E062594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FE9B1-6945-42FD-A728-A51B147FF7BF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D787-4C68-4CCA-8896-248910E61C4B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5346-6302-4358-8EC9-5F534C3AB5D1}" type="datetime1">
              <a:rPr lang="ko-KR" altLang="en-US" smtClean="0"/>
              <a:t>2021-01-01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46.emf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8.png"/><Relationship Id="rId4" Type="http://schemas.openxmlformats.org/officeDocument/2006/relationships/image" Target="../media/image12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2.emf"/><Relationship Id="rId4" Type="http://schemas.openxmlformats.org/officeDocument/2006/relationships/image" Target="../media/image12.png"/><Relationship Id="rId9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딥러닝을 위한 기초 알고리즘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520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2020-12-29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EAFD04-4116-45B5-A78F-F7C7E219D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951" y="1774085"/>
            <a:ext cx="1254096" cy="125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0003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35689" y="3472693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835690" y="4398481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A948B-EDBD-4DAA-918A-847994014BC5}"/>
              </a:ext>
            </a:extLst>
          </p:cNvPr>
          <p:cNvSpPr txBox="1"/>
          <p:nvPr/>
        </p:nvSpPr>
        <p:spPr>
          <a:xfrm>
            <a:off x="1771243" y="3414014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당뇨병 예측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83767-C4BC-40B3-B74D-8D064863C40C}"/>
              </a:ext>
            </a:extLst>
          </p:cNvPr>
          <p:cNvSpPr txBox="1"/>
          <p:nvPr/>
        </p:nvSpPr>
        <p:spPr>
          <a:xfrm>
            <a:off x="1771243" y="4339802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다중 클래스 분류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A3EC-5AAA-4AE8-9BCC-2E04A9B657F6}"/>
              </a:ext>
            </a:extLst>
          </p:cNvPr>
          <p:cNvSpPr/>
          <p:nvPr/>
        </p:nvSpPr>
        <p:spPr>
          <a:xfrm>
            <a:off x="835689" y="265290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A406-557D-46B8-B5F1-BE9931702316}"/>
              </a:ext>
            </a:extLst>
          </p:cNvPr>
          <p:cNvSpPr txBox="1"/>
          <p:nvPr/>
        </p:nvSpPr>
        <p:spPr>
          <a:xfrm>
            <a:off x="1771243" y="260500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이진분류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이진분류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1026" name="Picture 2" descr="https://lh6.googleusercontent.com/d4uuyutROTGRIFzCgIcTF4AVfX2AATXk2VHaGhTKvFaGYKAI9__sFBazLACRvepfk_owvvj29VBmvvfMr8vOgdORet8tj1tpGajAj5pOWvQeVOpvaWDFQpNPYsmy6myw2GIHrptN">
            <a:extLst>
              <a:ext uri="{FF2B5EF4-FFF2-40B4-BE49-F238E27FC236}">
                <a16:creationId xmlns:a16="http://schemas.microsoft.com/office/drawing/2014/main" id="{A22C9A66-79E8-45CE-810A-C17482FC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10" y="2117667"/>
            <a:ext cx="2281360" cy="131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E51AB-1069-46BE-B4DF-3AA53013209E}"/>
              </a:ext>
            </a:extLst>
          </p:cNvPr>
          <p:cNvSpPr txBox="1"/>
          <p:nvPr/>
        </p:nvSpPr>
        <p:spPr>
          <a:xfrm>
            <a:off x="559503" y="1194336"/>
            <a:ext cx="11937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이진분류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- 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둘 중 하나의 선택지 중에서 정답을 고르는 문제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3E8A62-4612-4039-AB48-793E60B1C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49" y="4012981"/>
            <a:ext cx="3494675" cy="20225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AF6C22-F8E1-4154-A1E7-40D95342EBB8}"/>
              </a:ext>
            </a:extLst>
          </p:cNvPr>
          <p:cNvSpPr txBox="1"/>
          <p:nvPr/>
        </p:nvSpPr>
        <p:spPr>
          <a:xfrm>
            <a:off x="956010" y="3705204"/>
            <a:ext cx="5210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데이터를 다음과 같이 선형회귀로 분류했다고 가정하자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676E6BB-6B5F-40EE-9DEF-35F79A288D37}"/>
              </a:ext>
            </a:extLst>
          </p:cNvPr>
          <p:cNvCxnSpPr>
            <a:cxnSpLocks/>
          </p:cNvCxnSpPr>
          <p:nvPr/>
        </p:nvCxnSpPr>
        <p:spPr>
          <a:xfrm>
            <a:off x="6400800" y="711533"/>
            <a:ext cx="0" cy="5504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lh5.googleusercontent.com/mH4mPps1W2V2wpobpQCmb_925KantnZ_t6DnvPzR_Ae5cJd-rqz940SbUL_vY3eVjecuiKKSbdGdkYkiQKZrzuL5mCQL4IdogOJRk7mGMN0gdRkFE9fPvOFFT-e7KppYuAyX49Af">
            <a:extLst>
              <a:ext uri="{FF2B5EF4-FFF2-40B4-BE49-F238E27FC236}">
                <a16:creationId xmlns:a16="http://schemas.microsoft.com/office/drawing/2014/main" id="{60D6AE3C-FCD0-428C-9092-DEC55A7EC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923" y="655878"/>
            <a:ext cx="3507478" cy="195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4BAC51-57B8-45C9-9963-B30B38A0A0C5}"/>
              </a:ext>
            </a:extLst>
          </p:cNvPr>
          <p:cNvSpPr txBox="1"/>
          <p:nvPr/>
        </p:nvSpPr>
        <p:spPr>
          <a:xfrm>
            <a:off x="6707941" y="2849606"/>
            <a:ext cx="5210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(20,1)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이라는 새로운 데이터가 들어옴으로써 직선이 변형되고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(9,1), (10,1)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분류하는데 실패하게 된다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1032" name="Picture 8" descr="https://lh4.googleusercontent.com/LaYGTQFsRODFJU59aVr9uTb7sNIChSw37URK0Mkq2-fge5zvzOgJ8fSbrdNNb--BkRyYBTHarothSE4jFPsV9CD4zDP0HZDHCSr9xdmsmJ0XANJHm3-gQl3GIuHiEPoGH9GjN7zI">
            <a:extLst>
              <a:ext uri="{FF2B5EF4-FFF2-40B4-BE49-F238E27FC236}">
                <a16:creationId xmlns:a16="http://schemas.microsoft.com/office/drawing/2014/main" id="{84325C49-68CF-471B-882E-4065758A9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286" y="3463803"/>
            <a:ext cx="2642751" cy="182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2" name="Picture 4" descr="https://lh3.googleusercontent.com/JGrtQspjXmPi06k5L3GfZ65hKIn_IXizApCdOAvfkosaUt2qYqHZtjBRA8wubQzDi3bujmlCOmnMF9iU3TMQMEnAx32MRTMmP26gxP1d-vztUQXrtJuB-o2uHx_9g3pTvJ9rKMsX">
            <a:extLst>
              <a:ext uri="{FF2B5EF4-FFF2-40B4-BE49-F238E27FC236}">
                <a16:creationId xmlns:a16="http://schemas.microsoft.com/office/drawing/2014/main" id="{5F90955A-7654-4696-AB9D-4A34C78D5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086" y="5531114"/>
            <a:ext cx="158115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F76AEEA-DF30-4305-B3E4-6F2EC822BB2C}"/>
              </a:ext>
            </a:extLst>
          </p:cNvPr>
          <p:cNvSpPr/>
          <p:nvPr/>
        </p:nvSpPr>
        <p:spPr>
          <a:xfrm>
            <a:off x="0" y="308537"/>
            <a:ext cx="3737811" cy="349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이진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2052" name="Picture 4" descr="https://lh3.googleusercontent.com/JGrtQspjXmPi06k5L3GfZ65hKIn_IXizApCdOAvfkosaUt2qYqHZtjBRA8wubQzDi3bujmlCOmnMF9iU3TMQMEnAx32MRTMmP26gxP1d-vztUQXrtJuB-o2uHx_9g3pTvJ9rKMsX">
            <a:extLst>
              <a:ext uri="{FF2B5EF4-FFF2-40B4-BE49-F238E27FC236}">
                <a16:creationId xmlns:a16="http://schemas.microsoft.com/office/drawing/2014/main" id="{34DC5100-41C0-4934-93D6-9649A255B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764" y="2309811"/>
            <a:ext cx="158115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8F9C31-D4FC-4527-AA06-6F84F778D403}"/>
              </a:ext>
            </a:extLst>
          </p:cNvPr>
          <p:cNvSpPr txBox="1"/>
          <p:nvPr/>
        </p:nvSpPr>
        <p:spPr>
          <a:xfrm>
            <a:off x="1145020" y="1092470"/>
            <a:ext cx="3306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시그모이드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 함수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702158-8FE7-4C24-9886-AB80968A8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76" y="1519020"/>
            <a:ext cx="3305175" cy="695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3F1424-0462-4893-AEAB-454CBE25E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718" y="2412891"/>
            <a:ext cx="1752600" cy="4476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D24E9B-0003-43BB-B062-096AAA304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32" y="3332488"/>
            <a:ext cx="3705225" cy="2447925"/>
          </a:xfrm>
          <a:prstGeom prst="rect">
            <a:avLst/>
          </a:prstGeom>
        </p:spPr>
      </p:pic>
      <p:pic>
        <p:nvPicPr>
          <p:cNvPr id="2054" name="Picture 6" descr="https://lh5.googleusercontent.com/Ukr2xzoC528ohg56fn4nmAjDVceYn5wj9U-zFegxD9DO7G0iDyERFawDdkTwVFARNhqzKPP21fvZhjqgOqYgKg2NXtDp5fzdN5dUUXbkk_4zCf482T6RAGUVCMQfyJcge3lWkfQM">
            <a:extLst>
              <a:ext uri="{FF2B5EF4-FFF2-40B4-BE49-F238E27FC236}">
                <a16:creationId xmlns:a16="http://schemas.microsoft.com/office/drawing/2014/main" id="{859FB246-E3CC-4551-A732-E529BF75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293" y="3865887"/>
            <a:ext cx="29718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B35308-4DFE-418C-998F-F74D6E10AEBE}"/>
              </a:ext>
            </a:extLst>
          </p:cNvPr>
          <p:cNvSpPr txBox="1"/>
          <p:nvPr/>
        </p:nvSpPr>
        <p:spPr>
          <a:xfrm>
            <a:off x="7772446" y="5534192"/>
            <a:ext cx="4253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임의의 점에서 경사 하강법을 실행하면 최소값을 찾지못하여 선형회귀의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Cost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함수를 사용하지 못한다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28512A-59C3-4051-B704-09AC4EC8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8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F991704-AE21-474A-AFAD-822CBB47E8A0}"/>
              </a:ext>
            </a:extLst>
          </p:cNvPr>
          <p:cNvSpPr/>
          <p:nvPr/>
        </p:nvSpPr>
        <p:spPr>
          <a:xfrm>
            <a:off x="0" y="292494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이진분류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074" name="Picture 2" descr="https://lh3.googleusercontent.com/uapgcFVn_5k7DkjrGjb-TDXCm9GFqOhobeLuJZsLIGE4sOJMo43QQmJY4zQEuvCwr2Gypc_-a0PrP6WfMm9ZJLj4loHNZIy5yjKfo3j9wuG1tVecQEIJlXEDnTDGuLD6PFCvm-g8">
            <a:extLst>
              <a:ext uri="{FF2B5EF4-FFF2-40B4-BE49-F238E27FC236}">
                <a16:creationId xmlns:a16="http://schemas.microsoft.com/office/drawing/2014/main" id="{71877BA6-E80A-470C-BCDA-6FC330212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86" y="1017998"/>
            <a:ext cx="2896032" cy="100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lh6.googleusercontent.com/zvwLqWrsn9fVjeZEg-tb6ihsOBjjh5Ku52NXH5_nuEGimrZVB4L9xeyrI4pDYjY7RF-HnD7PEVBrH52IYZXqHjiXHX1RrnHiLVbKZr6zxG0Bo49Cv_j7NEPJ_8saamaSIt4FOETZ">
            <a:extLst>
              <a:ext uri="{FF2B5EF4-FFF2-40B4-BE49-F238E27FC236}">
                <a16:creationId xmlns:a16="http://schemas.microsoft.com/office/drawing/2014/main" id="{C61DB2FD-2C13-4D5A-AB90-D94B75569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976" y="2342238"/>
            <a:ext cx="2223251" cy="2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C415DB-FAD7-4FE3-9A99-9C3C54A1379F}"/>
              </a:ext>
            </a:extLst>
          </p:cNvPr>
          <p:cNvSpPr txBox="1"/>
          <p:nvPr/>
        </p:nvSpPr>
        <p:spPr>
          <a:xfrm>
            <a:off x="1972011" y="2057873"/>
            <a:ext cx="771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-log(H(x))</a:t>
            </a:r>
          </a:p>
        </p:txBody>
      </p:sp>
      <p:pic>
        <p:nvPicPr>
          <p:cNvPr id="3078" name="Picture 6" descr="https://lh6.googleusercontent.com/T5NR1HGiHGeJlVAiX2RlLFszyscAx5Ng8BZOq0BRRCQxltnao9tOazcBf5eDdbPcrttPwVgTGmQPe4Fp1EV3SeE-koi5s9Ol7sQ6l1WpBF9XAzPKMTeZkbCt_NO34pTuF46R8fR_">
            <a:extLst>
              <a:ext uri="{FF2B5EF4-FFF2-40B4-BE49-F238E27FC236}">
                <a16:creationId xmlns:a16="http://schemas.microsoft.com/office/drawing/2014/main" id="{E6E2CAEB-0E19-4C52-88D6-42CB649DE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853" y="2342238"/>
            <a:ext cx="2223251" cy="2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42CFEF-52CE-41F7-9DC0-A7ADCD13757F}"/>
              </a:ext>
            </a:extLst>
          </p:cNvPr>
          <p:cNvSpPr txBox="1"/>
          <p:nvPr/>
        </p:nvSpPr>
        <p:spPr>
          <a:xfrm>
            <a:off x="5932522" y="2057872"/>
            <a:ext cx="8439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-log(1-H(x))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2D237-2077-4F68-A2A8-896DDBF7623D}"/>
              </a:ext>
            </a:extLst>
          </p:cNvPr>
          <p:cNvSpPr txBox="1"/>
          <p:nvPr/>
        </p:nvSpPr>
        <p:spPr>
          <a:xfrm>
            <a:off x="1254976" y="5593781"/>
            <a:ext cx="398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레이블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y=1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H(x)=1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이라면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값은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0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근접한다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레이블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y=1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H(x)=0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이라면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값은 매우 커진다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FE538A-0EDA-47DF-9298-D255C4573B29}"/>
              </a:ext>
            </a:extLst>
          </p:cNvPr>
          <p:cNvSpPr txBox="1"/>
          <p:nvPr/>
        </p:nvSpPr>
        <p:spPr>
          <a:xfrm>
            <a:off x="5237018" y="5593781"/>
            <a:ext cx="398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레이블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y=0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H(x)=0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이라면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값은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0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근접한다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레이블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y=0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H(x)=1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이라면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값은 매우 커진다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15" name="Picture 2" descr="https://lh6.googleusercontent.com/Za58N_qW2YOYi1HoAzVAwew0wVbtpIu8FNyu0n7-JDTJvFMPRGI3L8qvp24bU0cbNdtg7iUJLIH5IS35L0KPHbaJl-KH3uBqdD9BCcmA5mqSJqNB5TApiFLTh_LbYc0cv-i6ZL5S">
            <a:extLst>
              <a:ext uri="{FF2B5EF4-FFF2-40B4-BE49-F238E27FC236}">
                <a16:creationId xmlns:a16="http://schemas.microsoft.com/office/drawing/2014/main" id="{494B9C75-BF90-459E-8765-1A24FE2D7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62" y="3673124"/>
            <a:ext cx="4409203" cy="49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9EA195-028D-4D6F-A32D-34F95A8F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35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.4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소스 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9CC35B-625A-4793-8CEE-EEF2850FB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98" y="1266825"/>
            <a:ext cx="5219700" cy="2162175"/>
          </a:xfrm>
          <a:prstGeom prst="rect">
            <a:avLst/>
          </a:prstGeom>
        </p:spPr>
      </p:pic>
      <p:pic>
        <p:nvPicPr>
          <p:cNvPr id="10" name="Picture 4" descr="https://lh3.googleusercontent.com/JGrtQspjXmPi06k5L3GfZ65hKIn_IXizApCdOAvfkosaUt2qYqHZtjBRA8wubQzDi3bujmlCOmnMF9iU3TMQMEnAx32MRTMmP26gxP1d-vztUQXrtJuB-o2uHx_9g3pTvJ9rKMsX">
            <a:extLst>
              <a:ext uri="{FF2B5EF4-FFF2-40B4-BE49-F238E27FC236}">
                <a16:creationId xmlns:a16="http://schemas.microsoft.com/office/drawing/2014/main" id="{D91632D1-CC5D-427A-96B3-8A9BF8551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153" y="3487815"/>
            <a:ext cx="2659207" cy="96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AF868A-EB54-46C9-A756-5A4B2B510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97" y="4045978"/>
            <a:ext cx="5814657" cy="4029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4A46CFB-3C03-4CE7-9BAF-E064FF683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97" y="4904027"/>
            <a:ext cx="8308829" cy="402996"/>
          </a:xfrm>
          <a:prstGeom prst="rect">
            <a:avLst/>
          </a:prstGeom>
        </p:spPr>
      </p:pic>
      <p:pic>
        <p:nvPicPr>
          <p:cNvPr id="15" name="Picture 2" descr="https://lh6.googleusercontent.com/Za58N_qW2YOYi1HoAzVAwew0wVbtpIu8FNyu0n7-JDTJvFMPRGI3L8qvp24bU0cbNdtg7iUJLIH5IS35L0KPHbaJl-KH3uBqdD9BCcmA5mqSJqNB5TApiFLTh_LbYc0cv-i6ZL5S">
            <a:extLst>
              <a:ext uri="{FF2B5EF4-FFF2-40B4-BE49-F238E27FC236}">
                <a16:creationId xmlns:a16="http://schemas.microsoft.com/office/drawing/2014/main" id="{929DDDA5-62CC-4A81-A051-D70B4111C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346" y="5747466"/>
            <a:ext cx="5459540" cy="60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26C513-3351-414C-8528-B8324531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81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.5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소스 코드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9D6CD0-EECA-4EF0-B9E6-45D30D6FD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89" y="1486580"/>
            <a:ext cx="9207848" cy="4029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5C4602-9C14-421B-9F93-5008E0E0D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89" y="2388397"/>
            <a:ext cx="7990882" cy="6305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FEE70EC-848F-4057-BE41-A0C7BF894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89" y="3429000"/>
            <a:ext cx="7602979" cy="275408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7C2AB8-714F-4678-9D99-B62DF13E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72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.6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실행 결과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D5D8B5-5059-45BD-9EE8-CAEF34C5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090" y="1261608"/>
            <a:ext cx="2381250" cy="24479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0AB094-1BBF-4D43-91B7-4BA46D238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090" y="4066266"/>
            <a:ext cx="2647950" cy="201930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0F9D9D3-4D9A-466F-AB45-9F0CAA55A003}"/>
              </a:ext>
            </a:extLst>
          </p:cNvPr>
          <p:cNvCxnSpPr>
            <a:cxnSpLocks/>
          </p:cNvCxnSpPr>
          <p:nvPr/>
        </p:nvCxnSpPr>
        <p:spPr>
          <a:xfrm>
            <a:off x="5907314" y="711533"/>
            <a:ext cx="0" cy="5504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2E24950F-233B-4A4E-A31C-FBC2D82E9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289" y="923016"/>
            <a:ext cx="2914650" cy="31432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D828311-FBE7-431B-BE47-FA0CEF8D5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150" y="4842553"/>
            <a:ext cx="4305300" cy="4667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5F96FD-D9C1-43DC-A496-4961E13A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03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당뇨병 예측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C1476A-B5C7-4695-93D2-76D1B9D5A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56" y="2819400"/>
            <a:ext cx="7905750" cy="25622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1047EE-EC90-449C-88BE-35D633A1E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56" y="1229632"/>
            <a:ext cx="6553200" cy="12573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10F2AA-1344-4FE5-97DB-CB755336E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56" y="5714093"/>
            <a:ext cx="2004633" cy="61413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5E0136-6FD4-463F-A609-EDC40449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146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당뇨병 예측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24183-C41B-4178-A25E-84CF83C35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57704"/>
            <a:ext cx="7210425" cy="581025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BBA7C0-18D3-4505-8C03-94606B75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44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당뇨병 예측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13BB2C-1619-4526-9CC7-5CE32903A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84" y="1435553"/>
            <a:ext cx="2333625" cy="2428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88A1F1-E74B-4C4A-8274-4C6C752B6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884" y="3997778"/>
            <a:ext cx="2457450" cy="24955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C313F3-B0D4-412D-9497-1342D165D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520" y="5527234"/>
            <a:ext cx="1981200" cy="266700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DAA0FE8-253B-4D51-B31E-1EEB2C8E1A28}"/>
              </a:ext>
            </a:extLst>
          </p:cNvPr>
          <p:cNvCxnSpPr>
            <a:cxnSpLocks/>
          </p:cNvCxnSpPr>
          <p:nvPr/>
        </p:nvCxnSpPr>
        <p:spPr>
          <a:xfrm>
            <a:off x="5907314" y="711533"/>
            <a:ext cx="0" cy="5504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3E35522-9528-4D38-B938-D44B6B02F300}"/>
              </a:ext>
            </a:extLst>
          </p:cNvPr>
          <p:cNvSpPr txBox="1"/>
          <p:nvPr/>
        </p:nvSpPr>
        <p:spPr>
          <a:xfrm>
            <a:off x="586748" y="1012750"/>
            <a:ext cx="472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cost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02F0EDC-394A-4533-BF16-B1C45DE3E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545" y="1197416"/>
            <a:ext cx="2657475" cy="13811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5D99FBF-F0EE-4535-B8CD-D0FF466F45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253" y="2812609"/>
            <a:ext cx="1340959" cy="180974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5F3F332-2A38-4059-A4DB-C7B850E53C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407" y="3138054"/>
            <a:ext cx="428625" cy="148430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66276E-EFCE-488C-AC70-B8C6C643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84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A9048-1499-4597-9ADA-F4247FC34DA7}"/>
              </a:ext>
            </a:extLst>
          </p:cNvPr>
          <p:cNvSpPr txBox="1"/>
          <p:nvPr/>
        </p:nvSpPr>
        <p:spPr>
          <a:xfrm>
            <a:off x="559503" y="1194336"/>
            <a:ext cx="11937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다중 클래스 분류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b="0" i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b="0" i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개 이상의 선택지 중에서 </a:t>
            </a:r>
            <a:r>
              <a:rPr lang="en-US" altLang="ko-KR" b="0" i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b="0" i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개를 고르는 다중 클래스 분류 문제</a:t>
            </a:r>
            <a:endParaRPr lang="en-US" altLang="ko-KR" b="0" i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 분류 문제를 다중 클래스 분류 문제에 적용 가능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9DEC66-523D-40C8-9D41-111E60A3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169" y="2821203"/>
            <a:ext cx="6858000" cy="2838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A9372C-7F38-4983-B086-B139609B5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8" y="3149710"/>
            <a:ext cx="3066299" cy="218143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2711A-93C1-4197-89AC-FB3479C6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306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5B5112-1B19-40A5-8E23-08D16780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12" y="1388143"/>
            <a:ext cx="7258085" cy="20408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D2469E-4669-4D01-831A-8139D189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12" y="3785937"/>
            <a:ext cx="3689093" cy="22298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A37C02E-AF92-4DFA-AA14-6A5DA599A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713" y="4119813"/>
            <a:ext cx="5400675" cy="156210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E97F344-044F-4F1A-B6AB-22840D398D64}"/>
              </a:ext>
            </a:extLst>
          </p:cNvPr>
          <p:cNvCxnSpPr/>
          <p:nvPr/>
        </p:nvCxnSpPr>
        <p:spPr>
          <a:xfrm>
            <a:off x="4686300" y="4904509"/>
            <a:ext cx="94557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406D52-2E7E-4CC7-BE9F-2424FCD5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29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BE330C-9E08-4A90-9811-8547F84D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4" y="1446044"/>
            <a:ext cx="5657850" cy="1495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6FCCFD-7255-4F4B-A1E3-F1B091432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434" y="1446043"/>
            <a:ext cx="813412" cy="14954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6FC052-92BB-4FE3-996E-55A8A73E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24" y="3863742"/>
            <a:ext cx="3666182" cy="16916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43F651-2EA9-43C4-89EC-B5CA55E98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58" y="3429000"/>
            <a:ext cx="4916875" cy="256112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C62B54-8039-4F69-9054-D6E204A6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176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D9192-90CA-47A4-8EBD-AD680266B3E4}"/>
              </a:ext>
            </a:extLst>
          </p:cNvPr>
          <p:cNvSpPr txBox="1"/>
          <p:nvPr/>
        </p:nvSpPr>
        <p:spPr>
          <a:xfrm>
            <a:off x="559503" y="1054219"/>
            <a:ext cx="11937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Cost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 함수</a:t>
            </a:r>
            <a:endParaRPr lang="en-US" altLang="ko-KR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-  k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클래스의 갯수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 값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정답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 </a:t>
            </a:r>
          </a:p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  P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예측값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65FB0B-F006-47BC-8ABE-F5FCF73F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03" y="2436817"/>
            <a:ext cx="2390775" cy="657225"/>
          </a:xfrm>
          <a:prstGeom prst="rect">
            <a:avLst/>
          </a:prstGeom>
        </p:spPr>
      </p:pic>
      <p:pic>
        <p:nvPicPr>
          <p:cNvPr id="11" name="Picture 4" descr="https://lh6.googleusercontent.com/zvwLqWrsn9fVjeZEg-tb6ihsOBjjh5Ku52NXH5_nuEGimrZVB4L9xeyrI4pDYjY7RF-HnD7PEVBrH52IYZXqHjiXHX1RrnHiLVbKZr6zxG0Bo49Cv_j7NEPJ_8saamaSIt4FOETZ">
            <a:extLst>
              <a:ext uri="{FF2B5EF4-FFF2-40B4-BE49-F238E27FC236}">
                <a16:creationId xmlns:a16="http://schemas.microsoft.com/office/drawing/2014/main" id="{2ABA6DB2-56D5-4306-B0C2-3FABA51C3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09" y="945050"/>
            <a:ext cx="2223251" cy="2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40BED-88DE-422C-BDE7-B7652F1D87AA}"/>
              </a:ext>
            </a:extLst>
          </p:cNvPr>
          <p:cNvSpPr txBox="1"/>
          <p:nvPr/>
        </p:nvSpPr>
        <p:spPr>
          <a:xfrm>
            <a:off x="57912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BC75893-E5D9-4DC5-A7D4-1BCFE488E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54" y="3376844"/>
            <a:ext cx="1423453" cy="91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A2C3E3A-4120-49A6-9464-79000D996521}"/>
                  </a:ext>
                </a:extLst>
              </p14:cNvPr>
              <p14:cNvContentPartPr/>
              <p14:nvPr/>
            </p14:nvContentPartPr>
            <p14:xfrm>
              <a:off x="1305960" y="3499085"/>
              <a:ext cx="175484" cy="634902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A2C3E3A-4120-49A6-9464-79000D9965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610" y="3489727"/>
                <a:ext cx="193824" cy="653618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8A504C91-6664-4050-A2D0-CB227B9DD6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0509" y="2394665"/>
            <a:ext cx="2462477" cy="699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C0B83D-47C2-49E8-A183-47227F9A6330}"/>
              </a:ext>
            </a:extLst>
          </p:cNvPr>
          <p:cNvSpPr txBox="1"/>
          <p:nvPr/>
        </p:nvSpPr>
        <p:spPr>
          <a:xfrm>
            <a:off x="9303020" y="325369"/>
            <a:ext cx="5026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-log(p)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E6EC79C-28AE-4258-8C2B-A76CE40D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025" y="4577173"/>
            <a:ext cx="1420682" cy="92429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9EEB0CD-E220-4B36-92E2-55BDDB9F4E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254" y="5726844"/>
            <a:ext cx="1449178" cy="91752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2A32A7F-70F1-4BCC-B92E-CFC55FA17B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4510" y="4577173"/>
            <a:ext cx="3848445" cy="9242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82FA9F5-06E4-48D3-A8A2-454B124E7C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4510" y="5735648"/>
            <a:ext cx="4252138" cy="90872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DEB1E0-EB5D-4BE3-9639-C740DDFB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3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D9192-90CA-47A4-8EBD-AD680266B3E4}"/>
              </a:ext>
            </a:extLst>
          </p:cNvPr>
          <p:cNvSpPr txBox="1"/>
          <p:nvPr/>
        </p:nvSpPr>
        <p:spPr>
          <a:xfrm>
            <a:off x="559503" y="1061999"/>
            <a:ext cx="11937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Cost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 함수</a:t>
            </a:r>
            <a:endParaRPr lang="en-US" altLang="ko-KR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-  k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 Bold" panose="020B0600000101010101" pitchFamily="50" charset="-127"/>
              </a:rPr>
              <a:t>클래스의 갯수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 값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정답</a:t>
            </a:r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 </a:t>
            </a:r>
          </a:p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  P = </a:t>
            </a:r>
            <a:r>
              <a:rPr lang="ko-KR" altLang="en-US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예측값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65FB0B-F006-47BC-8ABE-F5FCF73F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03" y="2436817"/>
            <a:ext cx="2390775" cy="657225"/>
          </a:xfrm>
          <a:prstGeom prst="rect">
            <a:avLst/>
          </a:prstGeom>
        </p:spPr>
      </p:pic>
      <p:pic>
        <p:nvPicPr>
          <p:cNvPr id="11" name="Picture 4" descr="https://lh6.googleusercontent.com/zvwLqWrsn9fVjeZEg-tb6ihsOBjjh5Ku52NXH5_nuEGimrZVB4L9xeyrI4pDYjY7RF-HnD7PEVBrH52IYZXqHjiXHX1RrnHiLVbKZr6zxG0Bo49Cv_j7NEPJ_8saamaSIt4FOETZ">
            <a:extLst>
              <a:ext uri="{FF2B5EF4-FFF2-40B4-BE49-F238E27FC236}">
                <a16:creationId xmlns:a16="http://schemas.microsoft.com/office/drawing/2014/main" id="{2ABA6DB2-56D5-4306-B0C2-3FABA51C3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09" y="945050"/>
            <a:ext cx="2223251" cy="2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40BED-88DE-422C-BDE7-B7652F1D87AA}"/>
              </a:ext>
            </a:extLst>
          </p:cNvPr>
          <p:cNvSpPr txBox="1"/>
          <p:nvPr/>
        </p:nvSpPr>
        <p:spPr>
          <a:xfrm>
            <a:off x="57912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A504C91-6664-4050-A2D0-CB227B9DD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509" y="2394665"/>
            <a:ext cx="2462477" cy="699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C0B83D-47C2-49E8-A183-47227F9A6330}"/>
              </a:ext>
            </a:extLst>
          </p:cNvPr>
          <p:cNvSpPr txBox="1"/>
          <p:nvPr/>
        </p:nvSpPr>
        <p:spPr>
          <a:xfrm>
            <a:off x="9303020" y="325369"/>
            <a:ext cx="5026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-log(p)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E6EC79C-28AE-4258-8C2B-A76CE40D8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19" y="5625164"/>
            <a:ext cx="1420682" cy="92429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9EEB0CD-E220-4B36-92E2-55BDDB9F4E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850" y="4501004"/>
            <a:ext cx="1449178" cy="91752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B4CE653-398D-4F72-BFAE-D84794709F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698" y="3376844"/>
            <a:ext cx="1393603" cy="91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A2C3E3A-4120-49A6-9464-79000D996521}"/>
                  </a:ext>
                </a:extLst>
              </p14:cNvPr>
              <p14:cNvContentPartPr/>
              <p14:nvPr/>
            </p14:nvContentPartPr>
            <p14:xfrm>
              <a:off x="1305960" y="3499085"/>
              <a:ext cx="175484" cy="634902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A2C3E3A-4120-49A6-9464-79000D99652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6610" y="3489727"/>
                <a:ext cx="194183" cy="653618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3BE20AE8-CAE9-4CE0-991B-93C07E88F0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5262" y="4482292"/>
            <a:ext cx="4054033" cy="9549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DC57A6-DB5E-4663-B438-5B29FBB83E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5262" y="5621512"/>
            <a:ext cx="4345563" cy="9539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1DA4C1-0429-4F91-A8F8-1AD27EFF61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9917" y="5103155"/>
            <a:ext cx="3460034" cy="80979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36F5CF-A5B3-4053-8ACD-4291C818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25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8D86CC-A2BB-4776-AAC1-6A245AC7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" y="1380172"/>
            <a:ext cx="6915150" cy="22383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E882FC-1F0F-4329-AA5A-EE8E90F64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" y="4089082"/>
            <a:ext cx="7439025" cy="10572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4BECD9E-3D52-4CC1-9590-33CA3F8C8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997" y="4336562"/>
            <a:ext cx="3460034" cy="80979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1C1D95-A6A5-4C59-962A-59B5DC2B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894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3805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다중 클래스 분류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5DEEB1-43D9-4950-AB72-E72C61F4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" y="1252537"/>
            <a:ext cx="8343900" cy="16097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470A56-D424-4B1D-9F51-EE45003D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350" y="823911"/>
            <a:ext cx="3171825" cy="2466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2BD687-4B83-4658-BDFA-29F1A7CAA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" y="3539490"/>
            <a:ext cx="4733925" cy="1790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2DA756-D9DA-40CB-B50C-694367277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4194810"/>
            <a:ext cx="4714875" cy="723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C88299-7BD1-4BDB-9779-789C04323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" y="5650230"/>
            <a:ext cx="6962775" cy="71437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9F1AB8-AF74-4497-A3F5-E4B1438D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00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318</Words>
  <Application>Microsoft Office PowerPoint</Application>
  <PresentationFormat>와이드스크린</PresentationFormat>
  <Paragraphs>91</Paragraphs>
  <Slides>19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Megrim</vt:lpstr>
      <vt:lpstr>나눔고딕 ExtraBold</vt:lpstr>
      <vt:lpstr>나눔스퀘어_ac</vt:lpstr>
      <vt:lpstr>나눔스퀘어라운드 Bold</vt:lpstr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228</cp:revision>
  <dcterms:created xsi:type="dcterms:W3CDTF">2018-05-24T09:13:53Z</dcterms:created>
  <dcterms:modified xsi:type="dcterms:W3CDTF">2021-01-01T06:27:02Z</dcterms:modified>
</cp:coreProperties>
</file>