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4"/>
  </p:notesMasterIdLst>
  <p:sldIdLst>
    <p:sldId id="256" r:id="rId2"/>
    <p:sldId id="263" r:id="rId3"/>
    <p:sldId id="303" r:id="rId4"/>
    <p:sldId id="304" r:id="rId5"/>
    <p:sldId id="305" r:id="rId6"/>
    <p:sldId id="306" r:id="rId7"/>
    <p:sldId id="307" r:id="rId8"/>
    <p:sldId id="308" r:id="rId9"/>
    <p:sldId id="309" r:id="rId10"/>
    <p:sldId id="310" r:id="rId11"/>
    <p:sldId id="311" r:id="rId12"/>
    <p:sldId id="312" r:id="rId13"/>
    <p:sldId id="313" r:id="rId14"/>
    <p:sldId id="314" r:id="rId15"/>
    <p:sldId id="315" r:id="rId16"/>
    <p:sldId id="316" r:id="rId17"/>
    <p:sldId id="317" r:id="rId18"/>
    <p:sldId id="318" r:id="rId19"/>
    <p:sldId id="319" r:id="rId20"/>
    <p:sldId id="320" r:id="rId21"/>
    <p:sldId id="321" r:id="rId22"/>
    <p:sldId id="264" r:id="rId23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이 상화" initials="이상" lastIdx="1" clrIdx="0">
    <p:extLst>
      <p:ext uri="{19B8F6BF-5375-455C-9EA6-DF929625EA0E}">
        <p15:presenceInfo xmlns:p15="http://schemas.microsoft.com/office/powerpoint/2012/main" userId="3d9609a02ac1f2fe" providerId="Windows Liv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54535B"/>
    <a:srgbClr val="FD7C65"/>
    <a:srgbClr val="F2F2F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496" autoAdjust="0"/>
    <p:restoredTop sz="86701" autoAdjust="0"/>
  </p:normalViewPr>
  <p:slideViewPr>
    <p:cSldViewPr snapToGrid="0" showGuides="1">
      <p:cViewPr varScale="1">
        <p:scale>
          <a:sx n="74" d="100"/>
          <a:sy n="74" d="100"/>
        </p:scale>
        <p:origin x="1066" y="91"/>
      </p:cViewPr>
      <p:guideLst>
        <p:guide orient="horz" pos="2160"/>
        <p:guide pos="384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commentAuthors" Target="commentAuthor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5AFFF07-F165-463F-AADC-71E9041BE566}" type="datetimeFigureOut">
              <a:rPr lang="ko-KR" altLang="en-US" smtClean="0"/>
              <a:t>2021-01-21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C6C2A6E-6D5E-4697-99AF-2AC3CE155A2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5942515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C6C2A6E-6D5E-4697-99AF-2AC3CE155A2D}" type="slidenum">
              <a:rPr lang="ko-KR" altLang="en-US" smtClean="0"/>
              <a:t>2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83383247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마스터 부제목 스타일 편집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BD87F5-3D02-4167-8CF8-2CEDE961DC79}" type="datetime1">
              <a:rPr lang="ko-KR" altLang="en-US" smtClean="0"/>
              <a:t>2021-01-21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181C0B-4F34-4975-8B09-35C2A8FA839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62546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1BB0D6-BF44-4267-B265-EEC5CF8C438A}" type="datetime1">
              <a:rPr lang="ko-KR" altLang="en-US" smtClean="0"/>
              <a:t>2021-01-21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181C0B-4F34-4975-8B09-35C2A8FA839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3232502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32D22F-2EE4-4C10-9BA9-C37C1A4B6793}" type="datetime1">
              <a:rPr lang="ko-KR" altLang="en-US" smtClean="0"/>
              <a:t>2021-01-21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181C0B-4F34-4975-8B09-35C2A8FA839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2623523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102DA8-BFFF-4062-835F-6F98A7C6532A}" type="datetime1">
              <a:rPr lang="ko-KR" altLang="en-US" smtClean="0"/>
              <a:t>2021-01-21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181C0B-4F34-4975-8B09-35C2A8FA839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9013539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7A0439-92B8-4A81-8937-319C04A9D648}" type="datetime1">
              <a:rPr lang="ko-KR" altLang="en-US" smtClean="0"/>
              <a:t>2021-01-21</a:t>
            </a:fld>
            <a:endParaRPr lang="ko-KR" altLang="en-US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181C0B-4F34-4975-8B09-35C2A8FA839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6182485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3DE930-DFC8-4272-B6ED-DE91B7128E9C}" type="datetime1">
              <a:rPr lang="ko-KR" altLang="en-US" smtClean="0"/>
              <a:t>2021-01-21</a:t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181C0B-4F34-4975-8B09-35C2A8FA839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3539606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7FC6CA-3D46-4E1A-B0F7-66F4B3A8FC4C}" type="datetime1">
              <a:rPr lang="ko-KR" altLang="en-US" smtClean="0"/>
              <a:t>2021-01-21</a:t>
            </a:fld>
            <a:endParaRPr lang="ko-KR" altLang="en-US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181C0B-4F34-4975-8B09-35C2A8FA839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2576998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95C0F2-D654-4939-9EDA-3CF1E9CB3FC2}" type="datetime1">
              <a:rPr lang="ko-KR" altLang="en-US" smtClean="0"/>
              <a:t>2021-01-21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181C0B-4F34-4975-8B09-35C2A8FA839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4798012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93B3CB-AE2B-4EF8-B39B-2BE7D12A99C3}" type="datetime1">
              <a:rPr lang="ko-KR" altLang="en-US" smtClean="0"/>
              <a:t>2021-01-21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181C0B-4F34-4975-8B09-35C2A8FA839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3086570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54D591-B92F-4BFC-96FD-6CDDEE0A85F9}" type="datetime1">
              <a:rPr lang="ko-KR" altLang="en-US" smtClean="0"/>
              <a:t>2021-01-21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181C0B-4F34-4975-8B09-35C2A8FA839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7577261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7090B3-F69C-47E6-896A-9620AC9E47CD}" type="datetime1">
              <a:rPr lang="ko-KR" altLang="en-US" smtClean="0"/>
              <a:t>2021-01-21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181C0B-4F34-4975-8B09-35C2A8FA839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256697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F2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AAE6C6E-2BDA-49BF-9F5E-EE215DA14CD1}" type="datetime1">
              <a:rPr lang="ko-KR" altLang="en-US" smtClean="0"/>
              <a:t>2021-01-21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5181C0B-4F34-4975-8B09-35C2A8FA839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304189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0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7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7.png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1.png"/><Relationship Id="rId4" Type="http://schemas.openxmlformats.org/officeDocument/2006/relationships/image" Target="../media/image20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3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8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8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8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직사각형 9"/>
          <p:cNvSpPr/>
          <p:nvPr/>
        </p:nvSpPr>
        <p:spPr>
          <a:xfrm>
            <a:off x="293803" y="3515360"/>
            <a:ext cx="11604394" cy="1311164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4000"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Chapter 09 </a:t>
            </a:r>
            <a:r>
              <a:rPr lang="ko-KR" altLang="en-US" sz="4000"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텍스트를 처리해보자</a:t>
            </a:r>
            <a:endParaRPr lang="ko-KR" altLang="en-US" sz="4000" dirty="0">
              <a:latin typeface="나눔고딕 ExtraBold" panose="020D0904000000000000" pitchFamily="50" charset="-127"/>
              <a:ea typeface="나눔고딕 ExtraBold" panose="020D0904000000000000" pitchFamily="50" charset="-127"/>
            </a:endParaRPr>
          </a:p>
        </p:txBody>
      </p:sp>
      <p:cxnSp>
        <p:nvCxnSpPr>
          <p:cNvPr id="8" name="직선 연결선 7"/>
          <p:cNvCxnSpPr/>
          <p:nvPr/>
        </p:nvCxnSpPr>
        <p:spPr>
          <a:xfrm>
            <a:off x="3586882" y="3342640"/>
            <a:ext cx="5018241" cy="0"/>
          </a:xfrm>
          <a:prstGeom prst="line">
            <a:avLst/>
          </a:prstGeom>
          <a:ln w="9525" cap="rnd">
            <a:solidFill>
              <a:schemeClr val="tx1">
                <a:lumMod val="85000"/>
                <a:lumOff val="15000"/>
              </a:schemeClr>
            </a:solidFill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TextBox 2">
            <a:extLst>
              <a:ext uri="{FF2B5EF4-FFF2-40B4-BE49-F238E27FC236}">
                <a16:creationId xmlns:a16="http://schemas.microsoft.com/office/drawing/2014/main" id="{492D809B-D72E-440C-BD5A-C1D4661A26B4}"/>
              </a:ext>
            </a:extLst>
          </p:cNvPr>
          <p:cNvSpPr txBox="1"/>
          <p:nvPr/>
        </p:nvSpPr>
        <p:spPr>
          <a:xfrm>
            <a:off x="293803" y="6398310"/>
            <a:ext cx="2520099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50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나눔스퀘어_ac" panose="020B0600000101010101" pitchFamily="50" charset="-127"/>
                <a:ea typeface="나눔스퀘어_ac" panose="020B0600000101010101" pitchFamily="50" charset="-127"/>
              </a:rPr>
              <a:t>2021-01-21 </a:t>
            </a:r>
            <a:r>
              <a:rPr lang="ko-KR" altLang="en-US" sz="150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나눔스퀘어_ac" panose="020B0600000101010101" pitchFamily="50" charset="-127"/>
                <a:ea typeface="나눔스퀘어_ac" panose="020B0600000101010101" pitchFamily="50" charset="-127"/>
              </a:rPr>
              <a:t>발표자 정순범</a:t>
            </a:r>
            <a:endParaRPr lang="en-US" altLang="ko-KR" sz="1500" dirty="0">
              <a:ln>
                <a:solidFill>
                  <a:schemeClr val="accent1">
                    <a:alpha val="0"/>
                  </a:schemeClr>
                </a:solidFill>
              </a:ln>
              <a:solidFill>
                <a:schemeClr val="tx1">
                  <a:lumMod val="85000"/>
                  <a:lumOff val="15000"/>
                </a:schemeClr>
              </a:solidFill>
              <a:latin typeface="나눔스퀘어_ac" panose="020B0600000101010101" pitchFamily="50" charset="-127"/>
              <a:ea typeface="나눔스퀘어_ac" panose="020B0600000101010101" pitchFamily="50" charset="-127"/>
            </a:endParaRPr>
          </a:p>
        </p:txBody>
      </p:sp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2CAE7F3E-1E92-4B7F-BCAF-70E53883E1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181C0B-4F34-4975-8B09-35C2A8FA8398}" type="slidenum">
              <a:rPr lang="ko-KR" altLang="en-US" smtClean="0"/>
              <a:t>1</a:t>
            </a:fld>
            <a:endParaRPr lang="ko-KR" altLang="en-US"/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A24AB26F-DB60-4B37-B46B-E75F09D32F8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07775" y="422444"/>
            <a:ext cx="2776450" cy="26968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1011714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/>
          <p:cNvSpPr txBox="1"/>
          <p:nvPr/>
        </p:nvSpPr>
        <p:spPr>
          <a:xfrm>
            <a:off x="4955303" y="1248606"/>
            <a:ext cx="2281394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4000" spc="-150" dirty="0">
                <a:ln>
                  <a:solidFill>
                    <a:schemeClr val="accent1">
                      <a:alpha val="0"/>
                    </a:schemeClr>
                  </a:solidFill>
                </a:ln>
                <a:latin typeface="Megrim" panose="02000603000000000000" pitchFamily="2" charset="0"/>
                <a:ea typeface="-윤고딕310" panose="02030504000101010101" pitchFamily="18" charset="-127"/>
              </a:rPr>
              <a:t>Contents</a:t>
            </a:r>
            <a:endParaRPr lang="ko-KR" altLang="en-US" sz="4000" spc="-150" dirty="0">
              <a:ln>
                <a:solidFill>
                  <a:schemeClr val="accent1">
                    <a:alpha val="0"/>
                  </a:schemeClr>
                </a:solidFill>
              </a:ln>
              <a:latin typeface="Megrim" panose="02000603000000000000" pitchFamily="2" charset="0"/>
              <a:ea typeface="-윤고딕310" panose="02030504000101010101" pitchFamily="18" charset="-127"/>
            </a:endParaRP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7858A3EC-5AAA-4AE8-9BCC-2E04A9B657F6}"/>
              </a:ext>
            </a:extLst>
          </p:cNvPr>
          <p:cNvSpPr/>
          <p:nvPr/>
        </p:nvSpPr>
        <p:spPr>
          <a:xfrm>
            <a:off x="804516" y="4595638"/>
            <a:ext cx="551005" cy="282753"/>
          </a:xfrm>
          <a:prstGeom prst="rect">
            <a:avLst/>
          </a:prstGeom>
          <a:solidFill>
            <a:srgbClr val="54535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03</a:t>
            </a:r>
            <a:endParaRPr lang="ko-KR" alt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884A406-557D-46B8-B5F1-BE9931702316}"/>
              </a:ext>
            </a:extLst>
          </p:cNvPr>
          <p:cNvSpPr txBox="1"/>
          <p:nvPr/>
        </p:nvSpPr>
        <p:spPr>
          <a:xfrm>
            <a:off x="1740070" y="4547734"/>
            <a:ext cx="375426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000" b="1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정규식과 메타 문자</a:t>
            </a:r>
            <a:endParaRPr lang="en-US" altLang="ko-KR" sz="2000" b="1" dirty="0">
              <a:ln>
                <a:solidFill>
                  <a:schemeClr val="accent1">
                    <a:alpha val="0"/>
                  </a:schemeClr>
                </a:solidFill>
              </a:ln>
              <a:solidFill>
                <a:schemeClr val="tx1">
                  <a:lumMod val="85000"/>
                  <a:lumOff val="15000"/>
                </a:schemeClr>
              </a:solidFill>
              <a:latin typeface="나눔고딕 ExtraBold" panose="020D0904000000000000" pitchFamily="50" charset="-127"/>
              <a:ea typeface="나눔고딕 ExtraBold" panose="020D0904000000000000" pitchFamily="50" charset="-127"/>
            </a:endParaRPr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D5DD1FDD-D18C-47B9-A4A5-490D66361464}"/>
              </a:ext>
            </a:extLst>
          </p:cNvPr>
          <p:cNvSpPr/>
          <p:nvPr/>
        </p:nvSpPr>
        <p:spPr>
          <a:xfrm>
            <a:off x="804516" y="3849482"/>
            <a:ext cx="551005" cy="282753"/>
          </a:xfrm>
          <a:prstGeom prst="rect">
            <a:avLst/>
          </a:prstGeom>
          <a:solidFill>
            <a:srgbClr val="54535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02</a:t>
            </a:r>
            <a:endParaRPr lang="ko-KR" altLang="en-US" dirty="0"/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BF6C6CF7-3A44-48CD-9BF7-A1A9AAE2887C}"/>
              </a:ext>
            </a:extLst>
          </p:cNvPr>
          <p:cNvSpPr/>
          <p:nvPr/>
        </p:nvSpPr>
        <p:spPr>
          <a:xfrm>
            <a:off x="804515" y="3062069"/>
            <a:ext cx="551005" cy="282753"/>
          </a:xfrm>
          <a:prstGeom prst="rect">
            <a:avLst/>
          </a:prstGeom>
          <a:solidFill>
            <a:srgbClr val="54535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01</a:t>
            </a:r>
            <a:endParaRPr lang="ko-KR" altLang="en-US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F0E679AD-C63B-4A7F-8555-AB7726348281}"/>
              </a:ext>
            </a:extLst>
          </p:cNvPr>
          <p:cNvSpPr txBox="1"/>
          <p:nvPr/>
        </p:nvSpPr>
        <p:spPr>
          <a:xfrm>
            <a:off x="1740070" y="3002503"/>
            <a:ext cx="375426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000" b="1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문자열 다루기</a:t>
            </a:r>
            <a:endParaRPr lang="en-US" altLang="ko-KR" sz="2000" b="1" dirty="0">
              <a:ln>
                <a:solidFill>
                  <a:schemeClr val="accent1">
                    <a:alpha val="0"/>
                  </a:schemeClr>
                </a:solidFill>
              </a:ln>
              <a:solidFill>
                <a:schemeClr val="tx1">
                  <a:lumMod val="85000"/>
                  <a:lumOff val="15000"/>
                </a:schemeClr>
              </a:solidFill>
              <a:latin typeface="나눔고딕 ExtraBold" panose="020D0904000000000000" pitchFamily="50" charset="-127"/>
              <a:ea typeface="나눔고딕 ExtraBold" panose="020D0904000000000000" pitchFamily="50" charset="-127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84276BEE-E00D-45D7-88B6-57E8EC3E9029}"/>
              </a:ext>
            </a:extLst>
          </p:cNvPr>
          <p:cNvSpPr txBox="1"/>
          <p:nvPr/>
        </p:nvSpPr>
        <p:spPr>
          <a:xfrm>
            <a:off x="1740070" y="3790803"/>
            <a:ext cx="375426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000" b="1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워드 클라우드</a:t>
            </a:r>
            <a:endParaRPr lang="en-US" altLang="ko-KR" sz="2000" b="1" dirty="0">
              <a:ln>
                <a:solidFill>
                  <a:schemeClr val="accent1">
                    <a:alpha val="0"/>
                  </a:schemeClr>
                </a:solidFill>
              </a:ln>
              <a:solidFill>
                <a:schemeClr val="tx1">
                  <a:lumMod val="85000"/>
                  <a:lumOff val="15000"/>
                </a:schemeClr>
              </a:solidFill>
              <a:latin typeface="나눔고딕 ExtraBold" panose="020D0904000000000000" pitchFamily="50" charset="-127"/>
              <a:ea typeface="나눔고딕 ExtraBold" panose="020D0904000000000000" pitchFamily="50" charset="-127"/>
            </a:endParaRPr>
          </a:p>
        </p:txBody>
      </p:sp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2505AC6A-80FB-4E85-B211-DB5E7E61C5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181C0B-4F34-4975-8B09-35C2A8FA8398}" type="slidenum">
              <a:rPr lang="ko-KR" altLang="en-US" smtClean="0"/>
              <a:t>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3033729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직사각형 4">
            <a:extLst>
              <a:ext uri="{FF2B5EF4-FFF2-40B4-BE49-F238E27FC236}">
                <a16:creationId xmlns:a16="http://schemas.microsoft.com/office/drawing/2014/main" id="{CC7DDF2D-B4B1-4D91-81AC-9B1E658A8C84}"/>
              </a:ext>
            </a:extLst>
          </p:cNvPr>
          <p:cNvSpPr/>
          <p:nvPr/>
        </p:nvSpPr>
        <p:spPr>
          <a:xfrm>
            <a:off x="0" y="308537"/>
            <a:ext cx="3143365" cy="402996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2400">
                <a:latin typeface="나눔스퀘어라운드 Bold" panose="020B0600000101010101" pitchFamily="50" charset="-127"/>
                <a:ea typeface="나눔스퀘어라운드 Bold" panose="020B0600000101010101" pitchFamily="50" charset="-127"/>
              </a:rPr>
              <a:t>1. </a:t>
            </a:r>
            <a:r>
              <a:rPr lang="ko-KR" altLang="en-US" sz="2400">
                <a:latin typeface="나눔스퀘어라운드 Bold" panose="020B0600000101010101" pitchFamily="50" charset="-127"/>
                <a:ea typeface="나눔스퀘어라운드 Bold" panose="020B0600000101010101" pitchFamily="50" charset="-127"/>
              </a:rPr>
              <a:t>문자열 다루기</a:t>
            </a:r>
            <a:endParaRPr lang="en-US" altLang="ko-KR" sz="2400" dirty="0">
              <a:latin typeface="나눔스퀘어라운드 Bold" panose="020B0600000101010101" pitchFamily="50" charset="-127"/>
              <a:ea typeface="나눔스퀘어라운드 Bold" panose="020B0600000101010101" pitchFamily="50" charset="-127"/>
            </a:endParaRPr>
          </a:p>
        </p:txBody>
      </p:sp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E9A680AA-E171-4391-8687-BB20D46E56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181C0B-4F34-4975-8B09-35C2A8FA8398}" type="slidenum">
              <a:rPr lang="ko-KR" altLang="en-US" smtClean="0"/>
              <a:t>3</a:t>
            </a:fld>
            <a:endParaRPr lang="ko-KR" altLang="en-US"/>
          </a:p>
        </p:txBody>
      </p:sp>
      <p:sp>
        <p:nvSpPr>
          <p:cNvPr id="9" name="제목 1">
            <a:extLst>
              <a:ext uri="{FF2B5EF4-FFF2-40B4-BE49-F238E27FC236}">
                <a16:creationId xmlns:a16="http://schemas.microsoft.com/office/drawing/2014/main" id="{93B10327-7B3F-4ABC-9B05-6BF562D9616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1458" y="865550"/>
            <a:ext cx="11057592" cy="1325563"/>
          </a:xfrm>
        </p:spPr>
        <p:txBody>
          <a:bodyPr>
            <a:normAutofit/>
          </a:bodyPr>
          <a:lstStyle/>
          <a:p>
            <a:pPr fontAlgn="base"/>
            <a:r>
              <a:rPr lang="ko-KR" altLang="en-US" sz="3400" spc="-150"/>
              <a:t>▶</a:t>
            </a:r>
            <a:r>
              <a:rPr lang="ko-KR" altLang="en-US" sz="3400"/>
              <a:t> 텍스트 데이터란 무엇인가</a:t>
            </a:r>
            <a:endParaRPr lang="ko-KR" altLang="en-US" sz="3400" spc="-150" dirty="0"/>
          </a:p>
        </p:txBody>
      </p:sp>
      <p:sp>
        <p:nvSpPr>
          <p:cNvPr id="10" name="내용 개체 틀 4">
            <a:extLst>
              <a:ext uri="{FF2B5EF4-FFF2-40B4-BE49-F238E27FC236}">
                <a16:creationId xmlns:a16="http://schemas.microsoft.com/office/drawing/2014/main" id="{1DAEC176-DFCA-44EF-B87A-4A081A0C119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08762" y="2613751"/>
            <a:ext cx="9614647" cy="3461640"/>
          </a:xfrm>
        </p:spPr>
        <p:txBody>
          <a:bodyPr>
            <a:normAutofit/>
          </a:bodyPr>
          <a:lstStyle/>
          <a:p>
            <a:r>
              <a:rPr lang="ko-KR" altLang="en-US" sz="2500" b="0" i="0" u="none" strike="noStrike" dirty="0">
                <a:solidFill>
                  <a:srgbClr val="000000"/>
                </a:solidFill>
                <a:effectLst/>
                <a:latin typeface="Nanum Gothic"/>
              </a:rPr>
              <a:t>텍스트는 인간이 오랫동안 정보를 효율적으로 교환하는 데에 가장 중요한 수단으로 사용해 왔다</a:t>
            </a:r>
            <a:r>
              <a:rPr lang="en-US" altLang="ko-KR" sz="2500" b="0" i="0" u="none" strike="noStrike" dirty="0">
                <a:solidFill>
                  <a:srgbClr val="000000"/>
                </a:solidFill>
                <a:effectLst/>
                <a:latin typeface="Nanum Gothic"/>
              </a:rPr>
              <a:t>.</a:t>
            </a:r>
          </a:p>
          <a:p>
            <a:r>
              <a:rPr lang="ko-KR" altLang="en-US" sz="2500" b="0" i="0" u="none" strike="noStrike" dirty="0">
                <a:solidFill>
                  <a:srgbClr val="000000"/>
                </a:solidFill>
                <a:effectLst/>
                <a:latin typeface="Nanum Gothic"/>
              </a:rPr>
              <a:t>텍스트 데이터는 구조화된 문서</a:t>
            </a:r>
            <a:r>
              <a:rPr lang="en-US" altLang="ko-KR" sz="2500" b="0" i="0" u="none" strike="noStrike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(HTML, XML, CSV, JSON </a:t>
            </a:r>
            <a:r>
              <a:rPr lang="ko-KR" altLang="en-US" sz="2500" b="0" i="0" u="none" strike="noStrike" dirty="0">
                <a:solidFill>
                  <a:srgbClr val="000000"/>
                </a:solidFill>
                <a:effectLst/>
                <a:latin typeface="Nanum Gothic"/>
              </a:rPr>
              <a:t>파일</a:t>
            </a:r>
            <a:r>
              <a:rPr lang="en-US" altLang="ko-KR" sz="2500" b="0" i="0" u="none" strike="noStrike" dirty="0">
                <a:solidFill>
                  <a:srgbClr val="000000"/>
                </a:solidFill>
                <a:effectLst/>
                <a:latin typeface="Nanum Gothic"/>
              </a:rPr>
              <a:t>)</a:t>
            </a:r>
            <a:r>
              <a:rPr lang="ko-KR" altLang="en-US" sz="2500" b="0" i="0" u="none" strike="noStrike" dirty="0">
                <a:solidFill>
                  <a:srgbClr val="000000"/>
                </a:solidFill>
                <a:effectLst/>
                <a:latin typeface="Nanum Gothic"/>
              </a:rPr>
              <a:t>와 구조화되지 않은 문서</a:t>
            </a:r>
            <a:r>
              <a:rPr lang="en-US" altLang="ko-KR" sz="2500" b="0" i="0" u="none" strike="noStrike" dirty="0">
                <a:solidFill>
                  <a:srgbClr val="000000"/>
                </a:solidFill>
                <a:effectLst/>
                <a:latin typeface="Nanum Gothic"/>
              </a:rPr>
              <a:t>(</a:t>
            </a:r>
            <a:r>
              <a:rPr lang="ko-KR" altLang="en-US" sz="2500" b="0" i="0" u="none" strike="noStrike" dirty="0">
                <a:solidFill>
                  <a:srgbClr val="000000"/>
                </a:solidFill>
                <a:effectLst/>
                <a:latin typeface="Nanum Gothic"/>
              </a:rPr>
              <a:t>자연어로 된 텍스트</a:t>
            </a:r>
            <a:r>
              <a:rPr lang="en-US" altLang="ko-KR" sz="2500" b="0" i="0" u="none" strike="noStrike" dirty="0">
                <a:solidFill>
                  <a:srgbClr val="000000"/>
                </a:solidFill>
                <a:effectLst/>
                <a:latin typeface="Nanum Gothic"/>
              </a:rPr>
              <a:t>)</a:t>
            </a:r>
            <a:r>
              <a:rPr lang="ko-KR" altLang="en-US" sz="2500" b="0" i="0" u="none" strike="noStrike" dirty="0">
                <a:solidFill>
                  <a:srgbClr val="000000"/>
                </a:solidFill>
                <a:effectLst/>
                <a:latin typeface="Nanum Gothic"/>
              </a:rPr>
              <a:t>로 나눌 수 있다</a:t>
            </a:r>
            <a:r>
              <a:rPr lang="en-US" altLang="ko-KR" sz="2500" b="0" i="0" u="none" strike="noStrike" dirty="0">
                <a:solidFill>
                  <a:srgbClr val="000000"/>
                </a:solidFill>
                <a:effectLst/>
                <a:latin typeface="Nanum Gothic"/>
              </a:rPr>
              <a:t>.</a:t>
            </a:r>
          </a:p>
          <a:p>
            <a:r>
              <a:rPr lang="ko-KR" altLang="en-US" sz="2500" b="0" i="0" u="none" strike="noStrike" dirty="0">
                <a:solidFill>
                  <a:srgbClr val="000000"/>
                </a:solidFill>
                <a:effectLst/>
                <a:latin typeface="Nanum Gothic"/>
              </a:rPr>
              <a:t>일반적으로 원천 데이터는 가공된 형태가 아니기 때문에 우리는 이들 데이터를 수정하여서 완전한 데이터로 만들어야 한다</a:t>
            </a:r>
            <a:r>
              <a:rPr lang="en-US" altLang="ko-KR" sz="2500" b="0" i="0" u="none" strike="noStrike" dirty="0">
                <a:solidFill>
                  <a:srgbClr val="000000"/>
                </a:solidFill>
                <a:effectLst/>
                <a:latin typeface="Nanum Gothic"/>
              </a:rPr>
              <a:t>.</a:t>
            </a:r>
            <a:endParaRPr lang="ko-KR" altLang="en-US" sz="2500" dirty="0"/>
          </a:p>
        </p:txBody>
      </p:sp>
    </p:spTree>
    <p:extLst>
      <p:ext uri="{BB962C8B-B14F-4D97-AF65-F5344CB8AC3E}">
        <p14:creationId xmlns:p14="http://schemas.microsoft.com/office/powerpoint/2010/main" val="187062071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직사각형 4">
            <a:extLst>
              <a:ext uri="{FF2B5EF4-FFF2-40B4-BE49-F238E27FC236}">
                <a16:creationId xmlns:a16="http://schemas.microsoft.com/office/drawing/2014/main" id="{CC7DDF2D-B4B1-4D91-81AC-9B1E658A8C84}"/>
              </a:ext>
            </a:extLst>
          </p:cNvPr>
          <p:cNvSpPr/>
          <p:nvPr/>
        </p:nvSpPr>
        <p:spPr>
          <a:xfrm>
            <a:off x="0" y="308537"/>
            <a:ext cx="3143365" cy="402996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2400">
                <a:latin typeface="나눔스퀘어라운드 Bold" panose="020B0600000101010101" pitchFamily="50" charset="-127"/>
                <a:ea typeface="나눔스퀘어라운드 Bold" panose="020B0600000101010101" pitchFamily="50" charset="-127"/>
              </a:rPr>
              <a:t>1. </a:t>
            </a:r>
            <a:r>
              <a:rPr lang="ko-KR" altLang="en-US" sz="2400">
                <a:latin typeface="나눔스퀘어라운드 Bold" panose="020B0600000101010101" pitchFamily="50" charset="-127"/>
                <a:ea typeface="나눔스퀘어라운드 Bold" panose="020B0600000101010101" pitchFamily="50" charset="-127"/>
              </a:rPr>
              <a:t>문자열 다루기</a:t>
            </a:r>
            <a:endParaRPr lang="en-US" altLang="ko-KR" sz="2400" dirty="0">
              <a:latin typeface="나눔스퀘어라운드 Bold" panose="020B0600000101010101" pitchFamily="50" charset="-127"/>
              <a:ea typeface="나눔스퀘어라운드 Bold" panose="020B0600000101010101" pitchFamily="50" charset="-127"/>
            </a:endParaRPr>
          </a:p>
        </p:txBody>
      </p:sp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E9A680AA-E171-4391-8687-BB20D46E56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181C0B-4F34-4975-8B09-35C2A8FA8398}" type="slidenum">
              <a:rPr lang="ko-KR" altLang="en-US" smtClean="0"/>
              <a:t>4</a:t>
            </a:fld>
            <a:endParaRPr lang="ko-KR" altLang="en-US"/>
          </a:p>
        </p:txBody>
      </p:sp>
      <p:sp>
        <p:nvSpPr>
          <p:cNvPr id="11" name="제목 1">
            <a:extLst>
              <a:ext uri="{FF2B5EF4-FFF2-40B4-BE49-F238E27FC236}">
                <a16:creationId xmlns:a16="http://schemas.microsoft.com/office/drawing/2014/main" id="{745BBBFD-EA19-4B7D-8B4B-F2259D4CE0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1458" y="865550"/>
            <a:ext cx="11057592" cy="1325563"/>
          </a:xfrm>
        </p:spPr>
        <p:txBody>
          <a:bodyPr>
            <a:normAutofit/>
          </a:bodyPr>
          <a:lstStyle/>
          <a:p>
            <a:pPr fontAlgn="base"/>
            <a:r>
              <a:rPr lang="ko-KR" altLang="en-US" sz="3400" spc="-150"/>
              <a:t>▶</a:t>
            </a:r>
            <a:r>
              <a:rPr lang="ko-KR" altLang="en-US" sz="3400"/>
              <a:t> 문자열에서 문자 추출</a:t>
            </a:r>
            <a:endParaRPr lang="ko-KR" altLang="en-US" sz="3400" spc="-150" dirty="0"/>
          </a:p>
        </p:txBody>
      </p:sp>
      <p:pic>
        <p:nvPicPr>
          <p:cNvPr id="12" name="그림 11">
            <a:extLst>
              <a:ext uri="{FF2B5EF4-FFF2-40B4-BE49-F238E27FC236}">
                <a16:creationId xmlns:a16="http://schemas.microsoft.com/office/drawing/2014/main" id="{7031E97E-AD0A-479E-AFD8-0BAA6E6A02D4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63529"/>
          <a:stretch/>
        </p:blipFill>
        <p:spPr>
          <a:xfrm>
            <a:off x="666848" y="2571495"/>
            <a:ext cx="2802507" cy="887506"/>
          </a:xfrm>
          <a:prstGeom prst="rect">
            <a:avLst/>
          </a:prstGeom>
        </p:spPr>
      </p:pic>
      <p:sp>
        <p:nvSpPr>
          <p:cNvPr id="13" name="내용 개체 틀 2">
            <a:extLst>
              <a:ext uri="{FF2B5EF4-FFF2-40B4-BE49-F238E27FC236}">
                <a16:creationId xmlns:a16="http://schemas.microsoft.com/office/drawing/2014/main" id="{10F76B29-8FB6-4935-B32C-616C3DF2946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08937" y="4223135"/>
            <a:ext cx="3318330" cy="887506"/>
          </a:xfrm>
        </p:spPr>
        <p:txBody>
          <a:bodyPr>
            <a:normAutofit lnSpcReduction="10000"/>
          </a:bodyPr>
          <a:lstStyle/>
          <a:p>
            <a:r>
              <a:rPr lang="ko-KR" altLang="en-US" sz="1500" b="0" i="0" u="none" strike="noStrike">
                <a:solidFill>
                  <a:srgbClr val="000000"/>
                </a:solidFill>
                <a:effectLst/>
                <a:latin typeface="Nanum Gothic"/>
              </a:rPr>
              <a:t>위의 </a:t>
            </a:r>
            <a:r>
              <a:rPr lang="ko-KR" altLang="en-US" sz="1500"/>
              <a:t>와</a:t>
            </a:r>
            <a:r>
              <a:rPr lang="ko-KR" altLang="en-US" sz="1500" b="0" i="0" u="none" strike="noStrike">
                <a:solidFill>
                  <a:srgbClr val="000000"/>
                </a:solidFill>
                <a:effectLst/>
                <a:latin typeface="Nanum Gothic"/>
              </a:rPr>
              <a:t> </a:t>
            </a:r>
            <a:r>
              <a:rPr lang="ko-KR" altLang="en-US" sz="1500" b="0" i="0" u="none" strike="noStrike" dirty="0">
                <a:solidFill>
                  <a:srgbClr val="000000"/>
                </a:solidFill>
                <a:effectLst/>
                <a:latin typeface="Nanum Gothic"/>
              </a:rPr>
              <a:t>같이 </a:t>
            </a:r>
            <a:r>
              <a:rPr lang="en-US" altLang="ko-KR" sz="1500" b="0" i="0" u="none" strike="noStrike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s[0]</a:t>
            </a:r>
            <a:r>
              <a:rPr lang="ko-KR" altLang="en-US" sz="1500" b="0" i="0" u="none" strike="noStrike">
                <a:solidFill>
                  <a:srgbClr val="000000"/>
                </a:solidFill>
                <a:effectLst/>
                <a:latin typeface="Nanum Gothic"/>
              </a:rPr>
              <a:t>과 </a:t>
            </a:r>
            <a:r>
              <a:rPr lang="ko-KR" altLang="en-US" sz="1500" b="0" i="0" u="none" strike="noStrike" dirty="0">
                <a:solidFill>
                  <a:srgbClr val="000000"/>
                </a:solidFill>
                <a:effectLst/>
                <a:latin typeface="Nanum Gothic"/>
              </a:rPr>
              <a:t>같이 인덱스 </a:t>
            </a:r>
            <a:r>
              <a:rPr lang="en-US" altLang="ko-KR" sz="1500" b="0" i="0" u="none" strike="noStrike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ko-KR" altLang="en-US" sz="1500" b="0" i="0" u="none" strike="noStrike">
                <a:solidFill>
                  <a:srgbClr val="000000"/>
                </a:solidFill>
                <a:effectLst/>
                <a:latin typeface="Nanum Gothic"/>
              </a:rPr>
              <a:t>을 </a:t>
            </a:r>
            <a:r>
              <a:rPr lang="ko-KR" altLang="en-US" sz="1500" b="0" i="0" u="none" strike="noStrike" dirty="0">
                <a:solidFill>
                  <a:srgbClr val="000000"/>
                </a:solidFill>
                <a:effectLst/>
                <a:latin typeface="Nanum Gothic"/>
              </a:rPr>
              <a:t>이용해서 문자 </a:t>
            </a:r>
            <a:r>
              <a:rPr lang="en-US" altLang="ko-KR" sz="1500" b="0" i="0" u="none" strike="noStrike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'M'</a:t>
            </a:r>
            <a:r>
              <a:rPr lang="ko-KR" altLang="en-US" sz="1500" b="0" i="0" u="none" strike="noStrike">
                <a:solidFill>
                  <a:srgbClr val="000000"/>
                </a:solidFill>
                <a:effectLst/>
                <a:latin typeface="Nanum Gothic"/>
              </a:rPr>
              <a:t>에 </a:t>
            </a:r>
            <a:r>
              <a:rPr lang="ko-KR" altLang="en-US" sz="1500" b="0" i="0" u="none" strike="noStrike" dirty="0">
                <a:solidFill>
                  <a:srgbClr val="000000"/>
                </a:solidFill>
                <a:effectLst/>
                <a:latin typeface="Nanum Gothic"/>
              </a:rPr>
              <a:t>접근 가능하며</a:t>
            </a:r>
            <a:r>
              <a:rPr lang="en-US" altLang="ko-KR" sz="1500" b="0" i="0" u="none" strike="noStrike">
                <a:solidFill>
                  <a:srgbClr val="000000"/>
                </a:solidFill>
                <a:effectLst/>
                <a:latin typeface="Nanum Gothic"/>
              </a:rPr>
              <a:t>,</a:t>
            </a:r>
            <a:r>
              <a:rPr lang="ko-KR" altLang="en-US" sz="1500" b="0" i="0" u="none" strike="noStrike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500" b="0" i="0" u="none" strike="noStrike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s[11]</a:t>
            </a:r>
            <a:r>
              <a:rPr lang="ko-KR" altLang="en-US" sz="1500" b="0" i="0" u="none" strike="noStrike">
                <a:solidFill>
                  <a:srgbClr val="000000"/>
                </a:solidFill>
                <a:effectLst/>
                <a:latin typeface="Nanum Gothic"/>
              </a:rPr>
              <a:t>은 </a:t>
            </a:r>
            <a:r>
              <a:rPr lang="ko-KR" altLang="en-US" sz="1500" b="0" i="0" u="none" strike="noStrike" dirty="0">
                <a:solidFill>
                  <a:srgbClr val="000000"/>
                </a:solidFill>
                <a:effectLst/>
                <a:latin typeface="Nanum Gothic"/>
              </a:rPr>
              <a:t>마지막 문자 </a:t>
            </a:r>
            <a:r>
              <a:rPr lang="en-US" altLang="ko-KR" sz="1500" b="0" i="0" u="none" strike="noStrike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'n'</a:t>
            </a:r>
            <a:r>
              <a:rPr lang="ko-KR" altLang="en-US" sz="1500" b="0" i="0" u="none" strike="noStrike">
                <a:solidFill>
                  <a:srgbClr val="000000"/>
                </a:solidFill>
                <a:effectLst/>
                <a:latin typeface="Nanum Gothic"/>
              </a:rPr>
              <a:t>이 </a:t>
            </a:r>
            <a:r>
              <a:rPr lang="ko-KR" altLang="en-US" sz="1500" b="0" i="0" u="none" strike="noStrike" dirty="0">
                <a:solidFill>
                  <a:srgbClr val="000000"/>
                </a:solidFill>
                <a:effectLst/>
                <a:latin typeface="Nanum Gothic"/>
              </a:rPr>
              <a:t>된다</a:t>
            </a:r>
            <a:r>
              <a:rPr lang="en-US" altLang="ko-KR" sz="1500" b="0" i="0" u="none" strike="noStrike">
                <a:solidFill>
                  <a:srgbClr val="000000"/>
                </a:solidFill>
                <a:effectLst/>
                <a:latin typeface="Nanum Gothic"/>
              </a:rPr>
              <a:t>.</a:t>
            </a:r>
            <a:endParaRPr lang="ko-KR" altLang="en-US" sz="1500" dirty="0"/>
          </a:p>
        </p:txBody>
      </p:sp>
      <p:pic>
        <p:nvPicPr>
          <p:cNvPr id="14" name="그림 13">
            <a:extLst>
              <a:ext uri="{FF2B5EF4-FFF2-40B4-BE49-F238E27FC236}">
                <a16:creationId xmlns:a16="http://schemas.microsoft.com/office/drawing/2014/main" id="{5CB8A2A4-C793-47D9-A417-FB1EF349957C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t="1" r="56320" b="-7881"/>
          <a:stretch/>
        </p:blipFill>
        <p:spPr>
          <a:xfrm>
            <a:off x="5224000" y="2474303"/>
            <a:ext cx="1926767" cy="1081890"/>
          </a:xfrm>
          <a:prstGeom prst="rect">
            <a:avLst/>
          </a:prstGeom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B3736E4C-FA73-4C13-8894-AFF10D4B85D6}"/>
              </a:ext>
            </a:extLst>
          </p:cNvPr>
          <p:cNvSpPr txBox="1"/>
          <p:nvPr/>
        </p:nvSpPr>
        <p:spPr>
          <a:xfrm>
            <a:off x="4436835" y="4223135"/>
            <a:ext cx="3318330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ko-KR" altLang="en-US" sz="1500" b="0" i="0" u="none" strike="noStrike" dirty="0">
                <a:solidFill>
                  <a:srgbClr val="000000"/>
                </a:solidFill>
                <a:effectLst/>
                <a:latin typeface="Nanum Gothic"/>
              </a:rPr>
              <a:t>문자열의 오른쪽 끝의 두 문자만을 제외하고 </a:t>
            </a:r>
            <a:r>
              <a:rPr lang="ko-KR" altLang="en-US" sz="1500" b="0" i="0" u="none" strike="noStrike" dirty="0" err="1">
                <a:solidFill>
                  <a:srgbClr val="000000"/>
                </a:solidFill>
                <a:effectLst/>
                <a:latin typeface="Nanum Gothic"/>
              </a:rPr>
              <a:t>슬라이싱하여</a:t>
            </a:r>
            <a:r>
              <a:rPr lang="ko-KR" altLang="en-US" sz="1500" b="0" i="0" u="none" strike="noStrike" dirty="0">
                <a:solidFill>
                  <a:srgbClr val="000000"/>
                </a:solidFill>
                <a:effectLst/>
                <a:latin typeface="Nanum Gothic"/>
              </a:rPr>
              <a:t> 복사하려 하면 다음과 같은 표현식을 사용할 수 있다</a:t>
            </a:r>
            <a:r>
              <a:rPr lang="en-US" altLang="ko-KR" sz="1500" b="0" i="0" u="none" strike="noStrike" dirty="0">
                <a:solidFill>
                  <a:srgbClr val="000000"/>
                </a:solidFill>
                <a:effectLst/>
                <a:latin typeface="Nanum Gothic"/>
              </a:rPr>
              <a:t>.</a:t>
            </a:r>
            <a:endParaRPr lang="ko-KR" altLang="en-US" sz="1500" dirty="0"/>
          </a:p>
        </p:txBody>
      </p:sp>
      <p:pic>
        <p:nvPicPr>
          <p:cNvPr id="17" name="그림 16">
            <a:extLst>
              <a:ext uri="{FF2B5EF4-FFF2-40B4-BE49-F238E27FC236}">
                <a16:creationId xmlns:a16="http://schemas.microsoft.com/office/drawing/2014/main" id="{1FBFD06A-2F44-41D4-9E2C-59451BD08456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r="78439"/>
          <a:stretch/>
        </p:blipFill>
        <p:spPr>
          <a:xfrm>
            <a:off x="9100251" y="2362978"/>
            <a:ext cx="2065012" cy="1110155"/>
          </a:xfrm>
          <a:prstGeom prst="rect">
            <a:avLst/>
          </a:prstGeom>
        </p:spPr>
      </p:pic>
      <p:sp>
        <p:nvSpPr>
          <p:cNvPr id="18" name="TextBox 17">
            <a:extLst>
              <a:ext uri="{FF2B5EF4-FFF2-40B4-BE49-F238E27FC236}">
                <a16:creationId xmlns:a16="http://schemas.microsoft.com/office/drawing/2014/main" id="{1FECBCA6-3CB8-4256-A38A-022646CB3846}"/>
              </a:ext>
            </a:extLst>
          </p:cNvPr>
          <p:cNvSpPr txBox="1"/>
          <p:nvPr/>
        </p:nvSpPr>
        <p:spPr>
          <a:xfrm>
            <a:off x="8610600" y="4107718"/>
            <a:ext cx="3044315" cy="12464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ko-KR" altLang="en-US" sz="1500" b="0" i="0" u="none" strike="noStrike" dirty="0">
                <a:solidFill>
                  <a:srgbClr val="000000"/>
                </a:solidFill>
                <a:effectLst/>
                <a:latin typeface="Nanum Gothic"/>
              </a:rPr>
              <a:t>만일 오른쪽 끝에 있는 </a:t>
            </a:r>
            <a:r>
              <a:rPr lang="ko-KR" altLang="en-US" sz="1500" b="0" i="0" u="none" strike="noStrike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두 개의</a:t>
            </a:r>
            <a:r>
              <a:rPr lang="ko-KR" altLang="en-US" sz="1500" b="0" i="0" u="none" strike="noStrike" dirty="0">
                <a:solidFill>
                  <a:srgbClr val="000000"/>
                </a:solidFill>
                <a:effectLst/>
                <a:latin typeface="Nanum Gothic"/>
              </a:rPr>
              <a:t> 문자를 선택하려면 </a:t>
            </a:r>
            <a:r>
              <a:rPr lang="en-US" altLang="ko-KR" sz="1500" b="0" i="0" u="none" strike="noStrike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s[-2:]</a:t>
            </a:r>
            <a:r>
              <a:rPr lang="ko-KR" altLang="en-US" sz="1500" b="0" i="0" u="none" strike="noStrike" dirty="0">
                <a:solidFill>
                  <a:srgbClr val="000000"/>
                </a:solidFill>
                <a:effectLst/>
                <a:latin typeface="Nanum Gothic"/>
              </a:rPr>
              <a:t>를 사용하면 된다</a:t>
            </a:r>
            <a:r>
              <a:rPr lang="en-US" altLang="ko-KR" sz="1500" b="0" i="0" u="none" strike="noStrike" dirty="0">
                <a:solidFill>
                  <a:srgbClr val="000000"/>
                </a:solidFill>
                <a:effectLst/>
                <a:latin typeface="Nanum Gothic"/>
              </a:rPr>
              <a:t>. </a:t>
            </a:r>
            <a:r>
              <a:rPr lang="ko-KR" altLang="en-US" sz="1500" b="0" i="0" u="none" strike="noStrike" dirty="0">
                <a:solidFill>
                  <a:srgbClr val="000000"/>
                </a:solidFill>
                <a:effectLst/>
                <a:latin typeface="Nanum Gothic"/>
              </a:rPr>
              <a:t>그러므로 </a:t>
            </a:r>
            <a:r>
              <a:rPr lang="en-US" altLang="ko-KR" sz="1500" b="0" i="0" u="none" strike="noStrike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s[:-2] + s[-2:0]</a:t>
            </a:r>
            <a:r>
              <a:rPr lang="ko-KR" altLang="en-US" sz="1500" b="0" i="0" u="none" strike="noStrike" dirty="0">
                <a:solidFill>
                  <a:srgbClr val="000000"/>
                </a:solidFill>
                <a:effectLst/>
                <a:latin typeface="Nanum Gothic"/>
              </a:rPr>
              <a:t>는 원래 문자열이 된다</a:t>
            </a:r>
            <a:r>
              <a:rPr lang="en-US" altLang="ko-KR" sz="1500" b="0" i="0" u="none" strike="noStrike" dirty="0">
                <a:solidFill>
                  <a:srgbClr val="000000"/>
                </a:solidFill>
                <a:effectLst/>
                <a:latin typeface="Nanum Gothic"/>
              </a:rPr>
              <a:t>.</a:t>
            </a:r>
            <a:endParaRPr lang="ko-KR" altLang="en-US" sz="1500" dirty="0"/>
          </a:p>
        </p:txBody>
      </p:sp>
    </p:spTree>
    <p:extLst>
      <p:ext uri="{BB962C8B-B14F-4D97-AF65-F5344CB8AC3E}">
        <p14:creationId xmlns:p14="http://schemas.microsoft.com/office/powerpoint/2010/main" val="340232027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직사각형 4">
            <a:extLst>
              <a:ext uri="{FF2B5EF4-FFF2-40B4-BE49-F238E27FC236}">
                <a16:creationId xmlns:a16="http://schemas.microsoft.com/office/drawing/2014/main" id="{CC7DDF2D-B4B1-4D91-81AC-9B1E658A8C84}"/>
              </a:ext>
            </a:extLst>
          </p:cNvPr>
          <p:cNvSpPr/>
          <p:nvPr/>
        </p:nvSpPr>
        <p:spPr>
          <a:xfrm>
            <a:off x="0" y="308537"/>
            <a:ext cx="3143365" cy="402996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2400">
                <a:latin typeface="나눔스퀘어라운드 Bold" panose="020B0600000101010101" pitchFamily="50" charset="-127"/>
                <a:ea typeface="나눔스퀘어라운드 Bold" panose="020B0600000101010101" pitchFamily="50" charset="-127"/>
              </a:rPr>
              <a:t>1. </a:t>
            </a:r>
            <a:r>
              <a:rPr lang="ko-KR" altLang="en-US" sz="2400">
                <a:latin typeface="나눔스퀘어라운드 Bold" panose="020B0600000101010101" pitchFamily="50" charset="-127"/>
                <a:ea typeface="나눔스퀘어라운드 Bold" panose="020B0600000101010101" pitchFamily="50" charset="-127"/>
              </a:rPr>
              <a:t>문자열 다루기</a:t>
            </a:r>
            <a:endParaRPr lang="en-US" altLang="ko-KR" sz="2400" dirty="0">
              <a:latin typeface="나눔스퀘어라운드 Bold" panose="020B0600000101010101" pitchFamily="50" charset="-127"/>
              <a:ea typeface="나눔스퀘어라운드 Bold" panose="020B0600000101010101" pitchFamily="50" charset="-127"/>
            </a:endParaRPr>
          </a:p>
        </p:txBody>
      </p:sp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E9A680AA-E171-4391-8687-BB20D46E56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181C0B-4F34-4975-8B09-35C2A8FA8398}" type="slidenum">
              <a:rPr lang="ko-KR" altLang="en-US" smtClean="0"/>
              <a:t>5</a:t>
            </a:fld>
            <a:endParaRPr lang="ko-KR" altLang="en-US"/>
          </a:p>
        </p:txBody>
      </p:sp>
      <p:sp>
        <p:nvSpPr>
          <p:cNvPr id="11" name="제목 1">
            <a:extLst>
              <a:ext uri="{FF2B5EF4-FFF2-40B4-BE49-F238E27FC236}">
                <a16:creationId xmlns:a16="http://schemas.microsoft.com/office/drawing/2014/main" id="{745BBBFD-EA19-4B7D-8B4B-F2259D4CE0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1458" y="865550"/>
            <a:ext cx="11057592" cy="1325563"/>
          </a:xfrm>
        </p:spPr>
        <p:txBody>
          <a:bodyPr>
            <a:normAutofit/>
          </a:bodyPr>
          <a:lstStyle/>
          <a:p>
            <a:pPr fontAlgn="base"/>
            <a:r>
              <a:rPr lang="ko-KR" altLang="en-US" sz="3400" spc="-150"/>
              <a:t>▶</a:t>
            </a:r>
            <a:r>
              <a:rPr lang="ko-KR" altLang="en-US" sz="3400"/>
              <a:t> </a:t>
            </a:r>
            <a:r>
              <a:rPr lang="en-US" altLang="ko-KR" sz="3400"/>
              <a:t>split() </a:t>
            </a:r>
            <a:r>
              <a:rPr lang="ko-KR" altLang="en-US" sz="3400"/>
              <a:t>함수</a:t>
            </a:r>
            <a:endParaRPr lang="ko-KR" altLang="en-US" sz="3400" spc="-150" dirty="0"/>
          </a:p>
        </p:txBody>
      </p:sp>
      <p:pic>
        <p:nvPicPr>
          <p:cNvPr id="15" name="그림 14">
            <a:extLst>
              <a:ext uri="{FF2B5EF4-FFF2-40B4-BE49-F238E27FC236}">
                <a16:creationId xmlns:a16="http://schemas.microsoft.com/office/drawing/2014/main" id="{128665FF-828C-4484-B000-AF394ABBFD6C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65055"/>
          <a:stretch/>
        </p:blipFill>
        <p:spPr>
          <a:xfrm>
            <a:off x="1120835" y="2170904"/>
            <a:ext cx="3667065" cy="1206076"/>
          </a:xfrm>
          <a:prstGeom prst="rect">
            <a:avLst/>
          </a:prstGeom>
        </p:spPr>
      </p:pic>
      <p:sp>
        <p:nvSpPr>
          <p:cNvPr id="19" name="TextBox 18">
            <a:extLst>
              <a:ext uri="{FF2B5EF4-FFF2-40B4-BE49-F238E27FC236}">
                <a16:creationId xmlns:a16="http://schemas.microsoft.com/office/drawing/2014/main" id="{622E6DA5-2490-4276-95F2-8C5C190239D5}"/>
              </a:ext>
            </a:extLst>
          </p:cNvPr>
          <p:cNvSpPr txBox="1"/>
          <p:nvPr/>
        </p:nvSpPr>
        <p:spPr>
          <a:xfrm>
            <a:off x="5219699" y="2182505"/>
            <a:ext cx="4406900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ko-KR" altLang="en-US" sz="1500" b="0" i="0" u="none" strike="noStrike" dirty="0">
                <a:solidFill>
                  <a:srgbClr val="000000"/>
                </a:solidFill>
                <a:effectLst/>
                <a:latin typeface="Nanum Gothic"/>
              </a:rPr>
              <a:t>예를 들어 다음과 같은 </a:t>
            </a:r>
            <a:r>
              <a:rPr lang="en-US" altLang="ko-KR" sz="1500" b="0" i="0" u="none" strike="noStrike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s</a:t>
            </a:r>
            <a:r>
              <a:rPr lang="ko-KR" altLang="en-US" sz="1500" b="0" i="0" u="none" strike="noStrike" dirty="0">
                <a:solidFill>
                  <a:srgbClr val="000000"/>
                </a:solidFill>
                <a:effectLst/>
                <a:latin typeface="Nanum Gothic"/>
              </a:rPr>
              <a:t> 문자열에 </a:t>
            </a:r>
            <a:r>
              <a:rPr lang="en-US" altLang="ko-KR" sz="1500" b="0" i="0" u="none" strike="noStrike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split()</a:t>
            </a:r>
            <a:r>
              <a:rPr lang="ko-KR" altLang="en-US" sz="1500" b="0" i="0" u="none" strike="noStrike" dirty="0">
                <a:solidFill>
                  <a:srgbClr val="000000"/>
                </a:solidFill>
                <a:effectLst/>
                <a:latin typeface="Nanum Gothic"/>
              </a:rPr>
              <a:t>이라는 메소드를 사용하면 공백을 구분자로 사용하여 하나의 문자열을 </a:t>
            </a:r>
            <a:r>
              <a:rPr lang="en-US" altLang="ko-KR" sz="1500" b="0" i="0" u="none" strike="noStrike" dirty="0">
                <a:solidFill>
                  <a:srgbClr val="000000"/>
                </a:solidFill>
                <a:effectLst/>
                <a:latin typeface="Nanum Gothic"/>
              </a:rPr>
              <a:t>3</a:t>
            </a:r>
            <a:r>
              <a:rPr lang="ko-KR" altLang="en-US" sz="1500" b="0" i="0" u="none" strike="noStrike" dirty="0">
                <a:solidFill>
                  <a:srgbClr val="000000"/>
                </a:solidFill>
                <a:effectLst/>
                <a:latin typeface="Nanum Gothic"/>
              </a:rPr>
              <a:t>개의 문자열로 분리할 수 있다</a:t>
            </a:r>
            <a:r>
              <a:rPr lang="en-US" altLang="ko-KR" sz="1500" b="0" i="0" u="none" strike="noStrike" dirty="0">
                <a:solidFill>
                  <a:srgbClr val="000000"/>
                </a:solidFill>
                <a:effectLst/>
                <a:latin typeface="Nanum Gothic"/>
              </a:rPr>
              <a:t>.</a:t>
            </a:r>
            <a:endParaRPr lang="ko-KR" altLang="en-US" sz="1500" dirty="0"/>
          </a:p>
        </p:txBody>
      </p:sp>
      <p:pic>
        <p:nvPicPr>
          <p:cNvPr id="20" name="그림 19">
            <a:extLst>
              <a:ext uri="{FF2B5EF4-FFF2-40B4-BE49-F238E27FC236}">
                <a16:creationId xmlns:a16="http://schemas.microsoft.com/office/drawing/2014/main" id="{E2743894-E842-45CD-90B5-6C4D883ECE8F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r="63120"/>
          <a:stretch/>
        </p:blipFill>
        <p:spPr>
          <a:xfrm>
            <a:off x="1120835" y="3648591"/>
            <a:ext cx="3667065" cy="1114580"/>
          </a:xfrm>
          <a:prstGeom prst="rect">
            <a:avLst/>
          </a:prstGeom>
        </p:spPr>
      </p:pic>
      <p:pic>
        <p:nvPicPr>
          <p:cNvPr id="21" name="그림 20">
            <a:extLst>
              <a:ext uri="{FF2B5EF4-FFF2-40B4-BE49-F238E27FC236}">
                <a16:creationId xmlns:a16="http://schemas.microsoft.com/office/drawing/2014/main" id="{3669A8B0-C272-4624-8207-53FA0D9D8780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r="22387"/>
          <a:stretch/>
        </p:blipFill>
        <p:spPr>
          <a:xfrm>
            <a:off x="1120835" y="5110464"/>
            <a:ext cx="7489765" cy="1114581"/>
          </a:xfrm>
          <a:prstGeom prst="rect">
            <a:avLst/>
          </a:prstGeom>
        </p:spPr>
      </p:pic>
      <p:sp>
        <p:nvSpPr>
          <p:cNvPr id="22" name="내용 개체 틀 4">
            <a:extLst>
              <a:ext uri="{FF2B5EF4-FFF2-40B4-BE49-F238E27FC236}">
                <a16:creationId xmlns:a16="http://schemas.microsoft.com/office/drawing/2014/main" id="{292090BE-7B6A-45A8-ACED-52BD178B551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219699" y="3681756"/>
            <a:ext cx="4406901" cy="1255061"/>
          </a:xfrm>
        </p:spPr>
        <p:txBody>
          <a:bodyPr>
            <a:normAutofit/>
          </a:bodyPr>
          <a:lstStyle/>
          <a:p>
            <a:r>
              <a:rPr lang="ko-KR" altLang="en-US" sz="1500" b="0" i="0" u="none" strike="noStrike" dirty="0">
                <a:solidFill>
                  <a:srgbClr val="000000"/>
                </a:solidFill>
                <a:effectLst/>
                <a:latin typeface="Nanum Gothic"/>
              </a:rPr>
              <a:t>반면 다음과 같이 마침표로 구분된 연</a:t>
            </a:r>
            <a:r>
              <a:rPr lang="en-US" altLang="ko-KR" sz="1500" b="0" i="0" u="none" strike="noStrike" dirty="0">
                <a:solidFill>
                  <a:srgbClr val="000000"/>
                </a:solidFill>
                <a:effectLst/>
                <a:latin typeface="Nanum Gothic"/>
              </a:rPr>
              <a:t>,</a:t>
            </a:r>
            <a:r>
              <a:rPr lang="ko-KR" altLang="en-US" sz="1500" b="0" i="0" u="none" strike="noStrike" dirty="0">
                <a:solidFill>
                  <a:srgbClr val="000000"/>
                </a:solidFill>
                <a:effectLst/>
                <a:latin typeface="Nanum Gothic"/>
              </a:rPr>
              <a:t>월</a:t>
            </a:r>
            <a:r>
              <a:rPr lang="en-US" altLang="ko-KR" sz="1500" b="0" i="0" u="none" strike="noStrike" dirty="0">
                <a:solidFill>
                  <a:srgbClr val="000000"/>
                </a:solidFill>
                <a:effectLst/>
                <a:latin typeface="Nanum Gothic"/>
              </a:rPr>
              <a:t>,</a:t>
            </a:r>
            <a:r>
              <a:rPr lang="ko-KR" altLang="en-US" sz="1500" b="0" i="0" u="none" strike="noStrike" dirty="0">
                <a:solidFill>
                  <a:srgbClr val="000000"/>
                </a:solidFill>
                <a:effectLst/>
                <a:latin typeface="Nanum Gothic"/>
              </a:rPr>
              <a:t>일이 있을 경우 마침표</a:t>
            </a:r>
            <a:r>
              <a:rPr lang="en-US" altLang="ko-KR" sz="1500" b="0" i="0" u="none" strike="noStrike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(.)</a:t>
            </a:r>
            <a:r>
              <a:rPr lang="ko-KR" altLang="en-US" sz="1500" b="0" i="0" u="none" strike="noStrike" dirty="0">
                <a:solidFill>
                  <a:srgbClr val="000000"/>
                </a:solidFill>
                <a:effectLst/>
                <a:latin typeface="Nanum Gothic"/>
              </a:rPr>
              <a:t>를 </a:t>
            </a:r>
            <a:r>
              <a:rPr lang="en-US" altLang="ko-KR" sz="1500" b="0" i="0" u="none" strike="noStrike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split()</a:t>
            </a:r>
            <a:r>
              <a:rPr lang="ko-KR" altLang="en-US" sz="1500" b="0" i="0" u="none" strike="noStrike" dirty="0">
                <a:solidFill>
                  <a:srgbClr val="000000"/>
                </a:solidFill>
                <a:effectLst/>
                <a:latin typeface="Nanum Gothic"/>
              </a:rPr>
              <a:t> 메소드의 인자로 주면 마침표 단위로 문자를 구분할 수 있다</a:t>
            </a:r>
            <a:r>
              <a:rPr lang="en-US" altLang="ko-KR" sz="1500" b="0" i="0" u="none" strike="noStrike" dirty="0">
                <a:solidFill>
                  <a:srgbClr val="000000"/>
                </a:solidFill>
                <a:effectLst/>
                <a:latin typeface="Nanum Gothic"/>
              </a:rPr>
              <a:t>.</a:t>
            </a:r>
            <a:endParaRPr lang="ko-KR" altLang="en-US" sz="1500" dirty="0"/>
          </a:p>
        </p:txBody>
      </p:sp>
    </p:spTree>
    <p:extLst>
      <p:ext uri="{BB962C8B-B14F-4D97-AF65-F5344CB8AC3E}">
        <p14:creationId xmlns:p14="http://schemas.microsoft.com/office/powerpoint/2010/main" val="222186422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직사각형 4">
            <a:extLst>
              <a:ext uri="{FF2B5EF4-FFF2-40B4-BE49-F238E27FC236}">
                <a16:creationId xmlns:a16="http://schemas.microsoft.com/office/drawing/2014/main" id="{CC7DDF2D-B4B1-4D91-81AC-9B1E658A8C84}"/>
              </a:ext>
            </a:extLst>
          </p:cNvPr>
          <p:cNvSpPr/>
          <p:nvPr/>
        </p:nvSpPr>
        <p:spPr>
          <a:xfrm>
            <a:off x="0" y="308537"/>
            <a:ext cx="3143365" cy="402996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2400">
                <a:latin typeface="나눔스퀘어라운드 Bold" panose="020B0600000101010101" pitchFamily="50" charset="-127"/>
                <a:ea typeface="나눔스퀘어라운드 Bold" panose="020B0600000101010101" pitchFamily="50" charset="-127"/>
              </a:rPr>
              <a:t>1. </a:t>
            </a:r>
            <a:r>
              <a:rPr lang="ko-KR" altLang="en-US" sz="2400">
                <a:latin typeface="나눔스퀘어라운드 Bold" panose="020B0600000101010101" pitchFamily="50" charset="-127"/>
                <a:ea typeface="나눔스퀘어라운드 Bold" panose="020B0600000101010101" pitchFamily="50" charset="-127"/>
              </a:rPr>
              <a:t>문자열 다루기</a:t>
            </a:r>
            <a:endParaRPr lang="en-US" altLang="ko-KR" sz="2400" dirty="0">
              <a:latin typeface="나눔스퀘어라운드 Bold" panose="020B0600000101010101" pitchFamily="50" charset="-127"/>
              <a:ea typeface="나눔스퀘어라운드 Bold" panose="020B0600000101010101" pitchFamily="50" charset="-127"/>
            </a:endParaRPr>
          </a:p>
        </p:txBody>
      </p:sp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E9A680AA-E171-4391-8687-BB20D46E56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181C0B-4F34-4975-8B09-35C2A8FA8398}" type="slidenum">
              <a:rPr lang="ko-KR" altLang="en-US" smtClean="0"/>
              <a:t>6</a:t>
            </a:fld>
            <a:endParaRPr lang="ko-KR" altLang="en-US"/>
          </a:p>
        </p:txBody>
      </p:sp>
      <p:sp>
        <p:nvSpPr>
          <p:cNvPr id="11" name="제목 1">
            <a:extLst>
              <a:ext uri="{FF2B5EF4-FFF2-40B4-BE49-F238E27FC236}">
                <a16:creationId xmlns:a16="http://schemas.microsoft.com/office/drawing/2014/main" id="{745BBBFD-EA19-4B7D-8B4B-F2259D4CE0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1458" y="865550"/>
            <a:ext cx="11057592" cy="1325563"/>
          </a:xfrm>
        </p:spPr>
        <p:txBody>
          <a:bodyPr>
            <a:normAutofit/>
          </a:bodyPr>
          <a:lstStyle/>
          <a:p>
            <a:pPr fontAlgn="base"/>
            <a:r>
              <a:rPr lang="ko-KR" altLang="en-US" sz="3400" spc="-150"/>
              <a:t>▶</a:t>
            </a:r>
            <a:r>
              <a:rPr lang="ko-KR" altLang="en-US" sz="3400"/>
              <a:t> </a:t>
            </a:r>
            <a:r>
              <a:rPr lang="en-US" altLang="ko-KR" sz="3400"/>
              <a:t>join()</a:t>
            </a:r>
            <a:r>
              <a:rPr lang="ko-KR" altLang="en-US" sz="3400"/>
              <a:t> 함수</a:t>
            </a:r>
            <a:endParaRPr lang="ko-KR" altLang="en-US" sz="3400" spc="-150" dirty="0"/>
          </a:p>
        </p:txBody>
      </p:sp>
      <p:pic>
        <p:nvPicPr>
          <p:cNvPr id="12" name="그림 11">
            <a:extLst>
              <a:ext uri="{FF2B5EF4-FFF2-40B4-BE49-F238E27FC236}">
                <a16:creationId xmlns:a16="http://schemas.microsoft.com/office/drawing/2014/main" id="{DC0C0F80-50D4-4929-BC92-FAF7FC99F4B8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48759"/>
          <a:stretch/>
        </p:blipFill>
        <p:spPr>
          <a:xfrm>
            <a:off x="823206" y="2987479"/>
            <a:ext cx="4637794" cy="775034"/>
          </a:xfrm>
          <a:prstGeom prst="rect">
            <a:avLst/>
          </a:prstGeom>
        </p:spPr>
      </p:pic>
      <p:pic>
        <p:nvPicPr>
          <p:cNvPr id="13" name="그림 12">
            <a:extLst>
              <a:ext uri="{FF2B5EF4-FFF2-40B4-BE49-F238E27FC236}">
                <a16:creationId xmlns:a16="http://schemas.microsoft.com/office/drawing/2014/main" id="{F50D0A1D-BD3E-45AF-B7CA-C0207A086B64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r="57719"/>
          <a:stretch/>
        </p:blipFill>
        <p:spPr>
          <a:xfrm>
            <a:off x="823206" y="4238938"/>
            <a:ext cx="3634494" cy="704316"/>
          </a:xfrm>
          <a:prstGeom prst="rect">
            <a:avLst/>
          </a:prstGeom>
        </p:spPr>
      </p:pic>
      <p:pic>
        <p:nvPicPr>
          <p:cNvPr id="14" name="그림 13">
            <a:extLst>
              <a:ext uri="{FF2B5EF4-FFF2-40B4-BE49-F238E27FC236}">
                <a16:creationId xmlns:a16="http://schemas.microsoft.com/office/drawing/2014/main" id="{FB7CD4B6-4322-4A63-9624-A24711EBA0A4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r="53927"/>
          <a:stretch/>
        </p:blipFill>
        <p:spPr>
          <a:xfrm>
            <a:off x="823206" y="5351955"/>
            <a:ext cx="3913894" cy="701651"/>
          </a:xfrm>
          <a:prstGeom prst="rect">
            <a:avLst/>
          </a:prstGeom>
        </p:spPr>
      </p:pic>
      <p:sp>
        <p:nvSpPr>
          <p:cNvPr id="16" name="내용 개체 틀 3">
            <a:extLst>
              <a:ext uri="{FF2B5EF4-FFF2-40B4-BE49-F238E27FC236}">
                <a16:creationId xmlns:a16="http://schemas.microsoft.com/office/drawing/2014/main" id="{2A8F560B-4717-443C-87D6-926A2ABED62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23206" y="2127819"/>
            <a:ext cx="9961910" cy="539720"/>
          </a:xfrm>
        </p:spPr>
        <p:txBody>
          <a:bodyPr>
            <a:normAutofit/>
          </a:bodyPr>
          <a:lstStyle/>
          <a:p>
            <a:r>
              <a:rPr lang="en-US" altLang="ko-KR" sz="1500" b="0" i="0" u="none" strike="noStrike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split()</a:t>
            </a:r>
            <a:r>
              <a:rPr lang="ko-KR" altLang="en-US" sz="1500" b="0" i="0" u="none" strike="noStrike" dirty="0">
                <a:solidFill>
                  <a:srgbClr val="000000"/>
                </a:solidFill>
                <a:effectLst/>
                <a:latin typeface="Nanum Gothic"/>
              </a:rPr>
              <a:t>가 문자열을 부분 문자열들로 분리하는 함수라면 </a:t>
            </a:r>
            <a:r>
              <a:rPr lang="en-US" altLang="ko-KR" sz="1500" b="0" i="0" u="none" strike="noStrike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join()</a:t>
            </a:r>
            <a:r>
              <a:rPr lang="ko-KR" altLang="en-US" sz="1500" b="0" i="0" u="none" strike="noStrike" dirty="0">
                <a:solidFill>
                  <a:srgbClr val="000000"/>
                </a:solidFill>
                <a:effectLst/>
                <a:latin typeface="Nanum Gothic"/>
              </a:rPr>
              <a:t>은 반대로 부분 문자열들을 모아서 하나의 문자열로 만드는 역할을 하는 </a:t>
            </a:r>
            <a:r>
              <a:rPr lang="ko-KR" altLang="en-US" sz="1500" b="0" i="0" u="none" strike="noStrike">
                <a:solidFill>
                  <a:srgbClr val="000000"/>
                </a:solidFill>
                <a:effectLst/>
                <a:latin typeface="Nanum Gothic"/>
              </a:rPr>
              <a:t>함수이다</a:t>
            </a:r>
            <a:r>
              <a:rPr lang="en-US" altLang="ko-KR" sz="1500" b="0" i="0" u="none" strike="noStrike">
                <a:solidFill>
                  <a:srgbClr val="000000"/>
                </a:solidFill>
                <a:effectLst/>
                <a:latin typeface="Nanum Gothic"/>
              </a:rPr>
              <a:t>.</a:t>
            </a:r>
            <a:endParaRPr lang="ko-KR" altLang="en-US" sz="1500" dirty="0"/>
          </a:p>
        </p:txBody>
      </p:sp>
    </p:spTree>
    <p:extLst>
      <p:ext uri="{BB962C8B-B14F-4D97-AF65-F5344CB8AC3E}">
        <p14:creationId xmlns:p14="http://schemas.microsoft.com/office/powerpoint/2010/main" val="115000405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직사각형 4">
            <a:extLst>
              <a:ext uri="{FF2B5EF4-FFF2-40B4-BE49-F238E27FC236}">
                <a16:creationId xmlns:a16="http://schemas.microsoft.com/office/drawing/2014/main" id="{CC7DDF2D-B4B1-4D91-81AC-9B1E658A8C84}"/>
              </a:ext>
            </a:extLst>
          </p:cNvPr>
          <p:cNvSpPr/>
          <p:nvPr/>
        </p:nvSpPr>
        <p:spPr>
          <a:xfrm>
            <a:off x="0" y="308537"/>
            <a:ext cx="3143365" cy="402996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2400">
                <a:latin typeface="나눔스퀘어라운드 Bold" panose="020B0600000101010101" pitchFamily="50" charset="-127"/>
                <a:ea typeface="나눔스퀘어라운드 Bold" panose="020B0600000101010101" pitchFamily="50" charset="-127"/>
              </a:rPr>
              <a:t>1. </a:t>
            </a:r>
            <a:r>
              <a:rPr lang="ko-KR" altLang="en-US" sz="2400">
                <a:latin typeface="나눔스퀘어라운드 Bold" panose="020B0600000101010101" pitchFamily="50" charset="-127"/>
                <a:ea typeface="나눔스퀘어라운드 Bold" panose="020B0600000101010101" pitchFamily="50" charset="-127"/>
              </a:rPr>
              <a:t>문자열 다루기</a:t>
            </a:r>
            <a:endParaRPr lang="en-US" altLang="ko-KR" sz="2400" dirty="0">
              <a:latin typeface="나눔스퀘어라운드 Bold" panose="020B0600000101010101" pitchFamily="50" charset="-127"/>
              <a:ea typeface="나눔스퀘어라운드 Bold" panose="020B0600000101010101" pitchFamily="50" charset="-127"/>
            </a:endParaRPr>
          </a:p>
        </p:txBody>
      </p:sp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E9A680AA-E171-4391-8687-BB20D46E56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181C0B-4F34-4975-8B09-35C2A8FA8398}" type="slidenum">
              <a:rPr lang="ko-KR" altLang="en-US" smtClean="0"/>
              <a:t>7</a:t>
            </a:fld>
            <a:endParaRPr lang="ko-KR" altLang="en-US"/>
          </a:p>
        </p:txBody>
      </p:sp>
      <p:sp>
        <p:nvSpPr>
          <p:cNvPr id="11" name="제목 1">
            <a:extLst>
              <a:ext uri="{FF2B5EF4-FFF2-40B4-BE49-F238E27FC236}">
                <a16:creationId xmlns:a16="http://schemas.microsoft.com/office/drawing/2014/main" id="{745BBBFD-EA19-4B7D-8B4B-F2259D4CE0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1458" y="865550"/>
            <a:ext cx="11057592" cy="1325563"/>
          </a:xfrm>
        </p:spPr>
        <p:txBody>
          <a:bodyPr>
            <a:normAutofit/>
          </a:bodyPr>
          <a:lstStyle/>
          <a:p>
            <a:pPr fontAlgn="base"/>
            <a:r>
              <a:rPr lang="ko-KR" altLang="en-US" sz="3400" spc="-150"/>
              <a:t>▶</a:t>
            </a:r>
            <a:r>
              <a:rPr lang="ko-KR" altLang="en-US" sz="3400"/>
              <a:t> 대</a:t>
            </a:r>
            <a:r>
              <a:rPr lang="en-US" altLang="ko-KR" sz="3400"/>
              <a:t>/</a:t>
            </a:r>
            <a:r>
              <a:rPr lang="ko-KR" altLang="en-US" sz="3400"/>
              <a:t>소문자 변환</a:t>
            </a:r>
            <a:r>
              <a:rPr lang="en-US" altLang="ko-KR" sz="3400"/>
              <a:t>, </a:t>
            </a:r>
            <a:r>
              <a:rPr lang="ko-KR" altLang="en-US" sz="3400"/>
              <a:t>문자열 삭제</a:t>
            </a:r>
            <a:endParaRPr lang="ko-KR" altLang="en-US" sz="3400" spc="-150" dirty="0"/>
          </a:p>
        </p:txBody>
      </p:sp>
      <p:sp>
        <p:nvSpPr>
          <p:cNvPr id="15" name="내용 개체 틀 3">
            <a:extLst>
              <a:ext uri="{FF2B5EF4-FFF2-40B4-BE49-F238E27FC236}">
                <a16:creationId xmlns:a16="http://schemas.microsoft.com/office/drawing/2014/main" id="{7C100048-D9D9-4D67-A750-B2F19DA0375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23024" y="1919941"/>
            <a:ext cx="8959176" cy="1393544"/>
          </a:xfrm>
        </p:spPr>
        <p:txBody>
          <a:bodyPr>
            <a:noAutofit/>
          </a:bodyPr>
          <a:lstStyle/>
          <a:p>
            <a:r>
              <a:rPr lang="ko-KR" altLang="en-US" sz="1500" b="0" i="0" u="none" strike="noStrike" dirty="0">
                <a:solidFill>
                  <a:srgbClr val="000000"/>
                </a:solidFill>
                <a:effectLst/>
                <a:latin typeface="Nanum Gothic"/>
              </a:rPr>
              <a:t>문자열에서 대문자를 소문자로 변경하는 함수는</a:t>
            </a:r>
            <a:r>
              <a:rPr lang="ko-KR" altLang="en-US" sz="1500" b="0" i="0" u="none" strike="noStrike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500" b="0" i="0" u="none" strike="noStrike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lower()</a:t>
            </a:r>
            <a:r>
              <a:rPr lang="ko-KR" altLang="en-US" sz="1500" b="0" i="0" u="none" strike="noStrike" dirty="0">
                <a:solidFill>
                  <a:srgbClr val="000000"/>
                </a:solidFill>
                <a:effectLst/>
                <a:latin typeface="Nanum Gothic"/>
              </a:rPr>
              <a:t>이고 반대는 대문자로 변경하는 메소드는 </a:t>
            </a:r>
            <a:r>
              <a:rPr lang="en-US" altLang="ko-KR" sz="1500" b="0" i="0" u="none" strike="noStrike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upper() </a:t>
            </a:r>
            <a:r>
              <a:rPr lang="ko-KR" altLang="en-US" sz="1500" b="0" i="0" u="none" strike="noStrike" dirty="0">
                <a:solidFill>
                  <a:srgbClr val="000000"/>
                </a:solidFill>
                <a:effectLst/>
                <a:latin typeface="Nanum Gothic"/>
              </a:rPr>
              <a:t>함수이다</a:t>
            </a:r>
            <a:r>
              <a:rPr lang="en-US" altLang="ko-KR" sz="1500" b="0" i="0" u="none" strike="noStrike" dirty="0">
                <a:solidFill>
                  <a:srgbClr val="000000"/>
                </a:solidFill>
                <a:effectLst/>
                <a:latin typeface="Nanum Gothic"/>
              </a:rPr>
              <a:t>. </a:t>
            </a:r>
            <a:r>
              <a:rPr lang="ko-KR" altLang="en-US" sz="1500" b="0" i="0" u="none" strike="noStrike" dirty="0">
                <a:solidFill>
                  <a:srgbClr val="000000"/>
                </a:solidFill>
                <a:effectLst/>
                <a:latin typeface="Nanum Gothic"/>
              </a:rPr>
              <a:t>첫 번째 문자만 대문자로 변환하는 함수는</a:t>
            </a:r>
            <a:r>
              <a:rPr lang="ko-KR" altLang="en-US" sz="1500" b="0" i="0" u="none" strike="noStrike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500" b="0" i="0" u="none" strike="noStrike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capitalize()</a:t>
            </a:r>
            <a:r>
              <a:rPr lang="ko-KR" altLang="en-US" sz="1500" b="0" i="0" u="none" strike="noStrike" dirty="0">
                <a:solidFill>
                  <a:srgbClr val="000000"/>
                </a:solidFill>
                <a:effectLst/>
                <a:latin typeface="Nanum Gothic"/>
              </a:rPr>
              <a:t>이다</a:t>
            </a:r>
            <a:r>
              <a:rPr lang="en-US" altLang="ko-KR" sz="1500" b="0" i="0" u="none" strike="noStrike" dirty="0">
                <a:solidFill>
                  <a:srgbClr val="000000"/>
                </a:solidFill>
                <a:effectLst/>
                <a:latin typeface="Nanum Gothic"/>
              </a:rPr>
              <a:t>. </a:t>
            </a:r>
            <a:endParaRPr lang="ko-KR" altLang="en-US" sz="1500" dirty="0"/>
          </a:p>
        </p:txBody>
      </p:sp>
      <p:pic>
        <p:nvPicPr>
          <p:cNvPr id="17" name="그림 16">
            <a:extLst>
              <a:ext uri="{FF2B5EF4-FFF2-40B4-BE49-F238E27FC236}">
                <a16:creationId xmlns:a16="http://schemas.microsoft.com/office/drawing/2014/main" id="{861D89FC-7A2D-4F94-A246-0DA837C89BF8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68806"/>
          <a:stretch/>
        </p:blipFill>
        <p:spPr>
          <a:xfrm>
            <a:off x="1023024" y="2674138"/>
            <a:ext cx="2309024" cy="1142732"/>
          </a:xfrm>
          <a:prstGeom prst="rect">
            <a:avLst/>
          </a:prstGeom>
        </p:spPr>
      </p:pic>
      <p:pic>
        <p:nvPicPr>
          <p:cNvPr id="18" name="그림 17">
            <a:extLst>
              <a:ext uri="{FF2B5EF4-FFF2-40B4-BE49-F238E27FC236}">
                <a16:creationId xmlns:a16="http://schemas.microsoft.com/office/drawing/2014/main" id="{49FAE68F-C0F0-4D10-93E0-558BF90DAF7E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r="33599"/>
          <a:stretch/>
        </p:blipFill>
        <p:spPr>
          <a:xfrm>
            <a:off x="1023024" y="4039552"/>
            <a:ext cx="3764876" cy="1139534"/>
          </a:xfrm>
          <a:prstGeom prst="rect">
            <a:avLst/>
          </a:prstGeom>
        </p:spPr>
      </p:pic>
      <p:pic>
        <p:nvPicPr>
          <p:cNvPr id="19" name="그림 18">
            <a:extLst>
              <a:ext uri="{FF2B5EF4-FFF2-40B4-BE49-F238E27FC236}">
                <a16:creationId xmlns:a16="http://schemas.microsoft.com/office/drawing/2014/main" id="{CBA7E8FD-EEE9-475E-9C65-9C5808DC740A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r="32563"/>
          <a:stretch/>
        </p:blipFill>
        <p:spPr>
          <a:xfrm>
            <a:off x="1023025" y="5519595"/>
            <a:ext cx="6533476" cy="1019317"/>
          </a:xfrm>
          <a:prstGeom prst="rect">
            <a:avLst/>
          </a:prstGeom>
        </p:spPr>
      </p:pic>
      <p:pic>
        <p:nvPicPr>
          <p:cNvPr id="20" name="그림 19">
            <a:extLst>
              <a:ext uri="{FF2B5EF4-FFF2-40B4-BE49-F238E27FC236}">
                <a16:creationId xmlns:a16="http://schemas.microsoft.com/office/drawing/2014/main" id="{472829CA-5E6E-4446-B0B7-9D7ED634D5F6}"/>
              </a:ext>
            </a:extLst>
          </p:cNvPr>
          <p:cNvPicPr>
            <a:picLocks noChangeAspect="1"/>
          </p:cNvPicPr>
          <p:nvPr/>
        </p:nvPicPr>
        <p:blipFill rotWithShape="1">
          <a:blip r:embed="rId5"/>
          <a:srcRect l="1" r="40845"/>
          <a:stretch/>
        </p:blipFill>
        <p:spPr>
          <a:xfrm>
            <a:off x="6374747" y="2761612"/>
            <a:ext cx="3493153" cy="873986"/>
          </a:xfrm>
          <a:prstGeom prst="rect">
            <a:avLst/>
          </a:prstGeom>
        </p:spPr>
      </p:pic>
      <p:sp>
        <p:nvSpPr>
          <p:cNvPr id="21" name="내용 개체 틀 3">
            <a:extLst>
              <a:ext uri="{FF2B5EF4-FFF2-40B4-BE49-F238E27FC236}">
                <a16:creationId xmlns:a16="http://schemas.microsoft.com/office/drawing/2014/main" id="{45ED1CD1-3764-4C2A-881A-7B4A25D9FBBA}"/>
              </a:ext>
            </a:extLst>
          </p:cNvPr>
          <p:cNvSpPr txBox="1">
            <a:spLocks/>
          </p:cNvSpPr>
          <p:nvPr/>
        </p:nvSpPr>
        <p:spPr>
          <a:xfrm>
            <a:off x="6374747" y="3920486"/>
            <a:ext cx="4445000" cy="1506750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sz="1500" b="0" i="0" u="none" strike="noStrike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find()</a:t>
            </a:r>
            <a:r>
              <a:rPr lang="ko-KR" altLang="en-US" sz="1500" b="0" i="0" u="none" strike="noStrike" dirty="0">
                <a:solidFill>
                  <a:srgbClr val="000000"/>
                </a:solidFill>
                <a:effectLst/>
                <a:latin typeface="Nanum Gothic"/>
              </a:rPr>
              <a:t> 메소드는 문자열에서 지정된 부분 문자열을 찾아서 그 인덱스를 </a:t>
            </a:r>
            <a:r>
              <a:rPr lang="ko-KR" altLang="en-US" sz="1500" b="0" i="0" u="none" strike="noStrike">
                <a:solidFill>
                  <a:srgbClr val="000000"/>
                </a:solidFill>
                <a:effectLst/>
                <a:latin typeface="Nanum Gothic"/>
              </a:rPr>
              <a:t>반환한다</a:t>
            </a:r>
            <a:r>
              <a:rPr lang="en-US" altLang="ko-KR" sz="1500" b="0" i="0" u="none" strike="noStrike">
                <a:solidFill>
                  <a:srgbClr val="000000"/>
                </a:solidFill>
                <a:effectLst/>
                <a:latin typeface="Nanum Gothic"/>
              </a:rPr>
              <a:t>.. </a:t>
            </a:r>
            <a:endParaRPr lang="ko-KR" altLang="en-US" sz="1500" dirty="0"/>
          </a:p>
        </p:txBody>
      </p:sp>
    </p:spTree>
    <p:extLst>
      <p:ext uri="{BB962C8B-B14F-4D97-AF65-F5344CB8AC3E}">
        <p14:creationId xmlns:p14="http://schemas.microsoft.com/office/powerpoint/2010/main" val="315877278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직사각형 4">
            <a:extLst>
              <a:ext uri="{FF2B5EF4-FFF2-40B4-BE49-F238E27FC236}">
                <a16:creationId xmlns:a16="http://schemas.microsoft.com/office/drawing/2014/main" id="{CC7DDF2D-B4B1-4D91-81AC-9B1E658A8C84}"/>
              </a:ext>
            </a:extLst>
          </p:cNvPr>
          <p:cNvSpPr/>
          <p:nvPr/>
        </p:nvSpPr>
        <p:spPr>
          <a:xfrm>
            <a:off x="0" y="308537"/>
            <a:ext cx="3143365" cy="402996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2400">
                <a:latin typeface="나눔스퀘어라운드 Bold" panose="020B0600000101010101" pitchFamily="50" charset="-127"/>
                <a:ea typeface="나눔스퀘어라운드 Bold" panose="020B0600000101010101" pitchFamily="50" charset="-127"/>
              </a:rPr>
              <a:t>1. </a:t>
            </a:r>
            <a:r>
              <a:rPr lang="ko-KR" altLang="en-US" sz="2400">
                <a:latin typeface="나눔스퀘어라운드 Bold" panose="020B0600000101010101" pitchFamily="50" charset="-127"/>
                <a:ea typeface="나눔스퀘어라운드 Bold" panose="020B0600000101010101" pitchFamily="50" charset="-127"/>
              </a:rPr>
              <a:t>문자열 다루기</a:t>
            </a:r>
            <a:endParaRPr lang="en-US" altLang="ko-KR" sz="2400" dirty="0">
              <a:latin typeface="나눔스퀘어라운드 Bold" panose="020B0600000101010101" pitchFamily="50" charset="-127"/>
              <a:ea typeface="나눔스퀘어라운드 Bold" panose="020B0600000101010101" pitchFamily="50" charset="-127"/>
            </a:endParaRPr>
          </a:p>
        </p:txBody>
      </p:sp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E9A680AA-E171-4391-8687-BB20D46E56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181C0B-4F34-4975-8B09-35C2A8FA8398}" type="slidenum">
              <a:rPr lang="ko-KR" altLang="en-US" smtClean="0"/>
              <a:t>8</a:t>
            </a:fld>
            <a:endParaRPr lang="ko-KR" altLang="en-US"/>
          </a:p>
        </p:txBody>
      </p:sp>
      <p:sp>
        <p:nvSpPr>
          <p:cNvPr id="11" name="제목 1">
            <a:extLst>
              <a:ext uri="{FF2B5EF4-FFF2-40B4-BE49-F238E27FC236}">
                <a16:creationId xmlns:a16="http://schemas.microsoft.com/office/drawing/2014/main" id="{745BBBFD-EA19-4B7D-8B4B-F2259D4CE0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1458" y="865550"/>
            <a:ext cx="11057592" cy="1325563"/>
          </a:xfrm>
        </p:spPr>
        <p:txBody>
          <a:bodyPr>
            <a:normAutofit/>
          </a:bodyPr>
          <a:lstStyle/>
          <a:p>
            <a:pPr fontAlgn="base"/>
            <a:r>
              <a:rPr lang="ko-KR" altLang="en-US" sz="3400" spc="-150"/>
              <a:t>▶</a:t>
            </a:r>
            <a:r>
              <a:rPr lang="ko-KR" altLang="en-US" sz="3400"/>
              <a:t> </a:t>
            </a:r>
            <a:r>
              <a:rPr lang="en-US" altLang="ko-KR" sz="3400"/>
              <a:t>string </a:t>
            </a:r>
            <a:r>
              <a:rPr lang="ko-KR" altLang="en-US" sz="3400"/>
              <a:t>모듈</a:t>
            </a:r>
            <a:endParaRPr lang="ko-KR" altLang="en-US" sz="3400" spc="-150" dirty="0"/>
          </a:p>
        </p:txBody>
      </p:sp>
      <p:pic>
        <p:nvPicPr>
          <p:cNvPr id="13" name="그림 12">
            <a:extLst>
              <a:ext uri="{FF2B5EF4-FFF2-40B4-BE49-F238E27FC236}">
                <a16:creationId xmlns:a16="http://schemas.microsoft.com/office/drawing/2014/main" id="{5D7CC37A-A657-445E-B9D0-6D4CD6F7937C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33680"/>
          <a:stretch/>
        </p:blipFill>
        <p:spPr>
          <a:xfrm>
            <a:off x="1029555" y="2178413"/>
            <a:ext cx="4799745" cy="855634"/>
          </a:xfrm>
          <a:prstGeom prst="rect">
            <a:avLst/>
          </a:prstGeom>
        </p:spPr>
      </p:pic>
      <p:sp>
        <p:nvSpPr>
          <p:cNvPr id="14" name="내용 개체 틀 3">
            <a:extLst>
              <a:ext uri="{FF2B5EF4-FFF2-40B4-BE49-F238E27FC236}">
                <a16:creationId xmlns:a16="http://schemas.microsoft.com/office/drawing/2014/main" id="{43B8B557-F3CE-48A3-B41C-10AE3AED8744}"/>
              </a:ext>
            </a:extLst>
          </p:cNvPr>
          <p:cNvSpPr txBox="1">
            <a:spLocks/>
          </p:cNvSpPr>
          <p:nvPr/>
        </p:nvSpPr>
        <p:spPr>
          <a:xfrm>
            <a:off x="6702161" y="2227107"/>
            <a:ext cx="3934028" cy="806940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ko-KR" altLang="en-US" sz="1500" b="0" i="0" u="none" strike="noStrike" dirty="0">
                <a:solidFill>
                  <a:srgbClr val="000000"/>
                </a:solidFill>
                <a:effectLst/>
                <a:latin typeface="Nanum Gothic"/>
              </a:rPr>
              <a:t>문자열에서 </a:t>
            </a:r>
            <a:r>
              <a:rPr lang="en-US" altLang="ko-KR" sz="1500" b="0" i="0" u="none" strike="noStrike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count()</a:t>
            </a:r>
            <a:r>
              <a:rPr lang="ko-KR" altLang="en-US" sz="1500" b="0" i="0" u="none" strike="noStrike" dirty="0">
                <a:solidFill>
                  <a:srgbClr val="000000"/>
                </a:solidFill>
                <a:effectLst/>
                <a:latin typeface="Nanum Gothic"/>
              </a:rPr>
              <a:t> 메소드는 문자열 중에서 부분 문자열이 등장하는 횟수를 반환한다</a:t>
            </a:r>
            <a:r>
              <a:rPr lang="en-US" altLang="ko-KR" sz="1500" b="0" i="0" u="none" strike="noStrike" dirty="0">
                <a:solidFill>
                  <a:srgbClr val="000000"/>
                </a:solidFill>
                <a:effectLst/>
                <a:latin typeface="Nanum Gothic"/>
              </a:rPr>
              <a:t>.</a:t>
            </a:r>
            <a:endParaRPr lang="ko-KR" altLang="en-US" sz="1500" dirty="0"/>
          </a:p>
        </p:txBody>
      </p:sp>
      <p:pic>
        <p:nvPicPr>
          <p:cNvPr id="16" name="그림 15">
            <a:extLst>
              <a:ext uri="{FF2B5EF4-FFF2-40B4-BE49-F238E27FC236}">
                <a16:creationId xmlns:a16="http://schemas.microsoft.com/office/drawing/2014/main" id="{1E0237EF-B945-4B6D-B571-492F83C874B0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r="18451"/>
          <a:stretch/>
        </p:blipFill>
        <p:spPr>
          <a:xfrm>
            <a:off x="1029555" y="3303308"/>
            <a:ext cx="5413805" cy="1509992"/>
          </a:xfrm>
          <a:prstGeom prst="rect">
            <a:avLst/>
          </a:prstGeom>
        </p:spPr>
      </p:pic>
      <p:pic>
        <p:nvPicPr>
          <p:cNvPr id="22" name="그림 21">
            <a:extLst>
              <a:ext uri="{FF2B5EF4-FFF2-40B4-BE49-F238E27FC236}">
                <a16:creationId xmlns:a16="http://schemas.microsoft.com/office/drawing/2014/main" id="{9780E2FB-57A8-4E0A-952A-6844ED41D718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r="43955"/>
          <a:stretch/>
        </p:blipFill>
        <p:spPr>
          <a:xfrm>
            <a:off x="1029555" y="5082561"/>
            <a:ext cx="4086527" cy="1064239"/>
          </a:xfrm>
          <a:prstGeom prst="rect">
            <a:avLst/>
          </a:prstGeom>
        </p:spPr>
      </p:pic>
      <p:sp>
        <p:nvSpPr>
          <p:cNvPr id="23" name="내용 개체 틀 3">
            <a:extLst>
              <a:ext uri="{FF2B5EF4-FFF2-40B4-BE49-F238E27FC236}">
                <a16:creationId xmlns:a16="http://schemas.microsoft.com/office/drawing/2014/main" id="{B0CC5976-00D8-4A84-B32F-8A38775E8FC7}"/>
              </a:ext>
            </a:extLst>
          </p:cNvPr>
          <p:cNvSpPr txBox="1">
            <a:spLocks/>
          </p:cNvSpPr>
          <p:nvPr/>
        </p:nvSpPr>
        <p:spPr>
          <a:xfrm>
            <a:off x="5670489" y="5082561"/>
            <a:ext cx="4965700" cy="2134844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ko-KR" altLang="en-US" sz="1500" b="0" i="0" u="none" strike="noStrike" dirty="0" err="1">
                <a:solidFill>
                  <a:srgbClr val="000000"/>
                </a:solidFill>
                <a:effectLst/>
                <a:latin typeface="Nanum Gothic"/>
              </a:rPr>
              <a:t>파이썬에는</a:t>
            </a:r>
            <a:r>
              <a:rPr lang="ko-KR" altLang="en-US" sz="1500" b="0" i="0" u="none" strike="noStrike" dirty="0">
                <a:solidFill>
                  <a:srgbClr val="000000"/>
                </a:solidFill>
                <a:effectLst/>
                <a:latin typeface="Nanum Gothic"/>
              </a:rPr>
              <a:t> 문자열 처리를 도와주는 </a:t>
            </a:r>
            <a:r>
              <a:rPr lang="en-US" altLang="ko-KR" sz="1500" b="0" i="0" u="none" strike="noStrike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string</a:t>
            </a:r>
            <a:r>
              <a:rPr lang="ko-KR" altLang="en-US" sz="1500" b="0" i="0" u="none" strike="noStrike" dirty="0">
                <a:solidFill>
                  <a:srgbClr val="000000"/>
                </a:solidFill>
                <a:effectLst/>
                <a:latin typeface="Nanum Gothic"/>
              </a:rPr>
              <a:t>이라는 모듈이 있으며 이 모듈에 있는 </a:t>
            </a:r>
            <a:r>
              <a:rPr lang="en-US" altLang="ko-KR" sz="1500" b="0" i="0" u="none" strike="noStrike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ascii_uppercase</a:t>
            </a:r>
            <a:r>
              <a:rPr lang="ko-KR" altLang="en-US" sz="1500" b="0" i="0" u="none" strike="noStrike" dirty="0">
                <a:solidFill>
                  <a:srgbClr val="000000"/>
                </a:solidFill>
                <a:effectLst/>
                <a:latin typeface="Nanum Gothic"/>
              </a:rPr>
              <a:t>는 알파벳 대문자를</a:t>
            </a:r>
            <a:r>
              <a:rPr lang="en-US" altLang="ko-KR" sz="1500" b="0" i="0" u="none" strike="noStrike" dirty="0">
                <a:solidFill>
                  <a:srgbClr val="000000"/>
                </a:solidFill>
                <a:effectLst/>
                <a:latin typeface="Nanum Gothic"/>
              </a:rPr>
              <a:t>, </a:t>
            </a:r>
            <a:r>
              <a:rPr lang="en-US" altLang="ko-KR" sz="1500" b="0" i="0" u="none" strike="noStrike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ascii_lowercase</a:t>
            </a:r>
            <a:r>
              <a:rPr lang="ko-KR" altLang="en-US" sz="1500" b="0" i="0" u="none" strike="noStrike" dirty="0">
                <a:solidFill>
                  <a:srgbClr val="000000"/>
                </a:solidFill>
                <a:effectLst/>
                <a:latin typeface="Nanum Gothic"/>
              </a:rPr>
              <a:t>는 알파벳 소문자들을 포함하고 있다</a:t>
            </a:r>
            <a:r>
              <a:rPr lang="en-US" altLang="ko-KR" sz="1500" b="0" i="0" u="none" strike="noStrike" dirty="0">
                <a:solidFill>
                  <a:srgbClr val="000000"/>
                </a:solidFill>
                <a:effectLst/>
                <a:latin typeface="Nanum Gothic"/>
              </a:rPr>
              <a:t>.</a:t>
            </a:r>
            <a:endParaRPr lang="ko-KR" altLang="en-US" sz="1500" dirty="0"/>
          </a:p>
        </p:txBody>
      </p:sp>
    </p:spTree>
    <p:extLst>
      <p:ext uri="{BB962C8B-B14F-4D97-AF65-F5344CB8AC3E}">
        <p14:creationId xmlns:p14="http://schemas.microsoft.com/office/powerpoint/2010/main" val="152358604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직사각형 4">
            <a:extLst>
              <a:ext uri="{FF2B5EF4-FFF2-40B4-BE49-F238E27FC236}">
                <a16:creationId xmlns:a16="http://schemas.microsoft.com/office/drawing/2014/main" id="{CC7DDF2D-B4B1-4D91-81AC-9B1E658A8C84}"/>
              </a:ext>
            </a:extLst>
          </p:cNvPr>
          <p:cNvSpPr/>
          <p:nvPr/>
        </p:nvSpPr>
        <p:spPr>
          <a:xfrm>
            <a:off x="0" y="308537"/>
            <a:ext cx="3143365" cy="402996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2400">
                <a:latin typeface="나눔스퀘어라운드 Bold" panose="020B0600000101010101" pitchFamily="50" charset="-127"/>
                <a:ea typeface="나눔스퀘어라운드 Bold" panose="020B0600000101010101" pitchFamily="50" charset="-127"/>
              </a:rPr>
              <a:t>1. </a:t>
            </a:r>
            <a:r>
              <a:rPr lang="ko-KR" altLang="en-US" sz="2400">
                <a:latin typeface="나눔스퀘어라운드 Bold" panose="020B0600000101010101" pitchFamily="50" charset="-127"/>
                <a:ea typeface="나눔스퀘어라운드 Bold" panose="020B0600000101010101" pitchFamily="50" charset="-127"/>
              </a:rPr>
              <a:t>문자열 다루기</a:t>
            </a:r>
            <a:endParaRPr lang="en-US" altLang="ko-KR" sz="2400" dirty="0">
              <a:latin typeface="나눔스퀘어라운드 Bold" panose="020B0600000101010101" pitchFamily="50" charset="-127"/>
              <a:ea typeface="나눔스퀘어라운드 Bold" panose="020B0600000101010101" pitchFamily="50" charset="-127"/>
            </a:endParaRPr>
          </a:p>
        </p:txBody>
      </p:sp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E9A680AA-E171-4391-8687-BB20D46E56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181C0B-4F34-4975-8B09-35C2A8FA8398}" type="slidenum">
              <a:rPr lang="ko-KR" altLang="en-US" smtClean="0"/>
              <a:t>9</a:t>
            </a:fld>
            <a:endParaRPr lang="ko-KR" altLang="en-US"/>
          </a:p>
        </p:txBody>
      </p:sp>
      <p:sp>
        <p:nvSpPr>
          <p:cNvPr id="11" name="제목 1">
            <a:extLst>
              <a:ext uri="{FF2B5EF4-FFF2-40B4-BE49-F238E27FC236}">
                <a16:creationId xmlns:a16="http://schemas.microsoft.com/office/drawing/2014/main" id="{745BBBFD-EA19-4B7D-8B4B-F2259D4CE0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1458" y="865550"/>
            <a:ext cx="11057592" cy="1325563"/>
          </a:xfrm>
        </p:spPr>
        <p:txBody>
          <a:bodyPr>
            <a:normAutofit/>
          </a:bodyPr>
          <a:lstStyle/>
          <a:p>
            <a:pPr fontAlgn="base"/>
            <a:r>
              <a:rPr lang="ko-KR" altLang="en-US" sz="3400" spc="-150"/>
              <a:t>▶</a:t>
            </a:r>
            <a:r>
              <a:rPr lang="ko-KR" altLang="en-US" sz="3400"/>
              <a:t> </a:t>
            </a:r>
            <a:r>
              <a:rPr lang="en-US" altLang="ko-KR" sz="3400"/>
              <a:t>string </a:t>
            </a:r>
            <a:r>
              <a:rPr lang="ko-KR" altLang="en-US" sz="3400"/>
              <a:t>모듈</a:t>
            </a:r>
            <a:endParaRPr lang="ko-KR" altLang="en-US" sz="3400" spc="-150" dirty="0"/>
          </a:p>
        </p:txBody>
      </p:sp>
      <p:pic>
        <p:nvPicPr>
          <p:cNvPr id="13" name="그림 12">
            <a:extLst>
              <a:ext uri="{FF2B5EF4-FFF2-40B4-BE49-F238E27FC236}">
                <a16:creationId xmlns:a16="http://schemas.microsoft.com/office/drawing/2014/main" id="{5D7CC37A-A657-445E-B9D0-6D4CD6F7937C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33680"/>
          <a:stretch/>
        </p:blipFill>
        <p:spPr>
          <a:xfrm>
            <a:off x="1029555" y="2178413"/>
            <a:ext cx="4799745" cy="855634"/>
          </a:xfrm>
          <a:prstGeom prst="rect">
            <a:avLst/>
          </a:prstGeom>
        </p:spPr>
      </p:pic>
      <p:sp>
        <p:nvSpPr>
          <p:cNvPr id="14" name="내용 개체 틀 3">
            <a:extLst>
              <a:ext uri="{FF2B5EF4-FFF2-40B4-BE49-F238E27FC236}">
                <a16:creationId xmlns:a16="http://schemas.microsoft.com/office/drawing/2014/main" id="{43B8B557-F3CE-48A3-B41C-10AE3AED8744}"/>
              </a:ext>
            </a:extLst>
          </p:cNvPr>
          <p:cNvSpPr txBox="1">
            <a:spLocks/>
          </p:cNvSpPr>
          <p:nvPr/>
        </p:nvSpPr>
        <p:spPr>
          <a:xfrm>
            <a:off x="6702161" y="2227107"/>
            <a:ext cx="3934028" cy="806940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ko-KR" altLang="en-US" sz="1500" b="0" i="0" u="none" strike="noStrike" dirty="0">
                <a:solidFill>
                  <a:srgbClr val="000000"/>
                </a:solidFill>
                <a:effectLst/>
                <a:latin typeface="Nanum Gothic"/>
              </a:rPr>
              <a:t>문자열에서 </a:t>
            </a:r>
            <a:r>
              <a:rPr lang="en-US" altLang="ko-KR" sz="1500" b="0" i="0" u="none" strike="noStrike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count()</a:t>
            </a:r>
            <a:r>
              <a:rPr lang="ko-KR" altLang="en-US" sz="1500" b="0" i="0" u="none" strike="noStrike" dirty="0">
                <a:solidFill>
                  <a:srgbClr val="000000"/>
                </a:solidFill>
                <a:effectLst/>
                <a:latin typeface="Nanum Gothic"/>
              </a:rPr>
              <a:t> 메소드는 문자열 중에서 부분 문자열이 등장하는 횟수를 반환한다</a:t>
            </a:r>
            <a:r>
              <a:rPr lang="en-US" altLang="ko-KR" sz="1500" b="0" i="0" u="none" strike="noStrike" dirty="0">
                <a:solidFill>
                  <a:srgbClr val="000000"/>
                </a:solidFill>
                <a:effectLst/>
                <a:latin typeface="Nanum Gothic"/>
              </a:rPr>
              <a:t>.</a:t>
            </a:r>
            <a:endParaRPr lang="ko-KR" altLang="en-US" sz="1500" dirty="0"/>
          </a:p>
        </p:txBody>
      </p:sp>
      <p:pic>
        <p:nvPicPr>
          <p:cNvPr id="16" name="그림 15">
            <a:extLst>
              <a:ext uri="{FF2B5EF4-FFF2-40B4-BE49-F238E27FC236}">
                <a16:creationId xmlns:a16="http://schemas.microsoft.com/office/drawing/2014/main" id="{1E0237EF-B945-4B6D-B571-492F83C874B0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r="18451"/>
          <a:stretch/>
        </p:blipFill>
        <p:spPr>
          <a:xfrm>
            <a:off x="1029555" y="3303308"/>
            <a:ext cx="5413805" cy="1509992"/>
          </a:xfrm>
          <a:prstGeom prst="rect">
            <a:avLst/>
          </a:prstGeom>
        </p:spPr>
      </p:pic>
      <p:pic>
        <p:nvPicPr>
          <p:cNvPr id="22" name="그림 21">
            <a:extLst>
              <a:ext uri="{FF2B5EF4-FFF2-40B4-BE49-F238E27FC236}">
                <a16:creationId xmlns:a16="http://schemas.microsoft.com/office/drawing/2014/main" id="{9780E2FB-57A8-4E0A-952A-6844ED41D718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r="43955"/>
          <a:stretch/>
        </p:blipFill>
        <p:spPr>
          <a:xfrm>
            <a:off x="1029555" y="5082561"/>
            <a:ext cx="4086527" cy="1064239"/>
          </a:xfrm>
          <a:prstGeom prst="rect">
            <a:avLst/>
          </a:prstGeom>
        </p:spPr>
      </p:pic>
      <p:sp>
        <p:nvSpPr>
          <p:cNvPr id="23" name="내용 개체 틀 3">
            <a:extLst>
              <a:ext uri="{FF2B5EF4-FFF2-40B4-BE49-F238E27FC236}">
                <a16:creationId xmlns:a16="http://schemas.microsoft.com/office/drawing/2014/main" id="{B0CC5976-00D8-4A84-B32F-8A38775E8FC7}"/>
              </a:ext>
            </a:extLst>
          </p:cNvPr>
          <p:cNvSpPr txBox="1">
            <a:spLocks/>
          </p:cNvSpPr>
          <p:nvPr/>
        </p:nvSpPr>
        <p:spPr>
          <a:xfrm>
            <a:off x="5670489" y="5082561"/>
            <a:ext cx="4965700" cy="2134844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ko-KR" altLang="en-US" sz="1500" b="0" i="0" u="none" strike="noStrike" dirty="0" err="1">
                <a:solidFill>
                  <a:srgbClr val="000000"/>
                </a:solidFill>
                <a:effectLst/>
                <a:latin typeface="Nanum Gothic"/>
              </a:rPr>
              <a:t>파이썬에는</a:t>
            </a:r>
            <a:r>
              <a:rPr lang="ko-KR" altLang="en-US" sz="1500" b="0" i="0" u="none" strike="noStrike" dirty="0">
                <a:solidFill>
                  <a:srgbClr val="000000"/>
                </a:solidFill>
                <a:effectLst/>
                <a:latin typeface="Nanum Gothic"/>
              </a:rPr>
              <a:t> 문자열 처리를 도와주는 </a:t>
            </a:r>
            <a:r>
              <a:rPr lang="en-US" altLang="ko-KR" sz="1500" b="0" i="0" u="none" strike="noStrike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string</a:t>
            </a:r>
            <a:r>
              <a:rPr lang="ko-KR" altLang="en-US" sz="1500" b="0" i="0" u="none" strike="noStrike" dirty="0">
                <a:solidFill>
                  <a:srgbClr val="000000"/>
                </a:solidFill>
                <a:effectLst/>
                <a:latin typeface="Nanum Gothic"/>
              </a:rPr>
              <a:t>이라는 모듈이 있으며 이 모듈에 있는 </a:t>
            </a:r>
            <a:r>
              <a:rPr lang="en-US" altLang="ko-KR" sz="1500" b="0" i="0" u="none" strike="noStrike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ascii_uppercase</a:t>
            </a:r>
            <a:r>
              <a:rPr lang="ko-KR" altLang="en-US" sz="1500" b="0" i="0" u="none" strike="noStrike" dirty="0">
                <a:solidFill>
                  <a:srgbClr val="000000"/>
                </a:solidFill>
                <a:effectLst/>
                <a:latin typeface="Nanum Gothic"/>
              </a:rPr>
              <a:t>는 알파벳 대문자를</a:t>
            </a:r>
            <a:r>
              <a:rPr lang="en-US" altLang="ko-KR" sz="1500" b="0" i="0" u="none" strike="noStrike" dirty="0">
                <a:solidFill>
                  <a:srgbClr val="000000"/>
                </a:solidFill>
                <a:effectLst/>
                <a:latin typeface="Nanum Gothic"/>
              </a:rPr>
              <a:t>, </a:t>
            </a:r>
            <a:r>
              <a:rPr lang="en-US" altLang="ko-KR" sz="1500" b="0" i="0" u="none" strike="noStrike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ascii_lowercase</a:t>
            </a:r>
            <a:r>
              <a:rPr lang="ko-KR" altLang="en-US" sz="1500" b="0" i="0" u="none" strike="noStrike" dirty="0">
                <a:solidFill>
                  <a:srgbClr val="000000"/>
                </a:solidFill>
                <a:effectLst/>
                <a:latin typeface="Nanum Gothic"/>
              </a:rPr>
              <a:t>는 알파벳 소문자들을 포함하고 있다</a:t>
            </a:r>
            <a:r>
              <a:rPr lang="en-US" altLang="ko-KR" sz="1500" b="0" i="0" u="none" strike="noStrike" dirty="0">
                <a:solidFill>
                  <a:srgbClr val="000000"/>
                </a:solidFill>
                <a:effectLst/>
                <a:latin typeface="Nanum Gothic"/>
              </a:rPr>
              <a:t>.</a:t>
            </a:r>
            <a:endParaRPr lang="ko-KR" altLang="en-US" sz="1500" dirty="0"/>
          </a:p>
        </p:txBody>
      </p:sp>
    </p:spTree>
    <p:extLst>
      <p:ext uri="{BB962C8B-B14F-4D97-AF65-F5344CB8AC3E}">
        <p14:creationId xmlns:p14="http://schemas.microsoft.com/office/powerpoint/2010/main" val="153079499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직사각형 4">
            <a:extLst>
              <a:ext uri="{FF2B5EF4-FFF2-40B4-BE49-F238E27FC236}">
                <a16:creationId xmlns:a16="http://schemas.microsoft.com/office/drawing/2014/main" id="{CC7DDF2D-B4B1-4D91-81AC-9B1E658A8C84}"/>
              </a:ext>
            </a:extLst>
          </p:cNvPr>
          <p:cNvSpPr/>
          <p:nvPr/>
        </p:nvSpPr>
        <p:spPr>
          <a:xfrm>
            <a:off x="0" y="308537"/>
            <a:ext cx="3143365" cy="402996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2400">
                <a:latin typeface="나눔스퀘어라운드 Bold" panose="020B0600000101010101" pitchFamily="50" charset="-127"/>
                <a:ea typeface="나눔스퀘어라운드 Bold" panose="020B0600000101010101" pitchFamily="50" charset="-127"/>
              </a:rPr>
              <a:t>2. </a:t>
            </a:r>
            <a:r>
              <a:rPr lang="ko-KR" altLang="en-US" sz="2400">
                <a:latin typeface="나눔스퀘어라운드 Bold" panose="020B0600000101010101" pitchFamily="50" charset="-127"/>
                <a:ea typeface="나눔스퀘어라운드 Bold" panose="020B0600000101010101" pitchFamily="50" charset="-127"/>
              </a:rPr>
              <a:t>워드 클라우드</a:t>
            </a:r>
            <a:endParaRPr lang="en-US" altLang="ko-KR" sz="2400" dirty="0">
              <a:latin typeface="나눔스퀘어라운드 Bold" panose="020B0600000101010101" pitchFamily="50" charset="-127"/>
              <a:ea typeface="나눔스퀘어라운드 Bold" panose="020B0600000101010101" pitchFamily="50" charset="-127"/>
            </a:endParaRPr>
          </a:p>
        </p:txBody>
      </p:sp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E9A680AA-E171-4391-8687-BB20D46E56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181C0B-4F34-4975-8B09-35C2A8FA8398}" type="slidenum">
              <a:rPr lang="ko-KR" altLang="en-US" smtClean="0"/>
              <a:t>10</a:t>
            </a:fld>
            <a:endParaRPr lang="ko-KR" altLang="en-US"/>
          </a:p>
        </p:txBody>
      </p:sp>
      <p:sp>
        <p:nvSpPr>
          <p:cNvPr id="11" name="제목 1">
            <a:extLst>
              <a:ext uri="{FF2B5EF4-FFF2-40B4-BE49-F238E27FC236}">
                <a16:creationId xmlns:a16="http://schemas.microsoft.com/office/drawing/2014/main" id="{745BBBFD-EA19-4B7D-8B4B-F2259D4CE0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1458" y="865550"/>
            <a:ext cx="11057592" cy="1325563"/>
          </a:xfrm>
        </p:spPr>
        <p:txBody>
          <a:bodyPr>
            <a:normAutofit/>
          </a:bodyPr>
          <a:lstStyle/>
          <a:p>
            <a:pPr fontAlgn="base"/>
            <a:r>
              <a:rPr lang="ko-KR" altLang="en-US" sz="3400" spc="-150"/>
              <a:t>▶</a:t>
            </a:r>
            <a:r>
              <a:rPr lang="ko-KR" altLang="en-US" sz="3400"/>
              <a:t> 워드 클라우드</a:t>
            </a:r>
            <a:endParaRPr lang="ko-KR" altLang="en-US" sz="3400" spc="-150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802153F0-1F29-48C1-871F-ACB9F6DE1FD1}"/>
              </a:ext>
            </a:extLst>
          </p:cNvPr>
          <p:cNvSpPr txBox="1"/>
          <p:nvPr/>
        </p:nvSpPr>
        <p:spPr>
          <a:xfrm>
            <a:off x="1282700" y="2589782"/>
            <a:ext cx="9118600" cy="31700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ko-KR" altLang="en-US" sz="2000" b="1" i="0" u="none" strike="noStrike" dirty="0">
                <a:solidFill>
                  <a:srgbClr val="0070C0"/>
                </a:solidFill>
                <a:effectLst/>
                <a:latin typeface="Nanum Gothic"/>
              </a:rPr>
              <a:t>워드 클라우드</a:t>
            </a:r>
            <a:r>
              <a:rPr lang="en-US" altLang="ko-KR" sz="2000" b="1" i="0" u="none" strike="noStrike" baseline="30000" dirty="0">
                <a:solidFill>
                  <a:srgbClr val="0070C0"/>
                </a:solidFill>
                <a:effectLst/>
                <a:latin typeface="Nanum Gothic"/>
              </a:rPr>
              <a:t>word cloud</a:t>
            </a:r>
            <a:r>
              <a:rPr lang="ko-KR" altLang="en-US" sz="2000" b="0" i="0" u="none" strike="noStrike" dirty="0">
                <a:solidFill>
                  <a:srgbClr val="000000"/>
                </a:solidFill>
                <a:effectLst/>
                <a:latin typeface="Nanum Gothic"/>
              </a:rPr>
              <a:t>는 각 단어의 크기가 빈도 또는 중요성을 나타내는 텍스트 데이터 시각화 기술이다</a:t>
            </a:r>
            <a:r>
              <a:rPr lang="en-US" altLang="ko-KR" sz="2000" b="0" i="0" u="none" strike="noStrike" dirty="0">
                <a:solidFill>
                  <a:srgbClr val="000000"/>
                </a:solidFill>
                <a:effectLst/>
                <a:latin typeface="Nanum Gothic"/>
              </a:rPr>
              <a:t>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ko-KR" altLang="en-US" sz="2000" b="0" i="0" u="none" strike="noStrike" dirty="0" err="1">
                <a:solidFill>
                  <a:srgbClr val="000000"/>
                </a:solidFill>
                <a:effectLst/>
                <a:latin typeface="Nanum Gothic"/>
              </a:rPr>
              <a:t>파이썬에서</a:t>
            </a:r>
            <a:r>
              <a:rPr lang="ko-KR" altLang="en-US" sz="2000" b="0" i="0" u="none" strike="noStrike" dirty="0">
                <a:solidFill>
                  <a:srgbClr val="000000"/>
                </a:solidFill>
                <a:effectLst/>
                <a:latin typeface="Nanum Gothic"/>
              </a:rPr>
              <a:t> 워드 클라우드를 생성하려면 </a:t>
            </a:r>
            <a:r>
              <a:rPr lang="en-US" altLang="ko-KR" sz="2000" b="0" i="0" u="none" strike="noStrike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matplotlib, pandas, </a:t>
            </a:r>
            <a:r>
              <a:rPr lang="en-US" altLang="ko-KR" sz="2000" b="0" i="0" u="none" strike="noStrike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wordcloud</a:t>
            </a:r>
            <a:r>
              <a:rPr lang="ko-KR" altLang="en-US" sz="2000" b="0" i="0" u="none" strike="noStrike" dirty="0">
                <a:solidFill>
                  <a:srgbClr val="000000"/>
                </a:solidFill>
                <a:effectLst/>
                <a:latin typeface="Nanum Gothic"/>
              </a:rPr>
              <a:t> 모듈이 있어야 한다</a:t>
            </a:r>
            <a:r>
              <a:rPr lang="en-US" altLang="ko-KR" sz="2000" b="0" i="0" u="none" strike="noStrike" dirty="0">
                <a:solidFill>
                  <a:srgbClr val="000000"/>
                </a:solidFill>
                <a:effectLst/>
                <a:latin typeface="Nanum Gothic"/>
              </a:rPr>
              <a:t>. </a:t>
            </a:r>
            <a:r>
              <a:rPr lang="en-US" altLang="ko-KR" sz="2000" b="0" i="0" u="none" strike="noStrike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matplotlib, pandas</a:t>
            </a:r>
            <a:r>
              <a:rPr lang="ko-KR" altLang="en-US" sz="2000" b="0" i="0" u="none" strike="noStrike" dirty="0">
                <a:solidFill>
                  <a:srgbClr val="000000"/>
                </a:solidFill>
                <a:effectLst/>
                <a:latin typeface="Nanum Gothic"/>
              </a:rPr>
              <a:t>는 이미 설치되어 </a:t>
            </a:r>
            <a:r>
              <a:rPr lang="ko-KR" altLang="en-US" sz="2000" b="0" i="0" u="none" strike="noStrike">
                <a:solidFill>
                  <a:srgbClr val="000000"/>
                </a:solidFill>
                <a:effectLst/>
                <a:latin typeface="Nanum Gothic"/>
              </a:rPr>
              <a:t>있고  </a:t>
            </a:r>
            <a:r>
              <a:rPr lang="en-US" altLang="ko-KR" sz="2000" b="0" i="0" u="none" strike="noStrike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wordcloud</a:t>
            </a:r>
            <a:r>
              <a:rPr lang="ko-KR" altLang="en-US" sz="2000" b="0" i="0" u="none" strike="noStrike">
                <a:solidFill>
                  <a:srgbClr val="000000"/>
                </a:solidFill>
                <a:effectLst/>
                <a:latin typeface="Nanum Gothic"/>
              </a:rPr>
              <a:t> 모듈만 설치하면 된다</a:t>
            </a:r>
            <a:r>
              <a:rPr lang="en-US" altLang="ko-KR" sz="2000" b="0" i="0" u="none" strike="noStrike">
                <a:solidFill>
                  <a:srgbClr val="000000"/>
                </a:solidFill>
                <a:effectLst/>
                <a:latin typeface="Nanum Gothic"/>
              </a:rPr>
              <a:t>.</a:t>
            </a:r>
            <a:endParaRPr lang="en-US" altLang="ko-KR" sz="2000" b="0" i="0" u="none" strike="noStrike" dirty="0">
              <a:solidFill>
                <a:srgbClr val="000000"/>
              </a:solidFill>
              <a:effectLst/>
              <a:latin typeface="Nanum Gothic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ko-KR" altLang="en-US" sz="2000" b="0" i="0" u="none" strike="noStrike" dirty="0">
                <a:solidFill>
                  <a:srgbClr val="000000"/>
                </a:solidFill>
                <a:effectLst/>
                <a:latin typeface="Nanum Gothic"/>
              </a:rPr>
              <a:t>워드 클라우드를 생성하기 위해서는 우선 원천 데이터의 역할을 수행할 텍스트를 준비해야 한다</a:t>
            </a:r>
            <a:r>
              <a:rPr lang="en-US" altLang="ko-KR" sz="2000" b="0" i="0" u="none" strike="noStrike" dirty="0">
                <a:solidFill>
                  <a:srgbClr val="000000"/>
                </a:solidFill>
                <a:effectLst/>
                <a:latin typeface="Nanum Gothic"/>
              </a:rPr>
              <a:t>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ko-KR" altLang="en-US" sz="2000" b="0" i="0" u="none" strike="noStrike" dirty="0">
                <a:solidFill>
                  <a:srgbClr val="000000"/>
                </a:solidFill>
                <a:effectLst/>
                <a:latin typeface="Nanum Gothic"/>
              </a:rPr>
              <a:t>이러한 텍스트를 준비하기 위한 방법으로 위키백과의 내용을 가져오는 </a:t>
            </a:r>
            <a:r>
              <a:rPr lang="en-US" altLang="ko-KR" sz="2000" b="0" i="0" u="none" strike="noStrike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wikipedia</a:t>
            </a:r>
            <a:r>
              <a:rPr lang="ko-KR" altLang="en-US" sz="2000" b="0" i="0" u="none" strike="noStrike" dirty="0">
                <a:solidFill>
                  <a:srgbClr val="000000"/>
                </a:solidFill>
                <a:effectLst/>
                <a:latin typeface="Nanum Gothic"/>
              </a:rPr>
              <a:t> 모듈이 있다</a:t>
            </a:r>
            <a:r>
              <a:rPr lang="en-US" altLang="ko-KR" sz="2000" b="0" i="0" u="none" strike="noStrike" dirty="0">
                <a:solidFill>
                  <a:srgbClr val="000000"/>
                </a:solidFill>
                <a:effectLst/>
                <a:latin typeface="Nanum Gothic"/>
              </a:rPr>
              <a:t>. </a:t>
            </a:r>
            <a:r>
              <a:rPr lang="ko-KR" altLang="en-US" sz="2000" b="0" i="0" u="none" strike="noStrike" dirty="0">
                <a:solidFill>
                  <a:srgbClr val="000000"/>
                </a:solidFill>
                <a:effectLst/>
                <a:latin typeface="Nanum Gothic"/>
              </a:rPr>
              <a:t>이를 사용하기 위해서는 </a:t>
            </a:r>
            <a:r>
              <a:rPr lang="en-US" altLang="ko-KR" sz="2000" b="0" i="0" u="none" strike="noStrike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pip install </a:t>
            </a:r>
            <a:r>
              <a:rPr lang="en-US" altLang="ko-KR" sz="2000" b="0" i="0" u="none" strike="noStrike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wikipedia</a:t>
            </a:r>
            <a:r>
              <a:rPr lang="ko-KR" altLang="en-US" sz="2000" b="0" i="0" u="none" strike="noStrike" dirty="0">
                <a:solidFill>
                  <a:srgbClr val="000000"/>
                </a:solidFill>
                <a:effectLst/>
                <a:latin typeface="Nanum Gothic"/>
              </a:rPr>
              <a:t> 명령을 통해  </a:t>
            </a:r>
            <a:r>
              <a:rPr lang="en-US" altLang="ko-KR" sz="2000" b="0" i="0" u="none" strike="noStrike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wikipedia</a:t>
            </a:r>
            <a:r>
              <a:rPr lang="ko-KR" altLang="en-US" sz="2000" b="0" i="0" u="none" strike="noStrike" dirty="0">
                <a:solidFill>
                  <a:srgbClr val="000000"/>
                </a:solidFill>
                <a:effectLst/>
                <a:latin typeface="Nanum Gothic"/>
              </a:rPr>
              <a:t> 모듈을 먼저 설치하기만 하면 된다</a:t>
            </a:r>
            <a:r>
              <a:rPr lang="en-US" altLang="ko-KR" sz="2000" b="0" i="0" u="none" strike="noStrike" dirty="0">
                <a:solidFill>
                  <a:srgbClr val="000000"/>
                </a:solidFill>
                <a:effectLst/>
                <a:latin typeface="Nanum Gothic"/>
              </a:rPr>
              <a:t>.</a:t>
            </a:r>
            <a:endParaRPr lang="ko-KR" altLang="en-US" sz="2000" dirty="0"/>
          </a:p>
        </p:txBody>
      </p:sp>
    </p:spTree>
    <p:extLst>
      <p:ext uri="{BB962C8B-B14F-4D97-AF65-F5344CB8AC3E}">
        <p14:creationId xmlns:p14="http://schemas.microsoft.com/office/powerpoint/2010/main" val="308200611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직사각형 4">
            <a:extLst>
              <a:ext uri="{FF2B5EF4-FFF2-40B4-BE49-F238E27FC236}">
                <a16:creationId xmlns:a16="http://schemas.microsoft.com/office/drawing/2014/main" id="{CC7DDF2D-B4B1-4D91-81AC-9B1E658A8C84}"/>
              </a:ext>
            </a:extLst>
          </p:cNvPr>
          <p:cNvSpPr/>
          <p:nvPr/>
        </p:nvSpPr>
        <p:spPr>
          <a:xfrm>
            <a:off x="0" y="308537"/>
            <a:ext cx="3143365" cy="402996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2400">
                <a:latin typeface="나눔스퀘어라운드 Bold" panose="020B0600000101010101" pitchFamily="50" charset="-127"/>
                <a:ea typeface="나눔스퀘어라운드 Bold" panose="020B0600000101010101" pitchFamily="50" charset="-127"/>
              </a:rPr>
              <a:t>2. </a:t>
            </a:r>
            <a:r>
              <a:rPr lang="ko-KR" altLang="en-US" sz="2400">
                <a:latin typeface="나눔스퀘어라운드 Bold" panose="020B0600000101010101" pitchFamily="50" charset="-127"/>
                <a:ea typeface="나눔스퀘어라운드 Bold" panose="020B0600000101010101" pitchFamily="50" charset="-127"/>
              </a:rPr>
              <a:t>워드 클라우드</a:t>
            </a:r>
            <a:endParaRPr lang="en-US" altLang="ko-KR" sz="2400" dirty="0">
              <a:latin typeface="나눔스퀘어라운드 Bold" panose="020B0600000101010101" pitchFamily="50" charset="-127"/>
              <a:ea typeface="나눔스퀘어라운드 Bold" panose="020B0600000101010101" pitchFamily="50" charset="-127"/>
            </a:endParaRPr>
          </a:p>
        </p:txBody>
      </p:sp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E9A680AA-E171-4391-8687-BB20D46E56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181C0B-4F34-4975-8B09-35C2A8FA8398}" type="slidenum">
              <a:rPr lang="ko-KR" altLang="en-US" smtClean="0"/>
              <a:t>11</a:t>
            </a:fld>
            <a:endParaRPr lang="ko-KR" altLang="en-US"/>
          </a:p>
        </p:txBody>
      </p:sp>
      <p:sp>
        <p:nvSpPr>
          <p:cNvPr id="11" name="제목 1">
            <a:extLst>
              <a:ext uri="{FF2B5EF4-FFF2-40B4-BE49-F238E27FC236}">
                <a16:creationId xmlns:a16="http://schemas.microsoft.com/office/drawing/2014/main" id="{745BBBFD-EA19-4B7D-8B4B-F2259D4CE0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1458" y="865550"/>
            <a:ext cx="11057592" cy="1325563"/>
          </a:xfrm>
        </p:spPr>
        <p:txBody>
          <a:bodyPr>
            <a:normAutofit/>
          </a:bodyPr>
          <a:lstStyle/>
          <a:p>
            <a:pPr fontAlgn="base"/>
            <a:r>
              <a:rPr lang="ko-KR" altLang="en-US" sz="3400" spc="-150"/>
              <a:t>▶</a:t>
            </a:r>
            <a:r>
              <a:rPr lang="ko-KR" altLang="en-US" sz="3400"/>
              <a:t> 워드 클라우드</a:t>
            </a:r>
            <a:endParaRPr lang="ko-KR" altLang="en-US" sz="3400" spc="-150" dirty="0"/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6789AB51-F65D-43EC-9385-286A2B5473A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36625" y="2165713"/>
            <a:ext cx="6457950" cy="400050"/>
          </a:xfrm>
          <a:prstGeom prst="rect">
            <a:avLst/>
          </a:prstGeom>
        </p:spPr>
      </p:pic>
      <p:pic>
        <p:nvPicPr>
          <p:cNvPr id="8" name="그림 7">
            <a:extLst>
              <a:ext uri="{FF2B5EF4-FFF2-40B4-BE49-F238E27FC236}">
                <a16:creationId xmlns:a16="http://schemas.microsoft.com/office/drawing/2014/main" id="{F310C5BC-CD33-4525-A07D-6EE323BDD96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5200" y="2787650"/>
            <a:ext cx="6429375" cy="342900"/>
          </a:xfrm>
          <a:prstGeom prst="rect">
            <a:avLst/>
          </a:prstGeom>
        </p:spPr>
      </p:pic>
      <p:pic>
        <p:nvPicPr>
          <p:cNvPr id="14" name="그림 13">
            <a:extLst>
              <a:ext uri="{FF2B5EF4-FFF2-40B4-BE49-F238E27FC236}">
                <a16:creationId xmlns:a16="http://schemas.microsoft.com/office/drawing/2014/main" id="{50381C7F-63E7-4A53-B674-CEF74D9C602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65200" y="3429000"/>
            <a:ext cx="4533900" cy="962025"/>
          </a:xfrm>
          <a:prstGeom prst="rect">
            <a:avLst/>
          </a:prstGeom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2FB58290-C477-4251-AC7F-EA0071C6C7CD}"/>
              </a:ext>
            </a:extLst>
          </p:cNvPr>
          <p:cNvSpPr txBox="1"/>
          <p:nvPr/>
        </p:nvSpPr>
        <p:spPr>
          <a:xfrm>
            <a:off x="5618191" y="3429000"/>
            <a:ext cx="5984818" cy="7848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altLang="ko-KR" sz="1500" b="0" i="0" u="none" strike="noStrike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wikipedia</a:t>
            </a:r>
            <a:r>
              <a:rPr lang="en-US" altLang="ko-KR" sz="1500" b="0" i="0" u="none" strike="noStrike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.page</a:t>
            </a:r>
            <a:r>
              <a:rPr lang="en-US" altLang="ko-KR" sz="1500" b="0" i="0" u="none" strike="noStrike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(title)</a:t>
            </a:r>
            <a:r>
              <a:rPr lang="ko-KR" altLang="en-US" sz="1500" b="0" i="0" u="none" strike="noStrike" dirty="0">
                <a:solidFill>
                  <a:srgbClr val="000000"/>
                </a:solidFill>
                <a:effectLst/>
                <a:latin typeface="Nanum Gothic"/>
              </a:rPr>
              <a:t>이라고 하여 </a:t>
            </a:r>
            <a:r>
              <a:rPr lang="en-US" altLang="ko-KR" sz="1500" b="0" i="0" u="none" strike="noStrike" dirty="0">
                <a:solidFill>
                  <a:srgbClr val="000000"/>
                </a:solidFill>
                <a:effectLst/>
                <a:latin typeface="Nanum Gothic"/>
              </a:rPr>
              <a:t>title</a:t>
            </a:r>
            <a:r>
              <a:rPr lang="ko-KR" altLang="en-US" sz="1500" b="0" i="0" u="none" strike="noStrike" dirty="0">
                <a:solidFill>
                  <a:srgbClr val="000000"/>
                </a:solidFill>
                <a:effectLst/>
                <a:latin typeface="Nanum Gothic"/>
              </a:rPr>
              <a:t>을 제목으로 하는 위키백과 페이지를 얻을 수 있다</a:t>
            </a:r>
            <a:r>
              <a:rPr lang="en-US" altLang="ko-KR" sz="1500" b="0" i="0" u="none" strike="noStrike" dirty="0">
                <a:solidFill>
                  <a:srgbClr val="000000"/>
                </a:solidFill>
                <a:effectLst/>
                <a:latin typeface="Nanum Gothic"/>
              </a:rPr>
              <a:t>. </a:t>
            </a:r>
            <a:r>
              <a:rPr lang="ko-KR" altLang="en-US" sz="1500" b="0" i="0" u="none" strike="noStrike" dirty="0">
                <a:solidFill>
                  <a:srgbClr val="000000"/>
                </a:solidFill>
                <a:effectLst/>
                <a:latin typeface="Nanum Gothic"/>
              </a:rPr>
              <a:t>이 페이지의 텍스트 데이터를 얻고 싶으면 해당 페이지의</a:t>
            </a:r>
            <a:r>
              <a:rPr lang="ko-KR" altLang="en-US" sz="1500" b="0" i="0" u="none" strike="noStrike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500" b="0" i="0" u="none" strike="noStrike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content</a:t>
            </a:r>
            <a:r>
              <a:rPr lang="ko-KR" altLang="en-US" sz="1500" b="0" i="0" u="none" strike="noStrike" dirty="0">
                <a:solidFill>
                  <a:srgbClr val="000000"/>
                </a:solidFill>
                <a:effectLst/>
                <a:latin typeface="Nanum Gothic"/>
              </a:rPr>
              <a:t>을 사용하면 된다</a:t>
            </a:r>
            <a:r>
              <a:rPr lang="en-US" altLang="ko-KR" sz="1500" b="0" i="0" u="none" strike="noStrike" dirty="0">
                <a:solidFill>
                  <a:srgbClr val="000000"/>
                </a:solidFill>
                <a:effectLst/>
                <a:latin typeface="Nanum Gothic"/>
              </a:rPr>
              <a:t>.</a:t>
            </a:r>
            <a:endParaRPr lang="ko-KR" altLang="en-US" sz="1500" dirty="0"/>
          </a:p>
        </p:txBody>
      </p:sp>
      <p:pic>
        <p:nvPicPr>
          <p:cNvPr id="17" name="그림 16">
            <a:extLst>
              <a:ext uri="{FF2B5EF4-FFF2-40B4-BE49-F238E27FC236}">
                <a16:creationId xmlns:a16="http://schemas.microsoft.com/office/drawing/2014/main" id="{F528F6EC-F8B3-4D6B-8241-6F8B9FA18C8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36625" y="4757979"/>
            <a:ext cx="5810250" cy="638175"/>
          </a:xfrm>
          <a:prstGeom prst="rect">
            <a:avLst/>
          </a:prstGeom>
        </p:spPr>
      </p:pic>
      <p:sp>
        <p:nvSpPr>
          <p:cNvPr id="18" name="TextBox 17">
            <a:extLst>
              <a:ext uri="{FF2B5EF4-FFF2-40B4-BE49-F238E27FC236}">
                <a16:creationId xmlns:a16="http://schemas.microsoft.com/office/drawing/2014/main" id="{91A28AA6-07AA-4B89-9AB3-12019D5CF02B}"/>
              </a:ext>
            </a:extLst>
          </p:cNvPr>
          <p:cNvSpPr txBox="1"/>
          <p:nvPr/>
        </p:nvSpPr>
        <p:spPr>
          <a:xfrm>
            <a:off x="6943668" y="4708283"/>
            <a:ext cx="4659341" cy="7848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ko-KR" altLang="en-US" sz="1500" b="0" i="0" u="none" strike="noStrike">
                <a:solidFill>
                  <a:srgbClr val="000000"/>
                </a:solidFill>
                <a:effectLst/>
                <a:latin typeface="Nanum Gothic"/>
              </a:rPr>
              <a:t>가로와 </a:t>
            </a:r>
            <a:r>
              <a:rPr lang="ko-KR" altLang="en-US" sz="1500" b="0" i="0" u="none" strike="noStrike" dirty="0">
                <a:solidFill>
                  <a:srgbClr val="000000"/>
                </a:solidFill>
                <a:effectLst/>
                <a:latin typeface="Nanum Gothic"/>
              </a:rPr>
              <a:t>세로 </a:t>
            </a:r>
            <a:r>
              <a:rPr lang="ko-KR" altLang="en-US" sz="1500" b="0" i="0" u="none" strike="noStrike">
                <a:solidFill>
                  <a:srgbClr val="000000"/>
                </a:solidFill>
                <a:effectLst/>
                <a:latin typeface="Nanum Gothic"/>
              </a:rPr>
              <a:t>크기를 입력해 이미지의 </a:t>
            </a:r>
            <a:r>
              <a:rPr lang="ko-KR" altLang="en-US" sz="1500" b="0" i="0" u="none" strike="noStrike" dirty="0">
                <a:solidFill>
                  <a:srgbClr val="000000"/>
                </a:solidFill>
                <a:effectLst/>
                <a:latin typeface="Nanum Gothic"/>
              </a:rPr>
              <a:t>크기를 정하고</a:t>
            </a:r>
            <a:r>
              <a:rPr lang="en-US" altLang="ko-KR" sz="1500" b="0" i="0" u="none" strike="noStrike" dirty="0">
                <a:solidFill>
                  <a:srgbClr val="000000"/>
                </a:solidFill>
                <a:effectLst/>
                <a:latin typeface="Nanum Gothic"/>
              </a:rPr>
              <a:t>, </a:t>
            </a:r>
            <a:r>
              <a:rPr lang="en-US" altLang="ko-KR" sz="1500" b="0" i="0" u="none" strike="noStrike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generate()</a:t>
            </a:r>
            <a:r>
              <a:rPr lang="ko-KR" altLang="en-US" sz="1500" b="0" i="0" u="none" strike="noStrike" dirty="0">
                <a:solidFill>
                  <a:srgbClr val="000000"/>
                </a:solidFill>
                <a:effectLst/>
                <a:latin typeface="Nanum Gothic"/>
              </a:rPr>
              <a:t> 함수를 불러 워드 클라우드를 만들 재료가 될 텍스트 데이터를 인자로 </a:t>
            </a:r>
            <a:r>
              <a:rPr lang="ko-KR" altLang="en-US" sz="1500" b="0" i="0" u="none" strike="noStrike">
                <a:solidFill>
                  <a:srgbClr val="000000"/>
                </a:solidFill>
                <a:effectLst/>
                <a:latin typeface="Nanum Gothic"/>
              </a:rPr>
              <a:t>넘겨준다</a:t>
            </a:r>
            <a:r>
              <a:rPr lang="en-US" altLang="ko-KR" sz="1500" b="0" i="0" u="none" strike="noStrike">
                <a:solidFill>
                  <a:srgbClr val="000000"/>
                </a:solidFill>
                <a:effectLst/>
                <a:latin typeface="Nanum Gothic"/>
              </a:rPr>
              <a:t>.</a:t>
            </a:r>
            <a:endParaRPr lang="en-US" altLang="ko-KR" sz="1500" b="0" i="0" u="none" strike="noStrike" dirty="0">
              <a:solidFill>
                <a:srgbClr val="000000"/>
              </a:solidFill>
              <a:effectLst/>
              <a:latin typeface="Nanum Gothic"/>
            </a:endParaRPr>
          </a:p>
        </p:txBody>
      </p:sp>
    </p:spTree>
    <p:extLst>
      <p:ext uri="{BB962C8B-B14F-4D97-AF65-F5344CB8AC3E}">
        <p14:creationId xmlns:p14="http://schemas.microsoft.com/office/powerpoint/2010/main" val="289571927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직사각형 4">
            <a:extLst>
              <a:ext uri="{FF2B5EF4-FFF2-40B4-BE49-F238E27FC236}">
                <a16:creationId xmlns:a16="http://schemas.microsoft.com/office/drawing/2014/main" id="{CC7DDF2D-B4B1-4D91-81AC-9B1E658A8C84}"/>
              </a:ext>
            </a:extLst>
          </p:cNvPr>
          <p:cNvSpPr/>
          <p:nvPr/>
        </p:nvSpPr>
        <p:spPr>
          <a:xfrm>
            <a:off x="0" y="308537"/>
            <a:ext cx="3143365" cy="402996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2400">
                <a:latin typeface="나눔스퀘어라운드 Bold" panose="020B0600000101010101" pitchFamily="50" charset="-127"/>
                <a:ea typeface="나눔스퀘어라운드 Bold" panose="020B0600000101010101" pitchFamily="50" charset="-127"/>
              </a:rPr>
              <a:t>2. </a:t>
            </a:r>
            <a:r>
              <a:rPr lang="ko-KR" altLang="en-US" sz="2400">
                <a:latin typeface="나눔스퀘어라운드 Bold" panose="020B0600000101010101" pitchFamily="50" charset="-127"/>
                <a:ea typeface="나눔스퀘어라운드 Bold" panose="020B0600000101010101" pitchFamily="50" charset="-127"/>
              </a:rPr>
              <a:t>워드 클라우드</a:t>
            </a:r>
            <a:endParaRPr lang="en-US" altLang="ko-KR" sz="2400" dirty="0">
              <a:latin typeface="나눔스퀘어라운드 Bold" panose="020B0600000101010101" pitchFamily="50" charset="-127"/>
              <a:ea typeface="나눔스퀘어라운드 Bold" panose="020B0600000101010101" pitchFamily="50" charset="-127"/>
            </a:endParaRPr>
          </a:p>
        </p:txBody>
      </p:sp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E9A680AA-E171-4391-8687-BB20D46E56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181C0B-4F34-4975-8B09-35C2A8FA8398}" type="slidenum">
              <a:rPr lang="ko-KR" altLang="en-US" smtClean="0"/>
              <a:t>12</a:t>
            </a:fld>
            <a:endParaRPr lang="ko-KR" altLang="en-US"/>
          </a:p>
        </p:txBody>
      </p:sp>
      <p:sp>
        <p:nvSpPr>
          <p:cNvPr id="11" name="제목 1">
            <a:extLst>
              <a:ext uri="{FF2B5EF4-FFF2-40B4-BE49-F238E27FC236}">
                <a16:creationId xmlns:a16="http://schemas.microsoft.com/office/drawing/2014/main" id="{745BBBFD-EA19-4B7D-8B4B-F2259D4CE0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1458" y="865550"/>
            <a:ext cx="11057592" cy="1325563"/>
          </a:xfrm>
        </p:spPr>
        <p:txBody>
          <a:bodyPr>
            <a:normAutofit/>
          </a:bodyPr>
          <a:lstStyle/>
          <a:p>
            <a:pPr fontAlgn="base"/>
            <a:r>
              <a:rPr lang="ko-KR" altLang="en-US" sz="3400" spc="-150"/>
              <a:t>▶</a:t>
            </a:r>
            <a:r>
              <a:rPr lang="ko-KR" altLang="en-US" sz="3400"/>
              <a:t> 워드 클라우드</a:t>
            </a:r>
            <a:endParaRPr lang="ko-KR" altLang="en-US" sz="3400" spc="-150" dirty="0"/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570B9EED-9962-4C6A-BB67-3CFB9AD3D13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0775" y="2381250"/>
            <a:ext cx="3067050" cy="1047750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65957F08-14DF-453D-9CB7-E7053FB65FD8}"/>
              </a:ext>
            </a:extLst>
          </p:cNvPr>
          <p:cNvSpPr txBox="1"/>
          <p:nvPr/>
        </p:nvSpPr>
        <p:spPr>
          <a:xfrm>
            <a:off x="4484718" y="2380189"/>
            <a:ext cx="7038918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ko-KR" altLang="en-US" sz="1500" b="0" i="0" u="none" strike="noStrike">
                <a:solidFill>
                  <a:srgbClr val="000000"/>
                </a:solidFill>
                <a:effectLst/>
                <a:latin typeface="Nanum Gothic"/>
              </a:rPr>
              <a:t>맷플롯립의 </a:t>
            </a:r>
            <a:r>
              <a:rPr lang="ko-KR" altLang="en-US" sz="1500" b="0" i="0" u="none" strike="noStrike" dirty="0">
                <a:solidFill>
                  <a:srgbClr val="000000"/>
                </a:solidFill>
                <a:effectLst/>
                <a:latin typeface="Nanum Gothic"/>
              </a:rPr>
              <a:t>이미지 그리기 함수인 </a:t>
            </a:r>
            <a:r>
              <a:rPr lang="en-US" altLang="ko-KR" sz="1500" b="0" i="0" u="none" strike="noStrike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imshow</a:t>
            </a:r>
            <a:r>
              <a:rPr lang="en-US" altLang="ko-KR" sz="1500" b="0" i="0" u="none" strike="noStrike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</a:t>
            </a:r>
            <a:r>
              <a:rPr lang="ko-KR" altLang="en-US" sz="1500" b="0" i="0" u="none" strike="noStrike" dirty="0">
                <a:solidFill>
                  <a:srgbClr val="000000"/>
                </a:solidFill>
                <a:effectLst/>
                <a:latin typeface="Nanum Gothic"/>
              </a:rPr>
              <a:t>를 </a:t>
            </a:r>
            <a:r>
              <a:rPr lang="ko-KR" altLang="en-US" sz="1500" b="0" i="0" u="none" strike="noStrike">
                <a:solidFill>
                  <a:srgbClr val="000000"/>
                </a:solidFill>
                <a:effectLst/>
                <a:latin typeface="Nanum Gothic"/>
              </a:rPr>
              <a:t>이용하면  </a:t>
            </a:r>
            <a:r>
              <a:rPr lang="ko-KR" altLang="en-US" sz="1500" b="0" i="0" u="none" strike="noStrike" dirty="0">
                <a:solidFill>
                  <a:srgbClr val="000000"/>
                </a:solidFill>
                <a:effectLst/>
                <a:latin typeface="Nanum Gothic"/>
              </a:rPr>
              <a:t>그릴 수  있다</a:t>
            </a:r>
            <a:r>
              <a:rPr lang="en-US" altLang="ko-KR" sz="1500" b="0" i="0" u="none" strike="noStrike" dirty="0">
                <a:solidFill>
                  <a:srgbClr val="000000"/>
                </a:solidFill>
                <a:effectLst/>
                <a:latin typeface="Nanum Gothic"/>
              </a:rPr>
              <a:t>.</a:t>
            </a:r>
            <a:endParaRPr lang="ko-KR" altLang="en-US" sz="1500" dirty="0"/>
          </a:p>
        </p:txBody>
      </p:sp>
      <p:pic>
        <p:nvPicPr>
          <p:cNvPr id="9" name="그림 8">
            <a:extLst>
              <a:ext uri="{FF2B5EF4-FFF2-40B4-BE49-F238E27FC236}">
                <a16:creationId xmlns:a16="http://schemas.microsoft.com/office/drawing/2014/main" id="{2A02CF47-C5A2-4CBF-B029-F0D80647104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0600" y="3717363"/>
            <a:ext cx="3907497" cy="2832100"/>
          </a:xfrm>
          <a:prstGeom prst="rect">
            <a:avLst/>
          </a:prstGeom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557EF912-43E4-469A-86E8-A219F3BD7FD0}"/>
              </a:ext>
            </a:extLst>
          </p:cNvPr>
          <p:cNvSpPr txBox="1"/>
          <p:nvPr/>
        </p:nvSpPr>
        <p:spPr>
          <a:xfrm>
            <a:off x="4930308" y="4117750"/>
            <a:ext cx="5775792" cy="7848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altLang="ko-KR" sz="1500" b="0" i="0" u="none" strike="noStrike">
                <a:solidFill>
                  <a:srgbClr val="000000"/>
                </a:solidFill>
                <a:effectLst/>
                <a:latin typeface="Nanum Gothic"/>
              </a:rPr>
              <a:t> </a:t>
            </a:r>
            <a:r>
              <a:rPr lang="ko-KR" altLang="en-US" sz="1500" b="0" i="0" u="none" strike="noStrike" dirty="0">
                <a:solidFill>
                  <a:srgbClr val="000000"/>
                </a:solidFill>
                <a:effectLst/>
                <a:latin typeface="Nanum Gothic"/>
              </a:rPr>
              <a:t>많은 텍스트 데이터에는 자주 쓰이지만</a:t>
            </a:r>
            <a:r>
              <a:rPr lang="en-US" altLang="ko-KR" sz="1500" b="0" i="0" u="none" strike="noStrike" dirty="0">
                <a:solidFill>
                  <a:srgbClr val="000000"/>
                </a:solidFill>
                <a:effectLst/>
                <a:latin typeface="Nanum Gothic"/>
              </a:rPr>
              <a:t>, </a:t>
            </a:r>
            <a:r>
              <a:rPr lang="ko-KR" altLang="en-US" sz="1500" b="0" i="0" u="none" strike="noStrike" dirty="0">
                <a:solidFill>
                  <a:srgbClr val="000000"/>
                </a:solidFill>
                <a:effectLst/>
                <a:latin typeface="Nanum Gothic"/>
              </a:rPr>
              <a:t>특별히 중요한 의미를 갖지 않는 단어들이 있다</a:t>
            </a:r>
            <a:r>
              <a:rPr lang="en-US" altLang="ko-KR" sz="1500" b="0" i="0" u="none" strike="noStrike" dirty="0">
                <a:solidFill>
                  <a:srgbClr val="000000"/>
                </a:solidFill>
                <a:effectLst/>
                <a:latin typeface="Nanum Gothic"/>
              </a:rPr>
              <a:t>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ko-KR" altLang="en-US" sz="1500" b="0" i="0" u="none" strike="noStrike" dirty="0">
                <a:solidFill>
                  <a:srgbClr val="000000"/>
                </a:solidFill>
                <a:effectLst/>
                <a:latin typeface="Nanum Gothic"/>
              </a:rPr>
              <a:t>이러한 단어를 자연어 처리에서는 </a:t>
            </a:r>
            <a:r>
              <a:rPr lang="ko-KR" altLang="en-US" sz="1500" b="1" i="0" u="none" strike="noStrike" dirty="0" err="1">
                <a:solidFill>
                  <a:srgbClr val="0070C0"/>
                </a:solidFill>
                <a:effectLst/>
                <a:latin typeface="Nanum Gothic"/>
              </a:rPr>
              <a:t>중지어</a:t>
            </a:r>
            <a:r>
              <a:rPr lang="en-US" altLang="ko-KR" sz="1500" b="1" i="0" u="none" strike="noStrike" baseline="30000" dirty="0">
                <a:solidFill>
                  <a:srgbClr val="0070C0"/>
                </a:solidFill>
                <a:effectLst/>
                <a:latin typeface="Nanum Gothic"/>
              </a:rPr>
              <a:t>stop word</a:t>
            </a:r>
            <a:r>
              <a:rPr lang="ko-KR" altLang="en-US" sz="1500" b="0" i="0" u="none" strike="noStrike" dirty="0">
                <a:solidFill>
                  <a:srgbClr val="000000"/>
                </a:solidFill>
                <a:effectLst/>
                <a:latin typeface="Nanum Gothic"/>
              </a:rPr>
              <a:t>라고 한다</a:t>
            </a:r>
            <a:r>
              <a:rPr lang="en-US" altLang="ko-KR" sz="1500" b="0" i="0" u="none" strike="noStrike" dirty="0">
                <a:solidFill>
                  <a:srgbClr val="000000"/>
                </a:solidFill>
                <a:effectLst/>
                <a:latin typeface="Nanum Gothic"/>
              </a:rPr>
              <a:t>.</a:t>
            </a:r>
            <a:endParaRPr lang="ko-KR" altLang="en-US" sz="1500" dirty="0"/>
          </a:p>
        </p:txBody>
      </p:sp>
    </p:spTree>
    <p:extLst>
      <p:ext uri="{BB962C8B-B14F-4D97-AF65-F5344CB8AC3E}">
        <p14:creationId xmlns:p14="http://schemas.microsoft.com/office/powerpoint/2010/main" val="199670386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직사각형 4">
            <a:extLst>
              <a:ext uri="{FF2B5EF4-FFF2-40B4-BE49-F238E27FC236}">
                <a16:creationId xmlns:a16="http://schemas.microsoft.com/office/drawing/2014/main" id="{CC7DDF2D-B4B1-4D91-81AC-9B1E658A8C84}"/>
              </a:ext>
            </a:extLst>
          </p:cNvPr>
          <p:cNvSpPr/>
          <p:nvPr/>
        </p:nvSpPr>
        <p:spPr>
          <a:xfrm>
            <a:off x="0" y="308537"/>
            <a:ext cx="3143365" cy="402996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2400">
                <a:latin typeface="나눔스퀘어라운드 Bold" panose="020B0600000101010101" pitchFamily="50" charset="-127"/>
                <a:ea typeface="나눔스퀘어라운드 Bold" panose="020B0600000101010101" pitchFamily="50" charset="-127"/>
              </a:rPr>
              <a:t>2. </a:t>
            </a:r>
            <a:r>
              <a:rPr lang="ko-KR" altLang="en-US" sz="2400">
                <a:latin typeface="나눔스퀘어라운드 Bold" panose="020B0600000101010101" pitchFamily="50" charset="-127"/>
                <a:ea typeface="나눔스퀘어라운드 Bold" panose="020B0600000101010101" pitchFamily="50" charset="-127"/>
              </a:rPr>
              <a:t>워드 클라우드</a:t>
            </a:r>
            <a:endParaRPr lang="en-US" altLang="ko-KR" sz="2400" dirty="0">
              <a:latin typeface="나눔스퀘어라운드 Bold" panose="020B0600000101010101" pitchFamily="50" charset="-127"/>
              <a:ea typeface="나눔스퀘어라운드 Bold" panose="020B0600000101010101" pitchFamily="50" charset="-127"/>
            </a:endParaRPr>
          </a:p>
        </p:txBody>
      </p:sp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E9A680AA-E171-4391-8687-BB20D46E56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181C0B-4F34-4975-8B09-35C2A8FA8398}" type="slidenum">
              <a:rPr lang="ko-KR" altLang="en-US" smtClean="0"/>
              <a:t>13</a:t>
            </a:fld>
            <a:endParaRPr lang="ko-KR" altLang="en-US"/>
          </a:p>
        </p:txBody>
      </p:sp>
      <p:sp>
        <p:nvSpPr>
          <p:cNvPr id="11" name="제목 1">
            <a:extLst>
              <a:ext uri="{FF2B5EF4-FFF2-40B4-BE49-F238E27FC236}">
                <a16:creationId xmlns:a16="http://schemas.microsoft.com/office/drawing/2014/main" id="{745BBBFD-EA19-4B7D-8B4B-F2259D4CE0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1458" y="865550"/>
            <a:ext cx="11057592" cy="1325563"/>
          </a:xfrm>
        </p:spPr>
        <p:txBody>
          <a:bodyPr>
            <a:normAutofit/>
          </a:bodyPr>
          <a:lstStyle/>
          <a:p>
            <a:pPr fontAlgn="base"/>
            <a:r>
              <a:rPr lang="ko-KR" altLang="en-US" sz="3400" spc="-150"/>
              <a:t>▶</a:t>
            </a:r>
            <a:r>
              <a:rPr lang="ko-KR" altLang="en-US" sz="3400"/>
              <a:t> 워드 클라우드</a:t>
            </a:r>
            <a:endParaRPr lang="ko-KR" altLang="en-US" sz="3400" spc="-150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91AED475-EBA7-4AD8-8FB5-B2E5643D437B}"/>
              </a:ext>
            </a:extLst>
          </p:cNvPr>
          <p:cNvSpPr txBox="1"/>
          <p:nvPr/>
        </p:nvSpPr>
        <p:spPr>
          <a:xfrm>
            <a:off x="1032681" y="1873074"/>
            <a:ext cx="9895145" cy="7848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altLang="ko-KR" sz="1500" b="0" i="0" u="none" strike="noStrike" dirty="0">
              <a:solidFill>
                <a:srgbClr val="000000"/>
              </a:solidFill>
              <a:effectLst/>
              <a:latin typeface="Nanum Gothic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ko-KR" altLang="en-US" sz="1500" b="0" i="0" u="none" strike="noStrike" dirty="0" err="1">
                <a:solidFill>
                  <a:srgbClr val="000000"/>
                </a:solidFill>
                <a:effectLst/>
                <a:latin typeface="Nanum Gothic"/>
              </a:rPr>
              <a:t>중지어</a:t>
            </a:r>
            <a:r>
              <a:rPr lang="ko-KR" altLang="en-US" sz="1500" b="0" i="0" u="none" strike="noStrike" dirty="0">
                <a:solidFill>
                  <a:srgbClr val="000000"/>
                </a:solidFill>
                <a:effectLst/>
                <a:latin typeface="Nanum Gothic"/>
              </a:rPr>
              <a:t> 리스트는 </a:t>
            </a:r>
            <a:r>
              <a:rPr lang="en-US" altLang="ko-KR" sz="1500" b="0" i="0" u="none" strike="noStrike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wordcloud</a:t>
            </a:r>
            <a:r>
              <a:rPr lang="ko-KR" altLang="en-US" sz="1500" b="0" i="0" u="none" strike="noStrike" dirty="0">
                <a:solidFill>
                  <a:srgbClr val="000000"/>
                </a:solidFill>
                <a:effectLst/>
                <a:latin typeface="Nanum Gothic"/>
              </a:rPr>
              <a:t> 모듈의 </a:t>
            </a:r>
            <a:r>
              <a:rPr lang="en-US" altLang="ko-KR" sz="1500" b="0" i="0" u="none" strike="noStrike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STOPWORDS</a:t>
            </a:r>
            <a:r>
              <a:rPr lang="ko-KR" altLang="en-US" sz="1500" b="0" i="0" u="none" strike="noStrike" dirty="0">
                <a:solidFill>
                  <a:srgbClr val="000000"/>
                </a:solidFill>
                <a:effectLst/>
                <a:latin typeface="Nanum Gothic"/>
              </a:rPr>
              <a:t>에 정리되어 있다</a:t>
            </a:r>
            <a:r>
              <a:rPr lang="en-US" altLang="ko-KR" sz="1500" b="0" i="0" u="none" strike="noStrike" dirty="0">
                <a:solidFill>
                  <a:srgbClr val="000000"/>
                </a:solidFill>
                <a:effectLst/>
                <a:latin typeface="Nanum Gothic"/>
              </a:rPr>
              <a:t>.</a:t>
            </a:r>
            <a:r>
              <a:rPr lang="ko-KR" altLang="en-US" sz="1500" b="0" i="0" u="none" strike="noStrike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500" b="0" i="0" u="none" strike="noStrike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STOPWORDS</a:t>
            </a:r>
            <a:r>
              <a:rPr lang="ko-KR" altLang="en-US" sz="1500" b="0" i="0" u="none" strike="noStrike" dirty="0">
                <a:solidFill>
                  <a:srgbClr val="000000"/>
                </a:solidFill>
                <a:effectLst/>
                <a:latin typeface="Nanum Gothic"/>
              </a:rPr>
              <a:t>는 </a:t>
            </a:r>
            <a:r>
              <a:rPr lang="ko-KR" altLang="en-US" sz="1500" b="1" i="0" u="none" strike="noStrike" dirty="0">
                <a:solidFill>
                  <a:srgbClr val="0070C0"/>
                </a:solidFill>
                <a:effectLst/>
                <a:latin typeface="Nanum Gothic"/>
              </a:rPr>
              <a:t>집합</a:t>
            </a:r>
            <a:r>
              <a:rPr lang="en-US" altLang="ko-KR" sz="1500" b="1" i="0" u="none" strike="noStrike" baseline="30000" dirty="0">
                <a:solidFill>
                  <a:srgbClr val="0070C0"/>
                </a:solidFill>
                <a:effectLst/>
                <a:latin typeface="Nanum Gothic"/>
              </a:rPr>
              <a:t>set</a:t>
            </a:r>
            <a:r>
              <a:rPr lang="ko-KR" altLang="en-US" sz="1500" b="0" i="0" u="none" strike="noStrike" dirty="0">
                <a:solidFill>
                  <a:srgbClr val="0070C0"/>
                </a:solidFill>
                <a:effectLst/>
                <a:latin typeface="Nanum Gothic"/>
              </a:rPr>
              <a:t> </a:t>
            </a:r>
            <a:r>
              <a:rPr lang="ko-KR" altLang="en-US" sz="1500" b="0" i="0" u="none" strike="noStrike" dirty="0">
                <a:solidFill>
                  <a:srgbClr val="000000"/>
                </a:solidFill>
                <a:effectLst/>
                <a:latin typeface="Nanum Gothic"/>
              </a:rPr>
              <a:t>데이터로 정의되어 있으며</a:t>
            </a:r>
            <a:r>
              <a:rPr lang="en-US" altLang="ko-KR" sz="1500" b="0" i="0" u="none" strike="noStrike" dirty="0">
                <a:solidFill>
                  <a:srgbClr val="000000"/>
                </a:solidFill>
                <a:effectLst/>
                <a:latin typeface="Nanum Gothic"/>
              </a:rPr>
              <a:t>, </a:t>
            </a:r>
            <a:r>
              <a:rPr lang="ko-KR" altLang="en-US" sz="1500" b="0" i="0" u="none" strike="noStrike" dirty="0">
                <a:solidFill>
                  <a:srgbClr val="000000"/>
                </a:solidFill>
                <a:effectLst/>
                <a:latin typeface="Nanum Gothic"/>
              </a:rPr>
              <a:t>우리가 </a:t>
            </a:r>
            <a:r>
              <a:rPr lang="ko-KR" altLang="en-US" sz="1500" b="0" i="0" u="none" strike="noStrike" dirty="0" err="1">
                <a:solidFill>
                  <a:srgbClr val="000000"/>
                </a:solidFill>
                <a:effectLst/>
                <a:latin typeface="Nanum Gothic"/>
              </a:rPr>
              <a:t>중지어를</a:t>
            </a:r>
            <a:r>
              <a:rPr lang="ko-KR" altLang="en-US" sz="1500" b="0" i="0" u="none" strike="noStrike" dirty="0">
                <a:solidFill>
                  <a:srgbClr val="000000"/>
                </a:solidFill>
                <a:effectLst/>
                <a:latin typeface="Nanum Gothic"/>
              </a:rPr>
              <a:t> 추가하고 싶으면 다음과 같이 새로운 집합과 합집합을 구해서 사용하면 된다</a:t>
            </a:r>
            <a:r>
              <a:rPr lang="en-US" altLang="ko-KR" sz="1500" b="0" i="0" u="none" strike="noStrike" dirty="0">
                <a:solidFill>
                  <a:srgbClr val="000000"/>
                </a:solidFill>
                <a:effectLst/>
                <a:latin typeface="Nanum Gothic"/>
              </a:rPr>
              <a:t>.</a:t>
            </a:r>
            <a:endParaRPr lang="ko-KR" altLang="en-US" sz="1500" dirty="0"/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BFB9623C-7F70-48DA-BA90-9F0EE76FA48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56958" y="4429482"/>
            <a:ext cx="3048899" cy="2301160"/>
          </a:xfrm>
          <a:prstGeom prst="rect">
            <a:avLst/>
          </a:prstGeom>
        </p:spPr>
      </p:pic>
      <p:pic>
        <p:nvPicPr>
          <p:cNvPr id="8" name="그림 7">
            <a:extLst>
              <a:ext uri="{FF2B5EF4-FFF2-40B4-BE49-F238E27FC236}">
                <a16:creationId xmlns:a16="http://schemas.microsoft.com/office/drawing/2014/main" id="{8F0813F1-7678-45BD-A2CD-E4D16EC4A65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66594" y="3198637"/>
            <a:ext cx="7305675" cy="904875"/>
          </a:xfrm>
          <a:prstGeom prst="rect">
            <a:avLst/>
          </a:prstGeom>
        </p:spPr>
      </p:pic>
      <p:pic>
        <p:nvPicPr>
          <p:cNvPr id="14" name="그림 13">
            <a:extLst>
              <a:ext uri="{FF2B5EF4-FFF2-40B4-BE49-F238E27FC236}">
                <a16:creationId xmlns:a16="http://schemas.microsoft.com/office/drawing/2014/main" id="{4EF20ECB-3D3E-41BC-828F-B758D22DB83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477181" y="4475162"/>
            <a:ext cx="3048899" cy="2209800"/>
          </a:xfrm>
          <a:prstGeom prst="rect">
            <a:avLst/>
          </a:prstGeom>
        </p:spPr>
      </p:pic>
      <p:cxnSp>
        <p:nvCxnSpPr>
          <p:cNvPr id="15" name="직선 화살표 연결선 14">
            <a:extLst>
              <a:ext uri="{FF2B5EF4-FFF2-40B4-BE49-F238E27FC236}">
                <a16:creationId xmlns:a16="http://schemas.microsoft.com/office/drawing/2014/main" id="{CEA94867-5B85-4850-BBBC-A3E6FB47210C}"/>
              </a:ext>
            </a:extLst>
          </p:cNvPr>
          <p:cNvCxnSpPr/>
          <p:nvPr/>
        </p:nvCxnSpPr>
        <p:spPr>
          <a:xfrm>
            <a:off x="4819431" y="5507182"/>
            <a:ext cx="1160822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57706100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직사각형 4">
            <a:extLst>
              <a:ext uri="{FF2B5EF4-FFF2-40B4-BE49-F238E27FC236}">
                <a16:creationId xmlns:a16="http://schemas.microsoft.com/office/drawing/2014/main" id="{CC7DDF2D-B4B1-4D91-81AC-9B1E658A8C84}"/>
              </a:ext>
            </a:extLst>
          </p:cNvPr>
          <p:cNvSpPr/>
          <p:nvPr/>
        </p:nvSpPr>
        <p:spPr>
          <a:xfrm>
            <a:off x="0" y="308537"/>
            <a:ext cx="3390900" cy="434310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2400">
                <a:latin typeface="나눔스퀘어라운드 Bold" panose="020B0600000101010101" pitchFamily="50" charset="-127"/>
                <a:ea typeface="나눔스퀘어라운드 Bold" panose="020B0600000101010101" pitchFamily="50" charset="-127"/>
              </a:rPr>
              <a:t>3. </a:t>
            </a:r>
            <a:r>
              <a:rPr lang="ko-KR" altLang="en-US" sz="2400" b="1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bg1"/>
                </a:solidFill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정규식과 메타 문자</a:t>
            </a:r>
            <a:endParaRPr lang="en-US" altLang="ko-KR" sz="2400" b="1">
              <a:ln>
                <a:solidFill>
                  <a:schemeClr val="accent1">
                    <a:alpha val="0"/>
                  </a:schemeClr>
                </a:solidFill>
              </a:ln>
              <a:solidFill>
                <a:schemeClr val="bg1"/>
              </a:solidFill>
              <a:latin typeface="나눔고딕 ExtraBold" panose="020D0904000000000000" pitchFamily="50" charset="-127"/>
              <a:ea typeface="나눔고딕 ExtraBold" panose="020D0904000000000000" pitchFamily="50" charset="-127"/>
            </a:endParaRPr>
          </a:p>
        </p:txBody>
      </p:sp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E9A680AA-E171-4391-8687-BB20D46E56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181C0B-4F34-4975-8B09-35C2A8FA8398}" type="slidenum">
              <a:rPr lang="ko-KR" altLang="en-US" smtClean="0"/>
              <a:t>14</a:t>
            </a:fld>
            <a:endParaRPr lang="ko-KR" altLang="en-US"/>
          </a:p>
        </p:txBody>
      </p:sp>
      <p:sp>
        <p:nvSpPr>
          <p:cNvPr id="11" name="제목 1">
            <a:extLst>
              <a:ext uri="{FF2B5EF4-FFF2-40B4-BE49-F238E27FC236}">
                <a16:creationId xmlns:a16="http://schemas.microsoft.com/office/drawing/2014/main" id="{745BBBFD-EA19-4B7D-8B4B-F2259D4CE0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1458" y="865550"/>
            <a:ext cx="11057592" cy="1325563"/>
          </a:xfrm>
        </p:spPr>
        <p:txBody>
          <a:bodyPr>
            <a:normAutofit/>
          </a:bodyPr>
          <a:lstStyle/>
          <a:p>
            <a:pPr fontAlgn="base"/>
            <a:r>
              <a:rPr lang="ko-KR" altLang="en-US" sz="3400" spc="-150"/>
              <a:t>▶</a:t>
            </a:r>
            <a:r>
              <a:rPr lang="ko-KR" altLang="en-US" sz="3400"/>
              <a:t> 정규식과 메타 문자</a:t>
            </a:r>
            <a:endParaRPr lang="ko-KR" altLang="en-US" sz="3400" spc="-150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DA25C7FD-C313-4160-A0D8-72D60A22C1BD}"/>
              </a:ext>
            </a:extLst>
          </p:cNvPr>
          <p:cNvSpPr txBox="1"/>
          <p:nvPr/>
        </p:nvSpPr>
        <p:spPr>
          <a:xfrm>
            <a:off x="730903" y="1914243"/>
            <a:ext cx="11009639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ko-KR" altLang="en-US" sz="1500" b="1" i="0" u="none" strike="noStrike" dirty="0" err="1">
                <a:solidFill>
                  <a:srgbClr val="0070C0"/>
                </a:solidFill>
                <a:effectLst/>
                <a:latin typeface="Nanum Gothic"/>
              </a:rPr>
              <a:t>정규식</a:t>
            </a:r>
            <a:r>
              <a:rPr lang="en-US" altLang="ko-KR" sz="1500" b="1" i="0" u="none" strike="noStrike" baseline="30000" dirty="0">
                <a:solidFill>
                  <a:srgbClr val="0070C0"/>
                </a:solidFill>
                <a:effectLst/>
                <a:latin typeface="Nanum Gothic"/>
              </a:rPr>
              <a:t>regular expression</a:t>
            </a:r>
            <a:r>
              <a:rPr lang="ko-KR" altLang="en-US" sz="1500" b="0" i="0" u="none" strike="noStrike" dirty="0">
                <a:solidFill>
                  <a:srgbClr val="000000"/>
                </a:solidFill>
                <a:effectLst/>
                <a:latin typeface="Nanum Gothic"/>
              </a:rPr>
              <a:t>이란 특정한 규칙을 가지고 있는 문자열들을 표현하는데 사용되는 규칙을 가진 언어이다</a:t>
            </a:r>
            <a:r>
              <a:rPr lang="en-US" altLang="ko-KR" sz="1500" b="0" i="0" u="none" strike="noStrike" dirty="0">
                <a:solidFill>
                  <a:srgbClr val="000000"/>
                </a:solidFill>
                <a:effectLst/>
                <a:latin typeface="Nanum Gothic"/>
              </a:rPr>
              <a:t>.</a:t>
            </a:r>
            <a:endParaRPr lang="ko-KR" altLang="en-US" sz="1500" dirty="0"/>
          </a:p>
        </p:txBody>
      </p:sp>
      <p:pic>
        <p:nvPicPr>
          <p:cNvPr id="13" name="그림 12">
            <a:extLst>
              <a:ext uri="{FF2B5EF4-FFF2-40B4-BE49-F238E27FC236}">
                <a16:creationId xmlns:a16="http://schemas.microsoft.com/office/drawing/2014/main" id="{9AC44CAD-FD66-477A-8835-9205004AB6F5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24006"/>
          <a:stretch/>
        </p:blipFill>
        <p:spPr>
          <a:xfrm>
            <a:off x="830945" y="2711675"/>
            <a:ext cx="4795155" cy="1438571"/>
          </a:xfrm>
          <a:prstGeom prst="rect">
            <a:avLst/>
          </a:prstGeom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AD863A03-B98D-4983-94E9-4EF63173685C}"/>
              </a:ext>
            </a:extLst>
          </p:cNvPr>
          <p:cNvSpPr txBox="1"/>
          <p:nvPr/>
        </p:nvSpPr>
        <p:spPr>
          <a:xfrm>
            <a:off x="6658781" y="2501271"/>
            <a:ext cx="4148919" cy="7848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altLang="ko-KR" sz="1500" b="0" i="0" u="none" strike="noStrike" dirty="0">
              <a:solidFill>
                <a:srgbClr val="000000"/>
              </a:solidFill>
              <a:effectLst/>
              <a:latin typeface="Nanum Gothic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ko-KR" altLang="en-US" sz="1500"/>
              <a:t>파이썬에서 정규식을 사용하려면 </a:t>
            </a:r>
            <a:r>
              <a:rPr lang="en-US" altLang="ko-KR" sz="1500"/>
              <a:t>re </a:t>
            </a:r>
            <a:r>
              <a:rPr lang="ko-KR" altLang="en-US" sz="1500"/>
              <a:t>모듈을 포함시켜야 한다</a:t>
            </a:r>
            <a:r>
              <a:rPr lang="en-US" altLang="ko-KR" sz="1500"/>
              <a:t>.</a:t>
            </a:r>
            <a:endParaRPr lang="ko-KR" altLang="en-US" sz="1500" dirty="0"/>
          </a:p>
        </p:txBody>
      </p:sp>
      <p:pic>
        <p:nvPicPr>
          <p:cNvPr id="18" name="그림 17">
            <a:extLst>
              <a:ext uri="{FF2B5EF4-FFF2-40B4-BE49-F238E27FC236}">
                <a16:creationId xmlns:a16="http://schemas.microsoft.com/office/drawing/2014/main" id="{B12D9B34-830B-4BDA-8AA3-59F3A774E5E0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r="12231"/>
          <a:stretch/>
        </p:blipFill>
        <p:spPr>
          <a:xfrm>
            <a:off x="830945" y="4578123"/>
            <a:ext cx="6903355" cy="682601"/>
          </a:xfrm>
          <a:prstGeom prst="rect">
            <a:avLst/>
          </a:prstGeom>
        </p:spPr>
      </p:pic>
      <p:pic>
        <p:nvPicPr>
          <p:cNvPr id="19" name="그림 18">
            <a:extLst>
              <a:ext uri="{FF2B5EF4-FFF2-40B4-BE49-F238E27FC236}">
                <a16:creationId xmlns:a16="http://schemas.microsoft.com/office/drawing/2014/main" id="{F9808E0A-97AB-4CC6-BB99-14FE72FAFA47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t="2" r="12618" b="-2983"/>
          <a:stretch/>
        </p:blipFill>
        <p:spPr>
          <a:xfrm>
            <a:off x="830945" y="5467668"/>
            <a:ext cx="7004955" cy="6474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7920356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E9A680AA-E171-4391-8687-BB20D46E56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181C0B-4F34-4975-8B09-35C2A8FA8398}" type="slidenum">
              <a:rPr lang="ko-KR" altLang="en-US" smtClean="0"/>
              <a:t>15</a:t>
            </a:fld>
            <a:endParaRPr lang="ko-KR" altLang="en-US"/>
          </a:p>
        </p:txBody>
      </p:sp>
      <p:sp>
        <p:nvSpPr>
          <p:cNvPr id="11" name="제목 1">
            <a:extLst>
              <a:ext uri="{FF2B5EF4-FFF2-40B4-BE49-F238E27FC236}">
                <a16:creationId xmlns:a16="http://schemas.microsoft.com/office/drawing/2014/main" id="{745BBBFD-EA19-4B7D-8B4B-F2259D4CE0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1458" y="865550"/>
            <a:ext cx="11057592" cy="1325563"/>
          </a:xfrm>
        </p:spPr>
        <p:txBody>
          <a:bodyPr>
            <a:normAutofit/>
          </a:bodyPr>
          <a:lstStyle/>
          <a:p>
            <a:pPr fontAlgn="base"/>
            <a:r>
              <a:rPr lang="ko-KR" altLang="en-US" sz="3400" spc="-150"/>
              <a:t>▶</a:t>
            </a:r>
            <a:r>
              <a:rPr lang="ko-KR" altLang="en-US" sz="3400"/>
              <a:t> 정규식과 메타 문자</a:t>
            </a:r>
            <a:endParaRPr lang="ko-KR" altLang="en-US" sz="3400" spc="-150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DA25C7FD-C313-4160-A0D8-72D60A22C1BD}"/>
              </a:ext>
            </a:extLst>
          </p:cNvPr>
          <p:cNvSpPr txBox="1"/>
          <p:nvPr/>
        </p:nvSpPr>
        <p:spPr>
          <a:xfrm>
            <a:off x="730903" y="1914243"/>
            <a:ext cx="11009639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ko-KR" altLang="en-US" sz="1500" b="1" i="0" u="none" strike="noStrike" dirty="0" err="1">
                <a:solidFill>
                  <a:srgbClr val="0070C0"/>
                </a:solidFill>
                <a:effectLst/>
                <a:latin typeface="Nanum Gothic"/>
              </a:rPr>
              <a:t>정규식</a:t>
            </a:r>
            <a:r>
              <a:rPr lang="en-US" altLang="ko-KR" sz="1500" b="1" i="0" u="none" strike="noStrike" baseline="30000" dirty="0">
                <a:solidFill>
                  <a:srgbClr val="0070C0"/>
                </a:solidFill>
                <a:effectLst/>
                <a:latin typeface="Nanum Gothic"/>
              </a:rPr>
              <a:t>regular expression</a:t>
            </a:r>
            <a:r>
              <a:rPr lang="ko-KR" altLang="en-US" sz="1500" b="0" i="0" u="none" strike="noStrike" dirty="0">
                <a:solidFill>
                  <a:srgbClr val="000000"/>
                </a:solidFill>
                <a:effectLst/>
                <a:latin typeface="Nanum Gothic"/>
              </a:rPr>
              <a:t>이란 특정한 규칙을 가지고 있는 문자열들을 표현하는데 사용되는 규칙을 가진 언어이다</a:t>
            </a:r>
            <a:r>
              <a:rPr lang="en-US" altLang="ko-KR" sz="1500" b="0" i="0" u="none" strike="noStrike" dirty="0">
                <a:solidFill>
                  <a:srgbClr val="000000"/>
                </a:solidFill>
                <a:effectLst/>
                <a:latin typeface="Nanum Gothic"/>
              </a:rPr>
              <a:t>.</a:t>
            </a:r>
            <a:endParaRPr lang="ko-KR" altLang="en-US" sz="1500" dirty="0"/>
          </a:p>
        </p:txBody>
      </p:sp>
      <p:pic>
        <p:nvPicPr>
          <p:cNvPr id="13" name="그림 12">
            <a:extLst>
              <a:ext uri="{FF2B5EF4-FFF2-40B4-BE49-F238E27FC236}">
                <a16:creationId xmlns:a16="http://schemas.microsoft.com/office/drawing/2014/main" id="{9AC44CAD-FD66-477A-8835-9205004AB6F5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24006"/>
          <a:stretch/>
        </p:blipFill>
        <p:spPr>
          <a:xfrm>
            <a:off x="830945" y="2711675"/>
            <a:ext cx="4795155" cy="1438571"/>
          </a:xfrm>
          <a:prstGeom prst="rect">
            <a:avLst/>
          </a:prstGeom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AD863A03-B98D-4983-94E9-4EF63173685C}"/>
              </a:ext>
            </a:extLst>
          </p:cNvPr>
          <p:cNvSpPr txBox="1"/>
          <p:nvPr/>
        </p:nvSpPr>
        <p:spPr>
          <a:xfrm>
            <a:off x="6658781" y="2501271"/>
            <a:ext cx="4148919" cy="7848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altLang="ko-KR" sz="1500" b="0" i="0" u="none" strike="noStrike" dirty="0">
              <a:solidFill>
                <a:srgbClr val="000000"/>
              </a:solidFill>
              <a:effectLst/>
              <a:latin typeface="Nanum Gothic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ko-KR" altLang="en-US" sz="1500"/>
              <a:t>파이썬에서 정규식을 사용하려면 </a:t>
            </a:r>
            <a:r>
              <a:rPr lang="en-US" altLang="ko-KR" sz="1500"/>
              <a:t>re </a:t>
            </a:r>
            <a:r>
              <a:rPr lang="ko-KR" altLang="en-US" sz="1500"/>
              <a:t>모듈을 포함시켜야 한다</a:t>
            </a:r>
            <a:r>
              <a:rPr lang="en-US" altLang="ko-KR" sz="1500"/>
              <a:t>.</a:t>
            </a:r>
            <a:endParaRPr lang="ko-KR" altLang="en-US" sz="1500" dirty="0"/>
          </a:p>
        </p:txBody>
      </p:sp>
      <p:pic>
        <p:nvPicPr>
          <p:cNvPr id="18" name="그림 17">
            <a:extLst>
              <a:ext uri="{FF2B5EF4-FFF2-40B4-BE49-F238E27FC236}">
                <a16:creationId xmlns:a16="http://schemas.microsoft.com/office/drawing/2014/main" id="{B12D9B34-830B-4BDA-8AA3-59F3A774E5E0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r="12231"/>
          <a:stretch/>
        </p:blipFill>
        <p:spPr>
          <a:xfrm>
            <a:off x="830945" y="4578123"/>
            <a:ext cx="6903355" cy="682601"/>
          </a:xfrm>
          <a:prstGeom prst="rect">
            <a:avLst/>
          </a:prstGeom>
        </p:spPr>
      </p:pic>
      <p:pic>
        <p:nvPicPr>
          <p:cNvPr id="19" name="그림 18">
            <a:extLst>
              <a:ext uri="{FF2B5EF4-FFF2-40B4-BE49-F238E27FC236}">
                <a16:creationId xmlns:a16="http://schemas.microsoft.com/office/drawing/2014/main" id="{F9808E0A-97AB-4CC6-BB99-14FE72FAFA47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t="2" r="12618" b="-2983"/>
          <a:stretch/>
        </p:blipFill>
        <p:spPr>
          <a:xfrm>
            <a:off x="830945" y="5467668"/>
            <a:ext cx="7004955" cy="647485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917AAD62-DD2B-4D2E-ACF4-51A5FA16F43E}"/>
              </a:ext>
            </a:extLst>
          </p:cNvPr>
          <p:cNvSpPr txBox="1"/>
          <p:nvPr/>
        </p:nvSpPr>
        <p:spPr>
          <a:xfrm>
            <a:off x="8031194" y="4637476"/>
            <a:ext cx="3709348" cy="12464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ko-KR" altLang="en-US" sz="1500" b="0" i="0" u="none" strike="noStrike">
                <a:solidFill>
                  <a:srgbClr val="000000"/>
                </a:solidFill>
                <a:effectLst/>
                <a:latin typeface="Nanum Gothic"/>
              </a:rPr>
              <a:t>이와 </a:t>
            </a:r>
            <a:r>
              <a:rPr lang="ko-KR" altLang="en-US" sz="1500" b="0" i="0" u="none" strike="noStrike" dirty="0">
                <a:solidFill>
                  <a:srgbClr val="000000"/>
                </a:solidFill>
                <a:effectLst/>
                <a:latin typeface="Nanum Gothic"/>
              </a:rPr>
              <a:t>같이 정규표현식에서 </a:t>
            </a:r>
            <a:r>
              <a:rPr lang="en-US" altLang="ko-KR" sz="1500" b="0" i="0" u="none" strike="noStrike" dirty="0">
                <a:solidFill>
                  <a:srgbClr val="FF0000"/>
                </a:solidFill>
                <a:effectLst/>
                <a:latin typeface="Consolas" panose="020B0609020204030204" pitchFamily="49" charset="0"/>
              </a:rPr>
              <a:t>[], -, |</a:t>
            </a:r>
            <a:r>
              <a:rPr lang="ko-KR" altLang="en-US" sz="1500" b="0" i="0" u="none" strike="noStrike" dirty="0">
                <a:solidFill>
                  <a:srgbClr val="000000"/>
                </a:solidFill>
                <a:effectLst/>
                <a:latin typeface="Nanum Gothic"/>
              </a:rPr>
              <a:t>와 같은 특별한 의미를 가지는 문자들을 사용하여 검색하거나 교체하기도 한다</a:t>
            </a:r>
            <a:r>
              <a:rPr lang="en-US" altLang="ko-KR" sz="1500" b="0" i="0" u="none" strike="noStrike" dirty="0">
                <a:solidFill>
                  <a:srgbClr val="000000"/>
                </a:solidFill>
                <a:effectLst/>
                <a:latin typeface="Nanum Gothic"/>
              </a:rPr>
              <a:t>. </a:t>
            </a:r>
            <a:r>
              <a:rPr lang="ko-KR" altLang="en-US" sz="1500" b="0" i="0" u="none" strike="noStrike" dirty="0">
                <a:solidFill>
                  <a:srgbClr val="000000"/>
                </a:solidFill>
                <a:effectLst/>
                <a:latin typeface="Nanum Gothic"/>
              </a:rPr>
              <a:t>이러한 특수한 용도의 문자를 </a:t>
            </a:r>
            <a:r>
              <a:rPr lang="ko-KR" altLang="en-US" sz="1500" b="1" i="0" u="none" strike="noStrike" dirty="0">
                <a:solidFill>
                  <a:srgbClr val="0070C0"/>
                </a:solidFill>
                <a:effectLst/>
                <a:latin typeface="Nanum Gothic"/>
              </a:rPr>
              <a:t>메타문자</a:t>
            </a:r>
            <a:r>
              <a:rPr lang="en-US" altLang="ko-KR" sz="1500" b="1" i="0" u="none" strike="noStrike" baseline="30000" dirty="0">
                <a:solidFill>
                  <a:srgbClr val="0070C0"/>
                </a:solidFill>
                <a:effectLst/>
                <a:latin typeface="Nanum Gothic"/>
              </a:rPr>
              <a:t>meta character</a:t>
            </a:r>
            <a:r>
              <a:rPr lang="ko-KR" altLang="en-US" sz="1500" b="0" i="0" u="none" strike="noStrike" dirty="0">
                <a:solidFill>
                  <a:srgbClr val="000000"/>
                </a:solidFill>
                <a:effectLst/>
                <a:latin typeface="Nanum Gothic"/>
              </a:rPr>
              <a:t>라고 한다</a:t>
            </a:r>
            <a:r>
              <a:rPr lang="en-US" altLang="ko-KR" sz="1500" b="0" i="0" u="none" strike="noStrike" dirty="0">
                <a:solidFill>
                  <a:srgbClr val="000000"/>
                </a:solidFill>
                <a:effectLst/>
                <a:latin typeface="Nanum Gothic"/>
              </a:rPr>
              <a:t>.</a:t>
            </a:r>
            <a:endParaRPr lang="ko-KR" altLang="en-US" sz="1500" dirty="0"/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565319B5-EA3A-4A95-9753-6237718D8012}"/>
              </a:ext>
            </a:extLst>
          </p:cNvPr>
          <p:cNvSpPr/>
          <p:nvPr/>
        </p:nvSpPr>
        <p:spPr>
          <a:xfrm>
            <a:off x="0" y="368950"/>
            <a:ext cx="3390900" cy="434310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2400">
                <a:latin typeface="나눔스퀘어라운드 Bold" panose="020B0600000101010101" pitchFamily="50" charset="-127"/>
                <a:ea typeface="나눔스퀘어라운드 Bold" panose="020B0600000101010101" pitchFamily="50" charset="-127"/>
              </a:rPr>
              <a:t>3. </a:t>
            </a:r>
            <a:r>
              <a:rPr lang="ko-KR" altLang="en-US" sz="2400" b="1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bg1"/>
                </a:solidFill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정규식과 메타 문자</a:t>
            </a:r>
            <a:endParaRPr lang="en-US" altLang="ko-KR" sz="2400" b="1">
              <a:ln>
                <a:solidFill>
                  <a:schemeClr val="accent1">
                    <a:alpha val="0"/>
                  </a:schemeClr>
                </a:solidFill>
              </a:ln>
              <a:solidFill>
                <a:schemeClr val="bg1"/>
              </a:solidFill>
              <a:latin typeface="나눔고딕 ExtraBold" panose="020D0904000000000000" pitchFamily="50" charset="-127"/>
              <a:ea typeface="나눔고딕 ExtraBold" panose="020D0904000000000000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09623757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E9A680AA-E171-4391-8687-BB20D46E56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181C0B-4F34-4975-8B09-35C2A8FA8398}" type="slidenum">
              <a:rPr lang="ko-KR" altLang="en-US" smtClean="0"/>
              <a:t>16</a:t>
            </a:fld>
            <a:endParaRPr lang="ko-KR" altLang="en-US"/>
          </a:p>
        </p:txBody>
      </p:sp>
      <p:sp>
        <p:nvSpPr>
          <p:cNvPr id="11" name="제목 1">
            <a:extLst>
              <a:ext uri="{FF2B5EF4-FFF2-40B4-BE49-F238E27FC236}">
                <a16:creationId xmlns:a16="http://schemas.microsoft.com/office/drawing/2014/main" id="{745BBBFD-EA19-4B7D-8B4B-F2259D4CE0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1458" y="865550"/>
            <a:ext cx="11057592" cy="1325563"/>
          </a:xfrm>
        </p:spPr>
        <p:txBody>
          <a:bodyPr>
            <a:normAutofit/>
          </a:bodyPr>
          <a:lstStyle/>
          <a:p>
            <a:pPr fontAlgn="base"/>
            <a:r>
              <a:rPr lang="ko-KR" altLang="en-US" sz="3400" spc="-150"/>
              <a:t>▶</a:t>
            </a:r>
            <a:r>
              <a:rPr lang="ko-KR" altLang="en-US" sz="3400"/>
              <a:t> 정규식과 메타 문자</a:t>
            </a:r>
            <a:endParaRPr lang="ko-KR" altLang="en-US" sz="3400" spc="-150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DA25C7FD-C313-4160-A0D8-72D60A22C1BD}"/>
              </a:ext>
            </a:extLst>
          </p:cNvPr>
          <p:cNvSpPr txBox="1"/>
          <p:nvPr/>
        </p:nvSpPr>
        <p:spPr>
          <a:xfrm>
            <a:off x="730903" y="1914243"/>
            <a:ext cx="11009639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ko-KR" altLang="en-US" sz="1500" b="1" i="0" u="none" strike="noStrike" dirty="0" err="1">
                <a:solidFill>
                  <a:srgbClr val="0070C0"/>
                </a:solidFill>
                <a:effectLst/>
                <a:latin typeface="Nanum Gothic"/>
              </a:rPr>
              <a:t>정규식</a:t>
            </a:r>
            <a:r>
              <a:rPr lang="en-US" altLang="ko-KR" sz="1500" b="1" i="0" u="none" strike="noStrike" baseline="30000" dirty="0">
                <a:solidFill>
                  <a:srgbClr val="0070C0"/>
                </a:solidFill>
                <a:effectLst/>
                <a:latin typeface="Nanum Gothic"/>
              </a:rPr>
              <a:t>regular expression</a:t>
            </a:r>
            <a:r>
              <a:rPr lang="ko-KR" altLang="en-US" sz="1500" b="0" i="0" u="none" strike="noStrike" dirty="0">
                <a:solidFill>
                  <a:srgbClr val="000000"/>
                </a:solidFill>
                <a:effectLst/>
                <a:latin typeface="Nanum Gothic"/>
              </a:rPr>
              <a:t>이란 특정한 규칙을 가지고 있는 문자열들을 표현하는데 사용되는 규칙을 가진 언어이다</a:t>
            </a:r>
            <a:r>
              <a:rPr lang="en-US" altLang="ko-KR" sz="1500" b="0" i="0" u="none" strike="noStrike" dirty="0">
                <a:solidFill>
                  <a:srgbClr val="000000"/>
                </a:solidFill>
                <a:effectLst/>
                <a:latin typeface="Nanum Gothic"/>
              </a:rPr>
              <a:t>.</a:t>
            </a:r>
            <a:endParaRPr lang="ko-KR" altLang="en-US" sz="1500" dirty="0"/>
          </a:p>
        </p:txBody>
      </p:sp>
      <p:pic>
        <p:nvPicPr>
          <p:cNvPr id="13" name="그림 12">
            <a:extLst>
              <a:ext uri="{FF2B5EF4-FFF2-40B4-BE49-F238E27FC236}">
                <a16:creationId xmlns:a16="http://schemas.microsoft.com/office/drawing/2014/main" id="{9AC44CAD-FD66-477A-8835-9205004AB6F5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24006"/>
          <a:stretch/>
        </p:blipFill>
        <p:spPr>
          <a:xfrm>
            <a:off x="830945" y="2711675"/>
            <a:ext cx="4795155" cy="1438571"/>
          </a:xfrm>
          <a:prstGeom prst="rect">
            <a:avLst/>
          </a:prstGeom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AD863A03-B98D-4983-94E9-4EF63173685C}"/>
              </a:ext>
            </a:extLst>
          </p:cNvPr>
          <p:cNvSpPr txBox="1"/>
          <p:nvPr/>
        </p:nvSpPr>
        <p:spPr>
          <a:xfrm>
            <a:off x="6658781" y="2501271"/>
            <a:ext cx="4148919" cy="7848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altLang="ko-KR" sz="1500" b="0" i="0" u="none" strike="noStrike" dirty="0">
              <a:solidFill>
                <a:srgbClr val="000000"/>
              </a:solidFill>
              <a:effectLst/>
              <a:latin typeface="Nanum Gothic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ko-KR" altLang="en-US" sz="1500"/>
              <a:t>파이썬에서 정규식을 사용하려면 </a:t>
            </a:r>
            <a:r>
              <a:rPr lang="en-US" altLang="ko-KR" sz="1500"/>
              <a:t>re </a:t>
            </a:r>
            <a:r>
              <a:rPr lang="ko-KR" altLang="en-US" sz="1500"/>
              <a:t>모듈을 포함시켜야 한다</a:t>
            </a:r>
            <a:r>
              <a:rPr lang="en-US" altLang="ko-KR" sz="1500"/>
              <a:t>.</a:t>
            </a:r>
            <a:endParaRPr lang="ko-KR" altLang="en-US" sz="1500" dirty="0"/>
          </a:p>
        </p:txBody>
      </p:sp>
      <p:pic>
        <p:nvPicPr>
          <p:cNvPr id="18" name="그림 17">
            <a:extLst>
              <a:ext uri="{FF2B5EF4-FFF2-40B4-BE49-F238E27FC236}">
                <a16:creationId xmlns:a16="http://schemas.microsoft.com/office/drawing/2014/main" id="{B12D9B34-830B-4BDA-8AA3-59F3A774E5E0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r="12231"/>
          <a:stretch/>
        </p:blipFill>
        <p:spPr>
          <a:xfrm>
            <a:off x="830945" y="4578123"/>
            <a:ext cx="6903355" cy="682601"/>
          </a:xfrm>
          <a:prstGeom prst="rect">
            <a:avLst/>
          </a:prstGeom>
        </p:spPr>
      </p:pic>
      <p:pic>
        <p:nvPicPr>
          <p:cNvPr id="19" name="그림 18">
            <a:extLst>
              <a:ext uri="{FF2B5EF4-FFF2-40B4-BE49-F238E27FC236}">
                <a16:creationId xmlns:a16="http://schemas.microsoft.com/office/drawing/2014/main" id="{F9808E0A-97AB-4CC6-BB99-14FE72FAFA47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t="2" r="12618" b="-2983"/>
          <a:stretch/>
        </p:blipFill>
        <p:spPr>
          <a:xfrm>
            <a:off x="830945" y="5467668"/>
            <a:ext cx="7004955" cy="647485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917AAD62-DD2B-4D2E-ACF4-51A5FA16F43E}"/>
              </a:ext>
            </a:extLst>
          </p:cNvPr>
          <p:cNvSpPr txBox="1"/>
          <p:nvPr/>
        </p:nvSpPr>
        <p:spPr>
          <a:xfrm>
            <a:off x="8031194" y="4637476"/>
            <a:ext cx="3709348" cy="12464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ko-KR" altLang="en-US" sz="1500" b="0" i="0" u="none" strike="noStrike">
                <a:solidFill>
                  <a:srgbClr val="000000"/>
                </a:solidFill>
                <a:effectLst/>
                <a:latin typeface="Nanum Gothic"/>
              </a:rPr>
              <a:t>이와 </a:t>
            </a:r>
            <a:r>
              <a:rPr lang="ko-KR" altLang="en-US" sz="1500" b="0" i="0" u="none" strike="noStrike" dirty="0">
                <a:solidFill>
                  <a:srgbClr val="000000"/>
                </a:solidFill>
                <a:effectLst/>
                <a:latin typeface="Nanum Gothic"/>
              </a:rPr>
              <a:t>같이 정규표현식에서 </a:t>
            </a:r>
            <a:r>
              <a:rPr lang="en-US" altLang="ko-KR" sz="1500" b="0" i="0" u="none" strike="noStrike" dirty="0">
                <a:solidFill>
                  <a:srgbClr val="FF0000"/>
                </a:solidFill>
                <a:effectLst/>
                <a:latin typeface="Consolas" panose="020B0609020204030204" pitchFamily="49" charset="0"/>
              </a:rPr>
              <a:t>[], -, |</a:t>
            </a:r>
            <a:r>
              <a:rPr lang="ko-KR" altLang="en-US" sz="1500" b="0" i="0" u="none" strike="noStrike" dirty="0">
                <a:solidFill>
                  <a:srgbClr val="000000"/>
                </a:solidFill>
                <a:effectLst/>
                <a:latin typeface="Nanum Gothic"/>
              </a:rPr>
              <a:t>와 같은 특별한 의미를 가지는 문자들을 사용하여 검색하거나 교체하기도 한다</a:t>
            </a:r>
            <a:r>
              <a:rPr lang="en-US" altLang="ko-KR" sz="1500" b="0" i="0" u="none" strike="noStrike" dirty="0">
                <a:solidFill>
                  <a:srgbClr val="000000"/>
                </a:solidFill>
                <a:effectLst/>
                <a:latin typeface="Nanum Gothic"/>
              </a:rPr>
              <a:t>. </a:t>
            </a:r>
            <a:r>
              <a:rPr lang="ko-KR" altLang="en-US" sz="1500" b="0" i="0" u="none" strike="noStrike" dirty="0">
                <a:solidFill>
                  <a:srgbClr val="000000"/>
                </a:solidFill>
                <a:effectLst/>
                <a:latin typeface="Nanum Gothic"/>
              </a:rPr>
              <a:t>이러한 특수한 용도의 문자를 </a:t>
            </a:r>
            <a:r>
              <a:rPr lang="ko-KR" altLang="en-US" sz="1500" b="1" i="0" u="none" strike="noStrike" dirty="0">
                <a:solidFill>
                  <a:srgbClr val="0070C0"/>
                </a:solidFill>
                <a:effectLst/>
                <a:latin typeface="Nanum Gothic"/>
              </a:rPr>
              <a:t>메타문자</a:t>
            </a:r>
            <a:r>
              <a:rPr lang="en-US" altLang="ko-KR" sz="1500" b="1" i="0" u="none" strike="noStrike" baseline="30000" dirty="0">
                <a:solidFill>
                  <a:srgbClr val="0070C0"/>
                </a:solidFill>
                <a:effectLst/>
                <a:latin typeface="Nanum Gothic"/>
              </a:rPr>
              <a:t>meta character</a:t>
            </a:r>
            <a:r>
              <a:rPr lang="ko-KR" altLang="en-US" sz="1500" b="0" i="0" u="none" strike="noStrike" dirty="0">
                <a:solidFill>
                  <a:srgbClr val="000000"/>
                </a:solidFill>
                <a:effectLst/>
                <a:latin typeface="Nanum Gothic"/>
              </a:rPr>
              <a:t>라고 한다</a:t>
            </a:r>
            <a:r>
              <a:rPr lang="en-US" altLang="ko-KR" sz="1500" b="0" i="0" u="none" strike="noStrike" dirty="0">
                <a:solidFill>
                  <a:srgbClr val="000000"/>
                </a:solidFill>
                <a:effectLst/>
                <a:latin typeface="Nanum Gothic"/>
              </a:rPr>
              <a:t>.</a:t>
            </a:r>
            <a:endParaRPr lang="ko-KR" altLang="en-US" sz="1500" dirty="0"/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443510C8-297D-4DBE-B476-F44B423A800B}"/>
              </a:ext>
            </a:extLst>
          </p:cNvPr>
          <p:cNvSpPr/>
          <p:nvPr/>
        </p:nvSpPr>
        <p:spPr>
          <a:xfrm>
            <a:off x="0" y="308537"/>
            <a:ext cx="3390900" cy="434310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2400">
                <a:latin typeface="나눔스퀘어라운드 Bold" panose="020B0600000101010101" pitchFamily="50" charset="-127"/>
                <a:ea typeface="나눔스퀘어라운드 Bold" panose="020B0600000101010101" pitchFamily="50" charset="-127"/>
              </a:rPr>
              <a:t>3. </a:t>
            </a:r>
            <a:r>
              <a:rPr lang="ko-KR" altLang="en-US" sz="2400" b="1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bg1"/>
                </a:solidFill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정규식과 메타 문자</a:t>
            </a:r>
            <a:endParaRPr lang="en-US" altLang="ko-KR" sz="2400" b="1">
              <a:ln>
                <a:solidFill>
                  <a:schemeClr val="accent1">
                    <a:alpha val="0"/>
                  </a:schemeClr>
                </a:solidFill>
              </a:ln>
              <a:solidFill>
                <a:schemeClr val="bg1"/>
              </a:solidFill>
              <a:latin typeface="나눔고딕 ExtraBold" panose="020D0904000000000000" pitchFamily="50" charset="-127"/>
              <a:ea typeface="나눔고딕 ExtraBold" panose="020D0904000000000000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12901501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E9A680AA-E171-4391-8687-BB20D46E56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181C0B-4F34-4975-8B09-35C2A8FA8398}" type="slidenum">
              <a:rPr lang="ko-KR" altLang="en-US" smtClean="0"/>
              <a:t>17</a:t>
            </a:fld>
            <a:endParaRPr lang="ko-KR" altLang="en-US"/>
          </a:p>
        </p:txBody>
      </p:sp>
      <p:sp>
        <p:nvSpPr>
          <p:cNvPr id="11" name="제목 1">
            <a:extLst>
              <a:ext uri="{FF2B5EF4-FFF2-40B4-BE49-F238E27FC236}">
                <a16:creationId xmlns:a16="http://schemas.microsoft.com/office/drawing/2014/main" id="{745BBBFD-EA19-4B7D-8B4B-F2259D4CE0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1458" y="865550"/>
            <a:ext cx="11057592" cy="1325563"/>
          </a:xfrm>
        </p:spPr>
        <p:txBody>
          <a:bodyPr>
            <a:normAutofit/>
          </a:bodyPr>
          <a:lstStyle/>
          <a:p>
            <a:pPr fontAlgn="base"/>
            <a:r>
              <a:rPr lang="ko-KR" altLang="en-US" sz="3400" spc="-150"/>
              <a:t>▶</a:t>
            </a:r>
            <a:r>
              <a:rPr lang="ko-KR" altLang="en-US" sz="3400"/>
              <a:t> 정규식과 메타 문자</a:t>
            </a:r>
            <a:endParaRPr lang="ko-KR" altLang="en-US" sz="3400" spc="-150" dirty="0"/>
          </a:p>
        </p:txBody>
      </p:sp>
      <p:pic>
        <p:nvPicPr>
          <p:cNvPr id="14" name="그림 13">
            <a:extLst>
              <a:ext uri="{FF2B5EF4-FFF2-40B4-BE49-F238E27FC236}">
                <a16:creationId xmlns:a16="http://schemas.microsoft.com/office/drawing/2014/main" id="{C0AF7FFA-51B6-48CD-8EFA-9A96DBAE7B4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27579" y="2191113"/>
            <a:ext cx="5827012" cy="1548517"/>
          </a:xfrm>
          <a:prstGeom prst="rect">
            <a:avLst/>
          </a:prstGeom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1E2FCDE3-0159-40F6-A91C-E5876F85574F}"/>
              </a:ext>
            </a:extLst>
          </p:cNvPr>
          <p:cNvSpPr txBox="1"/>
          <p:nvPr/>
        </p:nvSpPr>
        <p:spPr>
          <a:xfrm>
            <a:off x="7305428" y="2191113"/>
            <a:ext cx="3958993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ko-KR" altLang="en-US" sz="1500" b="0" i="0" u="none" strike="noStrike">
                <a:solidFill>
                  <a:srgbClr val="000000"/>
                </a:solidFill>
                <a:effectLst/>
                <a:latin typeface="Nanum Gothic"/>
              </a:rPr>
              <a:t>첫 </a:t>
            </a:r>
            <a:r>
              <a:rPr lang="ko-KR" altLang="en-US" sz="1500" b="0" i="0" u="none" strike="noStrike" dirty="0">
                <a:solidFill>
                  <a:srgbClr val="000000"/>
                </a:solidFill>
                <a:effectLst/>
                <a:latin typeface="Nanum Gothic"/>
              </a:rPr>
              <a:t>문자를 의미하는 </a:t>
            </a:r>
            <a:r>
              <a:rPr lang="ko-KR" altLang="en-US" sz="1500" b="0" i="0" u="none" strike="noStrike">
                <a:solidFill>
                  <a:srgbClr val="000000"/>
                </a:solidFill>
                <a:effectLst/>
                <a:latin typeface="Nanum Gothic"/>
              </a:rPr>
              <a:t>문자인 </a:t>
            </a:r>
            <a:r>
              <a:rPr lang="en-US" altLang="ko-KR" sz="1500" b="0" i="0" u="none" strike="noStrike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^</a:t>
            </a:r>
            <a:endParaRPr lang="ko-KR" altLang="en-US" sz="1500" dirty="0"/>
          </a:p>
        </p:txBody>
      </p:sp>
      <p:pic>
        <p:nvPicPr>
          <p:cNvPr id="17" name="그림 16">
            <a:extLst>
              <a:ext uri="{FF2B5EF4-FFF2-40B4-BE49-F238E27FC236}">
                <a16:creationId xmlns:a16="http://schemas.microsoft.com/office/drawing/2014/main" id="{7BBC3F7C-C1CF-4BEA-B519-A2548FD40B8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27580" y="4169718"/>
            <a:ext cx="7205986" cy="1325563"/>
          </a:xfrm>
          <a:prstGeom prst="rect">
            <a:avLst/>
          </a:prstGeom>
        </p:spPr>
      </p:pic>
      <p:sp>
        <p:nvSpPr>
          <p:cNvPr id="20" name="TextBox 19">
            <a:extLst>
              <a:ext uri="{FF2B5EF4-FFF2-40B4-BE49-F238E27FC236}">
                <a16:creationId xmlns:a16="http://schemas.microsoft.com/office/drawing/2014/main" id="{2A1E7308-2BF4-4F65-9B38-A0A00AEC1EDB}"/>
              </a:ext>
            </a:extLst>
          </p:cNvPr>
          <p:cNvSpPr txBox="1"/>
          <p:nvPr/>
        </p:nvSpPr>
        <p:spPr>
          <a:xfrm>
            <a:off x="8334128" y="4226126"/>
            <a:ext cx="3958993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ko-KR" altLang="en-US" sz="1500">
                <a:solidFill>
                  <a:srgbClr val="000000"/>
                </a:solidFill>
                <a:latin typeface="Nanum Gothic"/>
              </a:rPr>
              <a:t>마지막 문자를 의미하는 문자인 </a:t>
            </a:r>
            <a:r>
              <a:rPr lang="en-US" altLang="ko-KR" sz="1500">
                <a:solidFill>
                  <a:srgbClr val="000000"/>
                </a:solidFill>
                <a:latin typeface="Nanum Gothic"/>
              </a:rPr>
              <a:t>$</a:t>
            </a:r>
            <a:endParaRPr lang="ko-KR" altLang="en-US" sz="1500" dirty="0"/>
          </a:p>
        </p:txBody>
      </p:sp>
      <p:sp>
        <p:nvSpPr>
          <p:cNvPr id="21" name="직사각형 20">
            <a:extLst>
              <a:ext uri="{FF2B5EF4-FFF2-40B4-BE49-F238E27FC236}">
                <a16:creationId xmlns:a16="http://schemas.microsoft.com/office/drawing/2014/main" id="{AE207514-FC56-4E02-8076-E157CD36512E}"/>
              </a:ext>
            </a:extLst>
          </p:cNvPr>
          <p:cNvSpPr/>
          <p:nvPr/>
        </p:nvSpPr>
        <p:spPr>
          <a:xfrm>
            <a:off x="0" y="308537"/>
            <a:ext cx="3390900" cy="434310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2400">
                <a:latin typeface="나눔스퀘어라운드 Bold" panose="020B0600000101010101" pitchFamily="50" charset="-127"/>
                <a:ea typeface="나눔스퀘어라운드 Bold" panose="020B0600000101010101" pitchFamily="50" charset="-127"/>
              </a:rPr>
              <a:t>3. </a:t>
            </a:r>
            <a:r>
              <a:rPr lang="ko-KR" altLang="en-US" sz="2400" b="1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bg1"/>
                </a:solidFill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정규식과 메타 문자</a:t>
            </a:r>
            <a:endParaRPr lang="en-US" altLang="ko-KR" sz="2400" b="1">
              <a:ln>
                <a:solidFill>
                  <a:schemeClr val="accent1">
                    <a:alpha val="0"/>
                  </a:schemeClr>
                </a:solidFill>
              </a:ln>
              <a:solidFill>
                <a:schemeClr val="bg1"/>
              </a:solidFill>
              <a:latin typeface="나눔고딕 ExtraBold" panose="020D0904000000000000" pitchFamily="50" charset="-127"/>
              <a:ea typeface="나눔고딕 ExtraBold" panose="020D0904000000000000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68448173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E9A680AA-E171-4391-8687-BB20D46E56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181C0B-4F34-4975-8B09-35C2A8FA8398}" type="slidenum">
              <a:rPr lang="ko-KR" altLang="en-US" smtClean="0"/>
              <a:t>18</a:t>
            </a:fld>
            <a:endParaRPr lang="ko-KR" altLang="en-US"/>
          </a:p>
        </p:txBody>
      </p:sp>
      <p:sp>
        <p:nvSpPr>
          <p:cNvPr id="11" name="제목 1">
            <a:extLst>
              <a:ext uri="{FF2B5EF4-FFF2-40B4-BE49-F238E27FC236}">
                <a16:creationId xmlns:a16="http://schemas.microsoft.com/office/drawing/2014/main" id="{745BBBFD-EA19-4B7D-8B4B-F2259D4CE0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1458" y="865550"/>
            <a:ext cx="11057592" cy="1325563"/>
          </a:xfrm>
        </p:spPr>
        <p:txBody>
          <a:bodyPr>
            <a:normAutofit/>
          </a:bodyPr>
          <a:lstStyle/>
          <a:p>
            <a:pPr fontAlgn="base"/>
            <a:r>
              <a:rPr lang="ko-KR" altLang="en-US" sz="3400" spc="-150"/>
              <a:t>▶</a:t>
            </a:r>
            <a:r>
              <a:rPr lang="ko-KR" altLang="en-US" sz="3400"/>
              <a:t> 정규식과 메타 문자</a:t>
            </a:r>
            <a:endParaRPr lang="ko-KR" altLang="en-US" sz="3400" spc="-150" dirty="0"/>
          </a:p>
        </p:txBody>
      </p:sp>
      <p:sp>
        <p:nvSpPr>
          <p:cNvPr id="21" name="직사각형 20">
            <a:extLst>
              <a:ext uri="{FF2B5EF4-FFF2-40B4-BE49-F238E27FC236}">
                <a16:creationId xmlns:a16="http://schemas.microsoft.com/office/drawing/2014/main" id="{AE207514-FC56-4E02-8076-E157CD36512E}"/>
              </a:ext>
            </a:extLst>
          </p:cNvPr>
          <p:cNvSpPr/>
          <p:nvPr/>
        </p:nvSpPr>
        <p:spPr>
          <a:xfrm>
            <a:off x="0" y="308537"/>
            <a:ext cx="3390900" cy="434310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2400">
                <a:latin typeface="나눔스퀘어라운드 Bold" panose="020B0600000101010101" pitchFamily="50" charset="-127"/>
                <a:ea typeface="나눔스퀘어라운드 Bold" panose="020B0600000101010101" pitchFamily="50" charset="-127"/>
              </a:rPr>
              <a:t>3. </a:t>
            </a:r>
            <a:r>
              <a:rPr lang="ko-KR" altLang="en-US" sz="2400" b="1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bg1"/>
                </a:solidFill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정규식과 메타 문자</a:t>
            </a:r>
            <a:endParaRPr lang="en-US" altLang="ko-KR" sz="2400" b="1">
              <a:ln>
                <a:solidFill>
                  <a:schemeClr val="accent1">
                    <a:alpha val="0"/>
                  </a:schemeClr>
                </a:solidFill>
              </a:ln>
              <a:solidFill>
                <a:schemeClr val="bg1"/>
              </a:solidFill>
              <a:latin typeface="나눔고딕 ExtraBold" panose="020D0904000000000000" pitchFamily="50" charset="-127"/>
              <a:ea typeface="나눔고딕 ExtraBold" panose="020D0904000000000000" pitchFamily="50" charset="-127"/>
            </a:endParaRPr>
          </a:p>
        </p:txBody>
      </p:sp>
      <p:pic>
        <p:nvPicPr>
          <p:cNvPr id="12" name="그림 11">
            <a:extLst>
              <a:ext uri="{FF2B5EF4-FFF2-40B4-BE49-F238E27FC236}">
                <a16:creationId xmlns:a16="http://schemas.microsoft.com/office/drawing/2014/main" id="{ABA38812-085A-4378-80CD-939CC9603B0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3369" y="2386310"/>
            <a:ext cx="6726290" cy="3265190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0F15A32C-8CB1-4B04-9B24-0C0B55460840}"/>
              </a:ext>
            </a:extLst>
          </p:cNvPr>
          <p:cNvSpPr txBox="1"/>
          <p:nvPr/>
        </p:nvSpPr>
        <p:spPr>
          <a:xfrm>
            <a:off x="7885553" y="2387689"/>
            <a:ext cx="4193293" cy="16312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ko-KR" altLang="en-US" sz="2000" b="0" i="0" u="none" strike="noStrike" dirty="0">
                <a:solidFill>
                  <a:srgbClr val="000000"/>
                </a:solidFill>
                <a:effectLst/>
                <a:latin typeface="Nanum Gothic"/>
              </a:rPr>
              <a:t>메타 문자 중에서 가장 중요한 문자는 점</a:t>
            </a:r>
            <a:r>
              <a:rPr lang="en-US" altLang="ko-KR" sz="2000" b="0" i="0" u="none" strike="noStrike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(.)</a:t>
            </a:r>
            <a:r>
              <a:rPr lang="ko-KR" altLang="en-US" sz="2000" b="0" i="0" u="none" strike="noStrike" dirty="0">
                <a:solidFill>
                  <a:srgbClr val="000000"/>
                </a:solidFill>
                <a:effectLst/>
                <a:latin typeface="Nanum Gothic"/>
              </a:rPr>
              <a:t>과 별표</a:t>
            </a:r>
            <a:r>
              <a:rPr lang="en-US" altLang="ko-KR" sz="2000" b="0" i="0" u="none" strike="noStrike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(*)</a:t>
            </a:r>
            <a:r>
              <a:rPr lang="ko-KR" altLang="en-US" sz="2000" b="0" i="0" u="none" strike="noStrike" dirty="0">
                <a:solidFill>
                  <a:srgbClr val="000000"/>
                </a:solidFill>
                <a:effectLst/>
                <a:latin typeface="Nanum Gothic"/>
              </a:rPr>
              <a:t>이다</a:t>
            </a:r>
            <a:r>
              <a:rPr lang="en-US" altLang="ko-KR" sz="2000" b="0" i="0" u="none" strike="noStrike" dirty="0">
                <a:solidFill>
                  <a:srgbClr val="000000"/>
                </a:solidFill>
                <a:effectLst/>
                <a:latin typeface="Nanum Gothic"/>
              </a:rPr>
              <a:t>. </a:t>
            </a:r>
            <a:r>
              <a:rPr lang="ko-KR" altLang="en-US" sz="2000" b="0" i="0" u="none" strike="noStrike" dirty="0">
                <a:solidFill>
                  <a:srgbClr val="000000"/>
                </a:solidFill>
                <a:effectLst/>
                <a:latin typeface="Nanum Gothic"/>
              </a:rPr>
              <a:t>점은 어떤 문자가 와도 상관없다는 의미이고 별표는 몇 번 반복되어도 상관없다는 것을 의미한다</a:t>
            </a:r>
            <a:r>
              <a:rPr lang="en-US" altLang="ko-KR" sz="2000" b="0" i="0" u="none" strike="noStrike" dirty="0">
                <a:solidFill>
                  <a:srgbClr val="000000"/>
                </a:solidFill>
                <a:effectLst/>
                <a:latin typeface="Nanum Gothic"/>
              </a:rPr>
              <a:t>.</a:t>
            </a:r>
            <a:endParaRPr lang="ko-KR" altLang="en-US" sz="2000" dirty="0"/>
          </a:p>
        </p:txBody>
      </p:sp>
    </p:spTree>
    <p:extLst>
      <p:ext uri="{BB962C8B-B14F-4D97-AF65-F5344CB8AC3E}">
        <p14:creationId xmlns:p14="http://schemas.microsoft.com/office/powerpoint/2010/main" val="1505129643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E9A680AA-E171-4391-8687-BB20D46E56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181C0B-4F34-4975-8B09-35C2A8FA8398}" type="slidenum">
              <a:rPr lang="ko-KR" altLang="en-US" smtClean="0"/>
              <a:t>19</a:t>
            </a:fld>
            <a:endParaRPr lang="ko-KR" altLang="en-US"/>
          </a:p>
        </p:txBody>
      </p:sp>
      <p:sp>
        <p:nvSpPr>
          <p:cNvPr id="11" name="제목 1">
            <a:extLst>
              <a:ext uri="{FF2B5EF4-FFF2-40B4-BE49-F238E27FC236}">
                <a16:creationId xmlns:a16="http://schemas.microsoft.com/office/drawing/2014/main" id="{745BBBFD-EA19-4B7D-8B4B-F2259D4CE0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1458" y="865550"/>
            <a:ext cx="11057592" cy="1325563"/>
          </a:xfrm>
        </p:spPr>
        <p:txBody>
          <a:bodyPr>
            <a:normAutofit/>
          </a:bodyPr>
          <a:lstStyle/>
          <a:p>
            <a:pPr fontAlgn="base"/>
            <a:r>
              <a:rPr lang="ko-KR" altLang="en-US" sz="3400" spc="-150"/>
              <a:t>▶</a:t>
            </a:r>
            <a:r>
              <a:rPr lang="ko-KR" altLang="en-US" sz="3400"/>
              <a:t> 정규식과 메타 문자</a:t>
            </a:r>
            <a:endParaRPr lang="ko-KR" altLang="en-US" sz="3400" spc="-150" dirty="0"/>
          </a:p>
        </p:txBody>
      </p:sp>
      <p:sp>
        <p:nvSpPr>
          <p:cNvPr id="21" name="직사각형 20">
            <a:extLst>
              <a:ext uri="{FF2B5EF4-FFF2-40B4-BE49-F238E27FC236}">
                <a16:creationId xmlns:a16="http://schemas.microsoft.com/office/drawing/2014/main" id="{AE207514-FC56-4E02-8076-E157CD36512E}"/>
              </a:ext>
            </a:extLst>
          </p:cNvPr>
          <p:cNvSpPr/>
          <p:nvPr/>
        </p:nvSpPr>
        <p:spPr>
          <a:xfrm>
            <a:off x="0" y="308537"/>
            <a:ext cx="3390900" cy="434310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2400">
                <a:latin typeface="나눔스퀘어라운드 Bold" panose="020B0600000101010101" pitchFamily="50" charset="-127"/>
                <a:ea typeface="나눔스퀘어라운드 Bold" panose="020B0600000101010101" pitchFamily="50" charset="-127"/>
              </a:rPr>
              <a:t>3. </a:t>
            </a:r>
            <a:r>
              <a:rPr lang="ko-KR" altLang="en-US" sz="2400" b="1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bg1"/>
                </a:solidFill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정규식과 메타 문자</a:t>
            </a:r>
            <a:endParaRPr lang="en-US" altLang="ko-KR" sz="2400" b="1">
              <a:ln>
                <a:solidFill>
                  <a:schemeClr val="accent1">
                    <a:alpha val="0"/>
                  </a:schemeClr>
                </a:solidFill>
              </a:ln>
              <a:solidFill>
                <a:schemeClr val="bg1"/>
              </a:solidFill>
              <a:latin typeface="나눔고딕 ExtraBold" panose="020D0904000000000000" pitchFamily="50" charset="-127"/>
              <a:ea typeface="나눔고딕 ExtraBold" panose="020D0904000000000000" pitchFamily="50" charset="-127"/>
            </a:endParaRPr>
          </a:p>
        </p:txBody>
      </p:sp>
      <p:pic>
        <p:nvPicPr>
          <p:cNvPr id="7" name="Picture 2">
            <a:extLst>
              <a:ext uri="{FF2B5EF4-FFF2-40B4-BE49-F238E27FC236}">
                <a16:creationId xmlns:a16="http://schemas.microsoft.com/office/drawing/2014/main" id="{2945CA16-83CC-4A8E-A437-A60C0274441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214880" y="1849318"/>
            <a:ext cx="2998574" cy="259632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" name="그림 7">
            <a:extLst>
              <a:ext uri="{FF2B5EF4-FFF2-40B4-BE49-F238E27FC236}">
                <a16:creationId xmlns:a16="http://schemas.microsoft.com/office/drawing/2014/main" id="{AB2A875A-3DA2-4CF9-B362-CEBE4604860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7256" y="4812882"/>
            <a:ext cx="9774014" cy="1438476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77453E2A-ACB0-444D-99E9-B507E59B95D8}"/>
              </a:ext>
            </a:extLst>
          </p:cNvPr>
          <p:cNvSpPr txBox="1"/>
          <p:nvPr/>
        </p:nvSpPr>
        <p:spPr>
          <a:xfrm>
            <a:off x="583504" y="2313816"/>
            <a:ext cx="7098858" cy="16312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ko-KR" altLang="en-US" sz="2000" b="0" i="0" u="none" strike="noStrike" dirty="0">
                <a:solidFill>
                  <a:srgbClr val="000000"/>
                </a:solidFill>
                <a:effectLst/>
                <a:latin typeface="Nanum Gothic"/>
              </a:rPr>
              <a:t>점</a:t>
            </a:r>
            <a:r>
              <a:rPr lang="en-US" altLang="ko-KR" sz="2000" b="0" i="0" u="none" strike="noStrike">
                <a:solidFill>
                  <a:srgbClr val="000000"/>
                </a:solidFill>
                <a:effectLst/>
                <a:latin typeface="Nanum Gothic"/>
              </a:rPr>
              <a:t>(.) </a:t>
            </a:r>
            <a:r>
              <a:rPr lang="ko-KR" altLang="en-US" sz="2000" b="0" i="0" u="none" strike="noStrike">
                <a:solidFill>
                  <a:srgbClr val="000000"/>
                </a:solidFill>
                <a:effectLst/>
                <a:latin typeface="Nanum Gothic"/>
              </a:rPr>
              <a:t>메타문자</a:t>
            </a:r>
            <a:endParaRPr lang="en-US" altLang="ko-KR" sz="2000" b="0" i="0" u="none" strike="noStrike" dirty="0">
              <a:solidFill>
                <a:srgbClr val="000000"/>
              </a:solidFill>
              <a:effectLst/>
              <a:latin typeface="Nanum Gothic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ko-KR" altLang="en-US" sz="2000" b="0" i="0" u="none" strike="noStrike" dirty="0">
                <a:solidFill>
                  <a:srgbClr val="000000"/>
                </a:solidFill>
                <a:effectLst/>
                <a:latin typeface="Nanum Gothic"/>
              </a:rPr>
              <a:t>이 문자는 임의의 문자 한 개를 의미하는 메타 문자이다</a:t>
            </a:r>
            <a:r>
              <a:rPr lang="en-US" altLang="ko-KR" sz="2000" b="0" i="0" u="none" strike="noStrike" dirty="0">
                <a:solidFill>
                  <a:srgbClr val="000000"/>
                </a:solidFill>
                <a:effectLst/>
                <a:latin typeface="Nanum Gothic"/>
              </a:rPr>
              <a:t>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ko-KR" altLang="en-US" sz="2000" b="0" i="0" u="none" strike="noStrike" dirty="0">
                <a:solidFill>
                  <a:srgbClr val="000000"/>
                </a:solidFill>
                <a:effectLst/>
                <a:latin typeface="Nanum Gothic"/>
              </a:rPr>
              <a:t>예를 들어 </a:t>
            </a:r>
            <a:r>
              <a:rPr lang="en-US" altLang="ko-KR" sz="2000" b="0" i="0" u="none" strike="noStrike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ABA</a:t>
            </a:r>
            <a:r>
              <a:rPr lang="en-US" altLang="ko-KR" sz="2000" b="0" i="0" u="none" strike="noStrike" dirty="0">
                <a:solidFill>
                  <a:srgbClr val="000000"/>
                </a:solidFill>
                <a:effectLst/>
                <a:latin typeface="Nanum Gothic"/>
              </a:rPr>
              <a:t>, </a:t>
            </a:r>
            <a:r>
              <a:rPr lang="en-US" altLang="ko-KR" sz="2000" b="0" i="0" u="none" strike="noStrike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ABBA</a:t>
            </a:r>
            <a:r>
              <a:rPr lang="en-US" altLang="ko-KR" sz="2000" b="0" i="0" u="none" strike="noStrike" dirty="0">
                <a:solidFill>
                  <a:srgbClr val="000000"/>
                </a:solidFill>
                <a:effectLst/>
                <a:latin typeface="Nanum Gothic"/>
              </a:rPr>
              <a:t>, </a:t>
            </a:r>
            <a:r>
              <a:rPr lang="en-US" altLang="ko-KR" sz="2000" b="0" i="0" u="none" strike="noStrike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ABBBA</a:t>
            </a:r>
            <a:r>
              <a:rPr lang="ko-KR" altLang="en-US" sz="2000" b="0" i="0" u="none" strike="noStrike" dirty="0">
                <a:solidFill>
                  <a:srgbClr val="000000"/>
                </a:solidFill>
                <a:effectLst/>
                <a:latin typeface="Nanum Gothic"/>
              </a:rPr>
              <a:t>라는 문자가 있을 경우 이 문자들 중에서 </a:t>
            </a:r>
            <a:r>
              <a:rPr lang="en-US" altLang="ko-KR" sz="2000" b="0" i="0" u="none" strike="noStrike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A..A</a:t>
            </a:r>
            <a:r>
              <a:rPr lang="ko-KR" altLang="en-US" sz="2000" b="0" i="0" u="none" strike="noStrike" dirty="0">
                <a:solidFill>
                  <a:srgbClr val="000000"/>
                </a:solidFill>
                <a:effectLst/>
                <a:latin typeface="Nanum Gothic"/>
              </a:rPr>
              <a:t>라는 조건을 만족하는 문자는 스웨덴 출신의 </a:t>
            </a:r>
            <a:r>
              <a:rPr lang="en-US" altLang="ko-KR" sz="2000" b="0" i="0" u="none" strike="noStrike" dirty="0">
                <a:solidFill>
                  <a:srgbClr val="000000"/>
                </a:solidFill>
                <a:effectLst/>
                <a:latin typeface="Nanum Gothic"/>
              </a:rPr>
              <a:t>4</a:t>
            </a:r>
            <a:r>
              <a:rPr lang="ko-KR" altLang="en-US" sz="2000" b="0" i="0" u="none" strike="noStrike" dirty="0">
                <a:solidFill>
                  <a:srgbClr val="000000"/>
                </a:solidFill>
                <a:effectLst/>
                <a:latin typeface="Nanum Gothic"/>
              </a:rPr>
              <a:t>인조 밴드이름인 </a:t>
            </a:r>
            <a:r>
              <a:rPr lang="en-US" altLang="ko-KR" sz="2000" b="0" i="0" u="none" strike="noStrike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ABBA</a:t>
            </a:r>
            <a:r>
              <a:rPr lang="ko-KR" altLang="en-US" sz="2000" b="0" i="0" u="none" strike="noStrike" dirty="0">
                <a:solidFill>
                  <a:srgbClr val="000000"/>
                </a:solidFill>
                <a:effectLst/>
                <a:latin typeface="Nanum Gothic"/>
              </a:rPr>
              <a:t>이다</a:t>
            </a:r>
            <a:r>
              <a:rPr lang="en-US" altLang="ko-KR" sz="2000" b="0" i="0" u="none" strike="noStrike" dirty="0">
                <a:solidFill>
                  <a:srgbClr val="000000"/>
                </a:solidFill>
                <a:effectLst/>
                <a:latin typeface="Nanum Gothic"/>
              </a:rPr>
              <a:t>.</a:t>
            </a:r>
            <a:endParaRPr lang="ko-KR" altLang="en-US" sz="2000" dirty="0"/>
          </a:p>
        </p:txBody>
      </p:sp>
    </p:spTree>
    <p:extLst>
      <p:ext uri="{BB962C8B-B14F-4D97-AF65-F5344CB8AC3E}">
        <p14:creationId xmlns:p14="http://schemas.microsoft.com/office/powerpoint/2010/main" val="2682857365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제목 1">
            <a:extLst>
              <a:ext uri="{FF2B5EF4-FFF2-40B4-BE49-F238E27FC236}">
                <a16:creationId xmlns:a16="http://schemas.microsoft.com/office/drawing/2014/main" id="{745BBBFD-EA19-4B7D-8B4B-F2259D4CE0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1458" y="865550"/>
            <a:ext cx="11057592" cy="1325563"/>
          </a:xfrm>
        </p:spPr>
        <p:txBody>
          <a:bodyPr>
            <a:normAutofit/>
          </a:bodyPr>
          <a:lstStyle/>
          <a:p>
            <a:pPr fontAlgn="base"/>
            <a:r>
              <a:rPr lang="ko-KR" altLang="en-US" sz="3400" spc="-150"/>
              <a:t>▶</a:t>
            </a:r>
            <a:r>
              <a:rPr lang="ko-KR" altLang="en-US" sz="3400"/>
              <a:t> 정규식과 메타 문자</a:t>
            </a:r>
            <a:endParaRPr lang="ko-KR" altLang="en-US" sz="3400" spc="-150" dirty="0"/>
          </a:p>
        </p:txBody>
      </p:sp>
      <p:sp>
        <p:nvSpPr>
          <p:cNvPr id="21" name="직사각형 20">
            <a:extLst>
              <a:ext uri="{FF2B5EF4-FFF2-40B4-BE49-F238E27FC236}">
                <a16:creationId xmlns:a16="http://schemas.microsoft.com/office/drawing/2014/main" id="{AE207514-FC56-4E02-8076-E157CD36512E}"/>
              </a:ext>
            </a:extLst>
          </p:cNvPr>
          <p:cNvSpPr/>
          <p:nvPr/>
        </p:nvSpPr>
        <p:spPr>
          <a:xfrm>
            <a:off x="0" y="308537"/>
            <a:ext cx="3390900" cy="434310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2400">
                <a:latin typeface="나눔스퀘어라운드 Bold" panose="020B0600000101010101" pitchFamily="50" charset="-127"/>
                <a:ea typeface="나눔스퀘어라운드 Bold" panose="020B0600000101010101" pitchFamily="50" charset="-127"/>
              </a:rPr>
              <a:t>3. </a:t>
            </a:r>
            <a:r>
              <a:rPr lang="ko-KR" altLang="en-US" sz="2400" b="1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bg1"/>
                </a:solidFill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정규식과 메타 문자</a:t>
            </a:r>
            <a:endParaRPr lang="en-US" altLang="ko-KR" sz="2400" b="1">
              <a:ln>
                <a:solidFill>
                  <a:schemeClr val="accent1">
                    <a:alpha val="0"/>
                  </a:schemeClr>
                </a:solidFill>
              </a:ln>
              <a:solidFill>
                <a:schemeClr val="bg1"/>
              </a:solidFill>
              <a:latin typeface="나눔고딕 ExtraBold" panose="020D0904000000000000" pitchFamily="50" charset="-127"/>
              <a:ea typeface="나눔고딕 ExtraBold" panose="020D0904000000000000" pitchFamily="50" charset="-127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AE42C39A-26AC-4739-A88A-4F017BB2AEE6}"/>
              </a:ext>
            </a:extLst>
          </p:cNvPr>
          <p:cNvSpPr txBox="1"/>
          <p:nvPr/>
        </p:nvSpPr>
        <p:spPr>
          <a:xfrm>
            <a:off x="790895" y="2191113"/>
            <a:ext cx="10718155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ko-KR" altLang="en-US" sz="2000" b="0" i="0" u="none" strike="noStrike" dirty="0">
                <a:solidFill>
                  <a:srgbClr val="000000"/>
                </a:solidFill>
                <a:effectLst/>
                <a:latin typeface="Nanum Gothic"/>
              </a:rPr>
              <a:t>메타 문자 중에서 매우 강력한 문자가 바로 별표</a:t>
            </a:r>
            <a:r>
              <a:rPr lang="en-US" altLang="ko-KR" sz="2000" b="0" i="0" u="none" strike="noStrike" dirty="0">
                <a:solidFill>
                  <a:srgbClr val="000000"/>
                </a:solidFill>
                <a:effectLst/>
                <a:latin typeface="Nanum Gothic"/>
              </a:rPr>
              <a:t>(*)</a:t>
            </a:r>
            <a:r>
              <a:rPr lang="ko-KR" altLang="en-US" sz="2000" b="0" i="0" u="none" strike="noStrike" dirty="0">
                <a:solidFill>
                  <a:srgbClr val="000000"/>
                </a:solidFill>
                <a:effectLst/>
                <a:latin typeface="Nanum Gothic"/>
              </a:rPr>
              <a:t>이다</a:t>
            </a:r>
            <a:r>
              <a:rPr lang="en-US" altLang="ko-KR" sz="2000" b="0" i="0" u="none" strike="noStrike" dirty="0">
                <a:solidFill>
                  <a:srgbClr val="000000"/>
                </a:solidFill>
                <a:effectLst/>
                <a:latin typeface="Nanum Gothic"/>
              </a:rPr>
              <a:t>.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ko-KR" altLang="en-US" sz="2000" b="0" i="0" u="none" strike="noStrike" dirty="0">
                <a:solidFill>
                  <a:srgbClr val="000000"/>
                </a:solidFill>
                <a:effectLst/>
                <a:latin typeface="Nanum Gothic"/>
              </a:rPr>
              <a:t>이 문자는 직전에 있는 임의의 패턴을 </a:t>
            </a:r>
            <a:r>
              <a:rPr lang="en-US" altLang="ko-KR" sz="2000" b="0" i="0" u="none" strike="noStrike" dirty="0">
                <a:solidFill>
                  <a:srgbClr val="000000"/>
                </a:solidFill>
                <a:effectLst/>
                <a:latin typeface="Nanum Gothic"/>
              </a:rPr>
              <a:t>0</a:t>
            </a:r>
            <a:r>
              <a:rPr lang="ko-KR" altLang="en-US" sz="2000" b="0" i="0" u="none" strike="noStrike" dirty="0">
                <a:solidFill>
                  <a:srgbClr val="000000"/>
                </a:solidFill>
                <a:effectLst/>
                <a:latin typeface="Nanum Gothic"/>
              </a:rPr>
              <a:t>회 이상의 수로 반복되는 문자와 </a:t>
            </a:r>
            <a:r>
              <a:rPr lang="ko-KR" altLang="en-US" sz="2000" b="0" i="0" u="none" strike="noStrike">
                <a:solidFill>
                  <a:srgbClr val="000000"/>
                </a:solidFill>
                <a:effectLst/>
                <a:latin typeface="Nanum Gothic"/>
              </a:rPr>
              <a:t>매치된다</a:t>
            </a:r>
            <a:r>
              <a:rPr lang="en-US" altLang="ko-KR" sz="2000" b="0" i="0" u="none" strike="noStrike">
                <a:solidFill>
                  <a:srgbClr val="000000"/>
                </a:solidFill>
                <a:effectLst/>
                <a:latin typeface="Nanum Gothic"/>
              </a:rPr>
              <a:t>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ko-KR" altLang="en-US" sz="2000">
                <a:solidFill>
                  <a:srgbClr val="000000"/>
                </a:solidFill>
                <a:latin typeface="Nanum Gothic"/>
              </a:rPr>
              <a:t>예를 들어 </a:t>
            </a:r>
            <a:r>
              <a:rPr lang="en-US" altLang="ko-KR" sz="2000">
                <a:solidFill>
                  <a:srgbClr val="000000"/>
                </a:solidFill>
                <a:latin typeface="Nanum Gothic"/>
              </a:rPr>
              <a:t>AB*</a:t>
            </a:r>
            <a:r>
              <a:rPr lang="ko-KR" altLang="en-US" sz="2000">
                <a:solidFill>
                  <a:srgbClr val="000000"/>
                </a:solidFill>
                <a:latin typeface="Nanum Gothic"/>
              </a:rPr>
              <a:t>는 </a:t>
            </a:r>
            <a:r>
              <a:rPr lang="en-US" altLang="ko-KR" sz="2000">
                <a:solidFill>
                  <a:srgbClr val="000000"/>
                </a:solidFill>
                <a:latin typeface="Nanum Gothic"/>
              </a:rPr>
              <a:t>A,AA,AB,CAB,ABB,X-MAN,CABBBBBA </a:t>
            </a:r>
            <a:r>
              <a:rPr lang="ko-KR" altLang="en-US" sz="2000">
                <a:solidFill>
                  <a:srgbClr val="000000"/>
                </a:solidFill>
                <a:latin typeface="Nanum Gothic"/>
              </a:rPr>
              <a:t>등의 어떤 문자라도 </a:t>
            </a:r>
            <a:r>
              <a:rPr lang="en-US" altLang="ko-KR" sz="2000">
                <a:solidFill>
                  <a:srgbClr val="000000"/>
                </a:solidFill>
                <a:latin typeface="Nanum Gothic"/>
              </a:rPr>
              <a:t>A</a:t>
            </a:r>
            <a:r>
              <a:rPr lang="ko-KR" altLang="en-US" sz="2000">
                <a:solidFill>
                  <a:srgbClr val="000000"/>
                </a:solidFill>
                <a:latin typeface="Nanum Gothic"/>
              </a:rPr>
              <a:t>로 시작하고 </a:t>
            </a:r>
            <a:r>
              <a:rPr lang="en-US" altLang="ko-KR" sz="2000">
                <a:solidFill>
                  <a:srgbClr val="000000"/>
                </a:solidFill>
                <a:latin typeface="Nanum Gothic"/>
              </a:rPr>
              <a:t>B</a:t>
            </a:r>
            <a:r>
              <a:rPr lang="ko-KR" altLang="en-US" sz="2000">
                <a:solidFill>
                  <a:srgbClr val="000000"/>
                </a:solidFill>
                <a:latin typeface="Nanum Gothic"/>
              </a:rPr>
              <a:t>가 </a:t>
            </a:r>
            <a:r>
              <a:rPr lang="en-US" altLang="ko-KR" sz="2000">
                <a:solidFill>
                  <a:srgbClr val="000000"/>
                </a:solidFill>
                <a:latin typeface="Nanum Gothic"/>
              </a:rPr>
              <a:t>0</a:t>
            </a:r>
            <a:r>
              <a:rPr lang="ko-KR" altLang="en-US" sz="2000">
                <a:solidFill>
                  <a:srgbClr val="000000"/>
                </a:solidFill>
                <a:latin typeface="Nanum Gothic"/>
              </a:rPr>
              <a:t>회 이상 반복된다면 일치하는것으로 간주한다</a:t>
            </a:r>
            <a:r>
              <a:rPr lang="en-US" altLang="ko-KR" sz="2000">
                <a:solidFill>
                  <a:srgbClr val="000000"/>
                </a:solidFill>
                <a:latin typeface="Nanum Gothic"/>
              </a:rPr>
              <a:t>.</a:t>
            </a:r>
            <a:endParaRPr lang="ko-KR" altLang="en-US" sz="2000" dirty="0"/>
          </a:p>
        </p:txBody>
      </p:sp>
      <p:pic>
        <p:nvPicPr>
          <p:cNvPr id="12" name="그림 11">
            <a:extLst>
              <a:ext uri="{FF2B5EF4-FFF2-40B4-BE49-F238E27FC236}">
                <a16:creationId xmlns:a16="http://schemas.microsoft.com/office/drawing/2014/main" id="{C51F5228-9E8C-413D-B7FB-F1BCB789B03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50957" y="3741646"/>
            <a:ext cx="7593043" cy="26105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8281394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제목 1">
            <a:extLst>
              <a:ext uri="{FF2B5EF4-FFF2-40B4-BE49-F238E27FC236}">
                <a16:creationId xmlns:a16="http://schemas.microsoft.com/office/drawing/2014/main" id="{745BBBFD-EA19-4B7D-8B4B-F2259D4CE0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1458" y="865550"/>
            <a:ext cx="11057592" cy="1325563"/>
          </a:xfrm>
        </p:spPr>
        <p:txBody>
          <a:bodyPr>
            <a:normAutofit/>
          </a:bodyPr>
          <a:lstStyle/>
          <a:p>
            <a:pPr fontAlgn="base"/>
            <a:r>
              <a:rPr lang="ko-KR" altLang="en-US" sz="3400" spc="-150"/>
              <a:t>▶</a:t>
            </a:r>
            <a:r>
              <a:rPr lang="ko-KR" altLang="en-US" sz="3400"/>
              <a:t> 정규식과 메타 문자</a:t>
            </a:r>
            <a:endParaRPr lang="ko-KR" altLang="en-US" sz="3400" spc="-150" dirty="0"/>
          </a:p>
        </p:txBody>
      </p:sp>
      <p:sp>
        <p:nvSpPr>
          <p:cNvPr id="21" name="직사각형 20">
            <a:extLst>
              <a:ext uri="{FF2B5EF4-FFF2-40B4-BE49-F238E27FC236}">
                <a16:creationId xmlns:a16="http://schemas.microsoft.com/office/drawing/2014/main" id="{AE207514-FC56-4E02-8076-E157CD36512E}"/>
              </a:ext>
            </a:extLst>
          </p:cNvPr>
          <p:cNvSpPr/>
          <p:nvPr/>
        </p:nvSpPr>
        <p:spPr>
          <a:xfrm>
            <a:off x="0" y="308537"/>
            <a:ext cx="3390900" cy="434310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2400">
                <a:latin typeface="나눔스퀘어라운드 Bold" panose="020B0600000101010101" pitchFamily="50" charset="-127"/>
                <a:ea typeface="나눔스퀘어라운드 Bold" panose="020B0600000101010101" pitchFamily="50" charset="-127"/>
              </a:rPr>
              <a:t>3. </a:t>
            </a:r>
            <a:r>
              <a:rPr lang="ko-KR" altLang="en-US" sz="2400" b="1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bg1"/>
                </a:solidFill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정규식과 메타 문자</a:t>
            </a:r>
            <a:endParaRPr lang="en-US" altLang="ko-KR" sz="2400" b="1">
              <a:ln>
                <a:solidFill>
                  <a:schemeClr val="accent1">
                    <a:alpha val="0"/>
                  </a:schemeClr>
                </a:solidFill>
              </a:ln>
              <a:solidFill>
                <a:schemeClr val="bg1"/>
              </a:solidFill>
              <a:latin typeface="나눔고딕 ExtraBold" panose="020D0904000000000000" pitchFamily="50" charset="-127"/>
              <a:ea typeface="나눔고딕 ExtraBold" panose="020D0904000000000000" pitchFamily="50" charset="-127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4AFBA14-1462-4BEB-9CCE-32235AB0386C}"/>
              </a:ext>
            </a:extLst>
          </p:cNvPr>
          <p:cNvSpPr txBox="1"/>
          <p:nvPr/>
        </p:nvSpPr>
        <p:spPr>
          <a:xfrm>
            <a:off x="611797" y="2566031"/>
            <a:ext cx="11264237" cy="12464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ko-KR" altLang="en-US" sz="2500" b="0" i="0" u="none" strike="noStrike">
                <a:solidFill>
                  <a:srgbClr val="000000"/>
                </a:solidFill>
                <a:effectLst/>
                <a:latin typeface="Nanum Gothic"/>
              </a:rPr>
              <a:t>검색 </a:t>
            </a:r>
            <a:r>
              <a:rPr lang="ko-KR" altLang="en-US" sz="2500" b="0" i="0" u="none" strike="noStrike" dirty="0">
                <a:solidFill>
                  <a:srgbClr val="000000"/>
                </a:solidFill>
                <a:effectLst/>
                <a:latin typeface="Nanum Gothic"/>
              </a:rPr>
              <a:t>명령인 </a:t>
            </a:r>
            <a:r>
              <a:rPr lang="en-US" altLang="ko-KR" sz="2500" b="0" i="0" u="none" strike="noStrike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findall</a:t>
            </a:r>
            <a:r>
              <a:rPr lang="en-US" altLang="ko-KR" sz="2500" b="0" i="0" u="none" strike="noStrike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</a:t>
            </a:r>
            <a:r>
              <a:rPr lang="ko-KR" altLang="en-US" sz="2500" b="0" i="0" u="none" strike="noStrike">
                <a:solidFill>
                  <a:srgbClr val="000000"/>
                </a:solidFill>
                <a:effectLst/>
                <a:latin typeface="Nanum Gothic"/>
              </a:rPr>
              <a:t> </a:t>
            </a:r>
            <a:endParaRPr lang="en-US" altLang="ko-KR" sz="2500" b="0" i="0" u="none" strike="noStrike">
              <a:solidFill>
                <a:srgbClr val="000000"/>
              </a:solidFill>
              <a:effectLst/>
              <a:latin typeface="Nanum Gothic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ko-KR" altLang="en-US" sz="2500" b="0" i="0" u="none" strike="noStrike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정규 </a:t>
            </a:r>
            <a:r>
              <a:rPr lang="ko-KR" altLang="en-US" sz="2500" b="0" i="0" u="none" strike="noStrike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표현식의 </a:t>
            </a:r>
            <a:r>
              <a:rPr lang="en-US" altLang="ko-KR" sz="2500" b="0" i="0" u="none" strike="noStrike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findall</a:t>
            </a:r>
            <a:r>
              <a:rPr lang="en-US" altLang="ko-KR" sz="2500" b="0" i="0" u="none" strike="noStrike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</a:t>
            </a:r>
            <a:r>
              <a:rPr lang="ko-KR" altLang="en-US" sz="2500" b="0" i="0" u="none" strike="noStrike" dirty="0">
                <a:solidFill>
                  <a:srgbClr val="000000"/>
                </a:solidFill>
                <a:effectLst/>
                <a:latin typeface="Nanum Gothic"/>
              </a:rPr>
              <a:t>을 사용하면 정규식을 만족하는 모든 문자열들을 추출할 수 있다</a:t>
            </a:r>
            <a:r>
              <a:rPr lang="en-US" altLang="ko-KR" sz="2500" b="0" i="0" u="none" strike="noStrike" dirty="0">
                <a:solidFill>
                  <a:srgbClr val="000000"/>
                </a:solidFill>
                <a:effectLst/>
                <a:latin typeface="Nanum Gothic"/>
              </a:rPr>
              <a:t>.</a:t>
            </a:r>
            <a:endParaRPr lang="ko-KR" altLang="en-US" sz="2500" dirty="0"/>
          </a:p>
        </p:txBody>
      </p:sp>
      <p:pic>
        <p:nvPicPr>
          <p:cNvPr id="8" name="그림 7">
            <a:extLst>
              <a:ext uri="{FF2B5EF4-FFF2-40B4-BE49-F238E27FC236}">
                <a16:creationId xmlns:a16="http://schemas.microsoft.com/office/drawing/2014/main" id="{4847C116-EE14-43F6-81C0-739B16E72B0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3920" y="4194556"/>
            <a:ext cx="9688277" cy="11622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61352864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" name="그룹 11"/>
          <p:cNvGrpSpPr/>
          <p:nvPr/>
        </p:nvGrpSpPr>
        <p:grpSpPr>
          <a:xfrm>
            <a:off x="3984045" y="2645410"/>
            <a:ext cx="4223910" cy="1259840"/>
            <a:chOff x="5082540" y="3108960"/>
            <a:chExt cx="2026920" cy="650240"/>
          </a:xfrm>
        </p:grpSpPr>
        <p:grpSp>
          <p:nvGrpSpPr>
            <p:cNvPr id="6" name="그룹 5"/>
            <p:cNvGrpSpPr/>
            <p:nvPr/>
          </p:nvGrpSpPr>
          <p:grpSpPr>
            <a:xfrm>
              <a:off x="5082540" y="3274060"/>
              <a:ext cx="2026920" cy="320040"/>
              <a:chOff x="5082540" y="3268980"/>
              <a:chExt cx="2026920" cy="320040"/>
            </a:xfrm>
          </p:grpSpPr>
          <p:sp>
            <p:nvSpPr>
              <p:cNvPr id="28" name="직사각형 27"/>
              <p:cNvSpPr/>
              <p:nvPr/>
            </p:nvSpPr>
            <p:spPr>
              <a:xfrm>
                <a:off x="5082540" y="3268980"/>
                <a:ext cx="320040" cy="320040"/>
              </a:xfrm>
              <a:prstGeom prst="rect">
                <a:avLst/>
              </a:prstGeom>
              <a:solidFill>
                <a:srgbClr val="54535B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ko-KR" altLang="en-US" dirty="0"/>
                  <a:t>감</a:t>
                </a:r>
              </a:p>
            </p:txBody>
          </p:sp>
          <p:sp>
            <p:nvSpPr>
              <p:cNvPr id="30" name="직사각형 29"/>
              <p:cNvSpPr/>
              <p:nvPr/>
            </p:nvSpPr>
            <p:spPr>
              <a:xfrm>
                <a:off x="5509260" y="3268980"/>
                <a:ext cx="320040" cy="320040"/>
              </a:xfrm>
              <a:prstGeom prst="rect">
                <a:avLst/>
              </a:prstGeom>
              <a:solidFill>
                <a:srgbClr val="54535B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ko-KR" altLang="en-US" dirty="0"/>
                  <a:t>사</a:t>
                </a:r>
              </a:p>
            </p:txBody>
          </p:sp>
          <p:sp>
            <p:nvSpPr>
              <p:cNvPr id="31" name="직사각형 30"/>
              <p:cNvSpPr/>
              <p:nvPr/>
            </p:nvSpPr>
            <p:spPr>
              <a:xfrm>
                <a:off x="5935980" y="3268980"/>
                <a:ext cx="320040" cy="320040"/>
              </a:xfrm>
              <a:prstGeom prst="rect">
                <a:avLst/>
              </a:prstGeom>
              <a:solidFill>
                <a:srgbClr val="54535B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ko-KR" altLang="en-US" dirty="0"/>
                  <a:t>합</a:t>
                </a:r>
              </a:p>
            </p:txBody>
          </p:sp>
          <p:sp>
            <p:nvSpPr>
              <p:cNvPr id="32" name="직사각형 31"/>
              <p:cNvSpPr/>
              <p:nvPr/>
            </p:nvSpPr>
            <p:spPr>
              <a:xfrm>
                <a:off x="6362700" y="3268980"/>
                <a:ext cx="320040" cy="320040"/>
              </a:xfrm>
              <a:prstGeom prst="rect">
                <a:avLst/>
              </a:prstGeom>
              <a:solidFill>
                <a:srgbClr val="54535B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ko-KR" altLang="en-US" dirty="0" err="1"/>
                  <a:t>니</a:t>
                </a:r>
                <a:endParaRPr lang="ko-KR" altLang="en-US" dirty="0"/>
              </a:p>
            </p:txBody>
          </p:sp>
          <p:sp>
            <p:nvSpPr>
              <p:cNvPr id="33" name="직사각형 32"/>
              <p:cNvSpPr/>
              <p:nvPr/>
            </p:nvSpPr>
            <p:spPr>
              <a:xfrm>
                <a:off x="6789420" y="3268980"/>
                <a:ext cx="320040" cy="320040"/>
              </a:xfrm>
              <a:prstGeom prst="rect">
                <a:avLst/>
              </a:prstGeom>
              <a:solidFill>
                <a:srgbClr val="54535B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ko-KR" altLang="en-US" dirty="0"/>
                  <a:t>다</a:t>
                </a:r>
                <a:r>
                  <a:rPr lang="en-US" altLang="ko-KR" dirty="0"/>
                  <a:t>.</a:t>
                </a:r>
                <a:endParaRPr lang="ko-KR" altLang="en-US" dirty="0"/>
              </a:p>
            </p:txBody>
          </p:sp>
        </p:grpSp>
        <p:cxnSp>
          <p:nvCxnSpPr>
            <p:cNvPr id="11" name="직선 연결선 10"/>
            <p:cNvCxnSpPr/>
            <p:nvPr/>
          </p:nvCxnSpPr>
          <p:spPr>
            <a:xfrm>
              <a:off x="5242560" y="3108960"/>
              <a:ext cx="1727200" cy="0"/>
            </a:xfrm>
            <a:prstGeom prst="line">
              <a:avLst/>
            </a:prstGeom>
            <a:ln>
              <a:solidFill>
                <a:srgbClr val="54535B"/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5" name="직선 연결선 44"/>
            <p:cNvCxnSpPr/>
            <p:nvPr/>
          </p:nvCxnSpPr>
          <p:spPr>
            <a:xfrm>
              <a:off x="5222240" y="3759200"/>
              <a:ext cx="1727200" cy="0"/>
            </a:xfrm>
            <a:prstGeom prst="line">
              <a:avLst/>
            </a:prstGeom>
            <a:ln>
              <a:solidFill>
                <a:srgbClr val="54535B"/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1A395CE0-3598-4896-99A2-1F98CEF4D2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181C0B-4F34-4975-8B09-35C2A8FA8398}" type="slidenum">
              <a:rPr lang="ko-KR" altLang="en-US" smtClean="0"/>
              <a:t>22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28882383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2785</TotalTime>
  <Words>1007</Words>
  <Application>Microsoft Office PowerPoint</Application>
  <PresentationFormat>와이드스크린</PresentationFormat>
  <Paragraphs>121</Paragraphs>
  <Slides>22</Slides>
  <Notes>1</Notes>
  <HiddenSlides>0</HiddenSlides>
  <MMClips>0</MMClips>
  <ScaleCrop>false</ScaleCrop>
  <HeadingPairs>
    <vt:vector size="6" baseType="variant">
      <vt:variant>
        <vt:lpstr>사용한 글꼴</vt:lpstr>
      </vt:variant>
      <vt:variant>
        <vt:i4>8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22</vt:i4>
      </vt:variant>
    </vt:vector>
  </HeadingPairs>
  <TitlesOfParts>
    <vt:vector size="31" baseType="lpstr">
      <vt:lpstr>Megrim</vt:lpstr>
      <vt:lpstr>Nanum Gothic</vt:lpstr>
      <vt:lpstr>나눔고딕 ExtraBold</vt:lpstr>
      <vt:lpstr>나눔스퀘어_ac</vt:lpstr>
      <vt:lpstr>나눔스퀘어라운드 Bold</vt:lpstr>
      <vt:lpstr>맑은 고딕</vt:lpstr>
      <vt:lpstr>Arial</vt:lpstr>
      <vt:lpstr>Consolas</vt:lpstr>
      <vt:lpstr>Office 테마</vt:lpstr>
      <vt:lpstr>PowerPoint 프레젠테이션</vt:lpstr>
      <vt:lpstr>PowerPoint 프레젠테이션</vt:lpstr>
      <vt:lpstr>▶ 텍스트 데이터란 무엇인가</vt:lpstr>
      <vt:lpstr>▶ 문자열에서 문자 추출</vt:lpstr>
      <vt:lpstr>▶ split() 함수</vt:lpstr>
      <vt:lpstr>▶ join() 함수</vt:lpstr>
      <vt:lpstr>▶ 대/소문자 변환, 문자열 삭제</vt:lpstr>
      <vt:lpstr>▶ string 모듈</vt:lpstr>
      <vt:lpstr>▶ string 모듈</vt:lpstr>
      <vt:lpstr>▶ 워드 클라우드</vt:lpstr>
      <vt:lpstr>▶ 워드 클라우드</vt:lpstr>
      <vt:lpstr>▶ 워드 클라우드</vt:lpstr>
      <vt:lpstr>▶ 워드 클라우드</vt:lpstr>
      <vt:lpstr>▶ 정규식과 메타 문자</vt:lpstr>
      <vt:lpstr>▶ 정규식과 메타 문자</vt:lpstr>
      <vt:lpstr>▶ 정규식과 메타 문자</vt:lpstr>
      <vt:lpstr>▶ 정규식과 메타 문자</vt:lpstr>
      <vt:lpstr>▶ 정규식과 메타 문자</vt:lpstr>
      <vt:lpstr>▶ 정규식과 메타 문자</vt:lpstr>
      <vt:lpstr>▶ 정규식과 메타 문자</vt:lpstr>
      <vt:lpstr>▶ 정규식과 메타 문자</vt:lpstr>
      <vt:lpstr>PowerPoint 프레젠테이션</vt:lpstr>
    </vt:vector>
  </TitlesOfParts>
  <Company>HP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민 병조</dc:creator>
  <cp:lastModifiedBy>jsb12302@office.deu.ac.kr</cp:lastModifiedBy>
  <cp:revision>308</cp:revision>
  <dcterms:created xsi:type="dcterms:W3CDTF">2018-05-24T09:13:53Z</dcterms:created>
  <dcterms:modified xsi:type="dcterms:W3CDTF">2021-01-21T10:40:51Z</dcterms:modified>
</cp:coreProperties>
</file>