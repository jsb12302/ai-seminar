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3" r:id="rId13"/>
    <p:sldId id="314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상화" initials="이상" lastIdx="1" clrIdx="0">
    <p:extLst>
      <p:ext uri="{19B8F6BF-5375-455C-9EA6-DF929625EA0E}">
        <p15:presenceInfo xmlns:p15="http://schemas.microsoft.com/office/powerpoint/2012/main" userId="3d9609a02ac1f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B"/>
    <a:srgbClr val="FD7C6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6" autoAdjust="0"/>
    <p:restoredTop sz="86701" autoAdjust="0"/>
  </p:normalViewPr>
  <p:slideViewPr>
    <p:cSldViewPr snapToGrid="0" showGuides="1">
      <p:cViewPr varScale="1">
        <p:scale>
          <a:sx n="52" d="100"/>
          <a:sy n="52" d="100"/>
        </p:scale>
        <p:origin x="58" y="40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FF07-F165-463F-AADC-71E9041BE566}" type="datetimeFigureOut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C2A6E-6D5E-4697-99AF-2AC3CE155A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42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C2A6E-6D5E-4697-99AF-2AC3CE155A2D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83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87F5-3D02-4167-8CF8-2CEDE961DC79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BB0D6-BF44-4267-B265-EEC5CF8C438A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25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2D22F-2EE4-4C10-9BA9-C37C1A4B6793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2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2DA8-BFFF-4062-835F-6F98A7C6532A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0439-92B8-4A81-8937-319C04A9D648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2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E930-DFC8-4272-B6ED-DE91B7128E9C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C6CA-3D46-4E1A-B0F7-66F4B3A8FC4C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7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C0F2-D654-4939-9EDA-3CF1E9CB3FC2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B3CB-AE2B-4EF8-B39B-2BE7D12A99C3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4D591-B92F-4BFC-96FD-6CDDEE0A85F9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77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090B3-F69C-47E6-896A-9620AC9E47CD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E6C6E-2BDA-49BF-9F5E-EE215DA14CD1}" type="datetime1">
              <a:rPr lang="ko-KR" altLang="en-US" smtClean="0"/>
              <a:t>2021-01-14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1C0B-4F34-4975-8B09-35C2A8FA8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1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93803" y="3515360"/>
            <a:ext cx="11604394" cy="1311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Chapter 05 </a:t>
            </a:r>
            <a:r>
              <a:rPr lang="ko-KR" altLang="en-US" sz="40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여러 번 반복하는 일을 하자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586882" y="3342640"/>
            <a:ext cx="5018241" cy="0"/>
          </a:xfrm>
          <a:prstGeom prst="line">
            <a:avLst/>
          </a:prstGeom>
          <a:ln w="9525" cap="rnd">
            <a:solidFill>
              <a:schemeClr val="tx1">
                <a:lumMod val="85000"/>
                <a:lumOff val="1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D809B-D72E-440C-BD5A-C1D4661A26B4}"/>
              </a:ext>
            </a:extLst>
          </p:cNvPr>
          <p:cNvSpPr txBox="1"/>
          <p:nvPr/>
        </p:nvSpPr>
        <p:spPr>
          <a:xfrm>
            <a:off x="293803" y="6398310"/>
            <a:ext cx="25200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2021-01-14 </a:t>
            </a:r>
            <a:r>
              <a:rPr lang="ko-KR" altLang="en-US" sz="15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발표자 정순범</a:t>
            </a:r>
            <a:endParaRPr lang="en-US" altLang="ko-KR" sz="15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CAE7F3E-1E92-4B7F-BCAF-70E5388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4AB26F-DB60-4B37-B46B-E75F09D32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75" y="422444"/>
            <a:ext cx="2776450" cy="269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1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55303" y="1248606"/>
            <a:ext cx="2281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Megrim" panose="02000603000000000000" pitchFamily="2" charset="0"/>
                <a:ea typeface="-윤고딕310" panose="02030504000101010101" pitchFamily="18" charset="-127"/>
              </a:rPr>
              <a:t>Contents</a:t>
            </a:r>
            <a:endParaRPr lang="ko-KR" altLang="en-US" sz="4000" spc="-150" dirty="0">
              <a:ln>
                <a:solidFill>
                  <a:schemeClr val="accent1">
                    <a:alpha val="0"/>
                  </a:schemeClr>
                </a:solidFill>
              </a:ln>
              <a:latin typeface="Megrim" panose="02000603000000000000" pitchFamily="2" charset="0"/>
              <a:ea typeface="-윤고딕310" panose="02030504000101010101" pitchFamily="18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07942" y="400038"/>
            <a:ext cx="11576116" cy="6057924"/>
          </a:xfrm>
          <a:prstGeom prst="rect">
            <a:avLst/>
          </a:prstGeom>
          <a:solidFill>
            <a:srgbClr val="54535B">
              <a:alpha val="4000"/>
            </a:srgb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804516" y="4643654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804517" y="5569442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A948B-EDBD-4DAA-918A-847994014BC5}"/>
              </a:ext>
            </a:extLst>
          </p:cNvPr>
          <p:cNvSpPr txBox="1"/>
          <p:nvPr/>
        </p:nvSpPr>
        <p:spPr>
          <a:xfrm>
            <a:off x="1740070" y="458497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루프 제어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83767-C4BC-40B3-B74D-8D064863C40C}"/>
              </a:ext>
            </a:extLst>
          </p:cNvPr>
          <p:cNvSpPr txBox="1"/>
          <p:nvPr/>
        </p:nvSpPr>
        <p:spPr>
          <a:xfrm>
            <a:off x="1740070" y="5510763"/>
            <a:ext cx="3754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포매팅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58A3EC-5AAA-4AE8-9BCC-2E04A9B657F6}"/>
              </a:ext>
            </a:extLst>
          </p:cNvPr>
          <p:cNvSpPr/>
          <p:nvPr/>
        </p:nvSpPr>
        <p:spPr>
          <a:xfrm>
            <a:off x="804516" y="3823870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A406-557D-46B8-B5F1-BE9931702316}"/>
              </a:ext>
            </a:extLst>
          </p:cNvPr>
          <p:cNvSpPr txBox="1"/>
          <p:nvPr/>
        </p:nvSpPr>
        <p:spPr>
          <a:xfrm>
            <a:off x="1740070" y="3775966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while </a:t>
            </a: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문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D1FDD-D18C-47B9-A4A5-490D66361464}"/>
              </a:ext>
            </a:extLst>
          </p:cNvPr>
          <p:cNvSpPr/>
          <p:nvPr/>
        </p:nvSpPr>
        <p:spPr>
          <a:xfrm>
            <a:off x="804516" y="3077714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6C6CF7-3A44-48CD-9BF7-A1A9AAE2887C}"/>
              </a:ext>
            </a:extLst>
          </p:cNvPr>
          <p:cNvSpPr/>
          <p:nvPr/>
        </p:nvSpPr>
        <p:spPr>
          <a:xfrm>
            <a:off x="804515" y="2290301"/>
            <a:ext cx="551005" cy="282753"/>
          </a:xfrm>
          <a:prstGeom prst="rect">
            <a:avLst/>
          </a:prstGeom>
          <a:solidFill>
            <a:srgbClr val="545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679AD-C63B-4A7F-8555-AB7726348281}"/>
              </a:ext>
            </a:extLst>
          </p:cNvPr>
          <p:cNvSpPr txBox="1"/>
          <p:nvPr/>
        </p:nvSpPr>
        <p:spPr>
          <a:xfrm>
            <a:off x="1740070" y="223073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반복문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276BEE-E00D-45D7-88B6-57E8EC3E9029}"/>
              </a:ext>
            </a:extLst>
          </p:cNvPr>
          <p:cNvSpPr txBox="1"/>
          <p:nvPr/>
        </p:nvSpPr>
        <p:spPr>
          <a:xfrm>
            <a:off x="1740070" y="3019035"/>
            <a:ext cx="375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range()</a:t>
            </a:r>
            <a:r>
              <a:rPr lang="ko-KR" altLang="en-US" sz="20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endParaRPr lang="en-US" altLang="ko-KR" sz="2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05AC6A-80FB-4E85-B211-DB5E7E61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33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반복문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3D2D29D-ADFE-439D-9BFE-746727E5D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58" y="2333771"/>
            <a:ext cx="10902342" cy="3377218"/>
          </a:xfrm>
        </p:spPr>
        <p:txBody>
          <a:bodyPr/>
          <a:lstStyle/>
          <a:p>
            <a:pPr fontAlgn="base"/>
            <a:r>
              <a:rPr lang="ko-KR" altLang="en-US" dirty="0"/>
              <a:t>반복은 어떤 단계를 반복하게 하는 것으로 반복 구조를 사용하면 프로그램이 </a:t>
            </a:r>
            <a:r>
              <a:rPr lang="ko-KR" altLang="en-US"/>
              <a:t>간단하고 빠르다</a:t>
            </a:r>
            <a:r>
              <a:rPr lang="en-US" altLang="ko-KR"/>
              <a:t>.</a:t>
            </a:r>
            <a:endParaRPr lang="en-US" altLang="ko-KR" dirty="0"/>
          </a:p>
          <a:p>
            <a:pPr fontAlgn="base"/>
            <a:r>
              <a:rPr lang="ko-KR" altLang="en-US" dirty="0"/>
              <a:t>예를 들어서 동일한 작업을 반복하기 위하여 똑같은 문장을 복사하여 붙여넣기 하는 것보다 반복 구조를 사용하는 편이 프로그램을 간결하게 만든다</a:t>
            </a:r>
            <a:r>
              <a:rPr lang="en-US" altLang="ko-KR" dirty="0"/>
              <a:t>.</a:t>
            </a:r>
          </a:p>
          <a:p>
            <a:pPr fontAlgn="base"/>
            <a:r>
              <a:rPr lang="ko-KR" altLang="en-US" dirty="0"/>
              <a:t>또 프로그래밍에 필요한 시간도 단축할 수 있다</a:t>
            </a:r>
            <a:r>
              <a:rPr lang="en-US" altLang="ko-KR" dirty="0"/>
              <a:t>.</a:t>
            </a:r>
            <a:endParaRPr lang="en-US" altLang="ko-KR" dirty="0">
              <a:solidFill>
                <a:srgbClr val="0070C0"/>
              </a:solidFill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3B10327-7B3F-4ABC-9B05-6BF562D9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▶반복문을 사용하는 이유</a:t>
            </a:r>
            <a:endParaRPr lang="ko-KR" altLang="en-US" sz="3400" spc="-150" dirty="0"/>
          </a:p>
        </p:txBody>
      </p:sp>
    </p:spTree>
    <p:extLst>
      <p:ext uri="{BB962C8B-B14F-4D97-AF65-F5344CB8AC3E}">
        <p14:creationId xmlns:p14="http://schemas.microsoft.com/office/powerpoint/2010/main" val="187062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반복문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CCADAE15-0A3F-4A2C-BC29-AAC7CEB2C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63" y="1490722"/>
            <a:ext cx="4553675" cy="438770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하나의 예로 화면에 회사에 중요한 손님이 오셔서 대형 전광판에 다음과 같이 환영인사를 </a:t>
            </a:r>
            <a:r>
              <a:rPr lang="en-US" altLang="ko-KR" sz="1600" dirty="0"/>
              <a:t>5</a:t>
            </a:r>
            <a:r>
              <a:rPr lang="ko-KR" altLang="en-US" sz="1600" dirty="0"/>
              <a:t>번 출력한다고 하자</a:t>
            </a:r>
            <a:r>
              <a:rPr lang="en-US" altLang="ko-KR" sz="1600" dirty="0"/>
              <a:t>.</a:t>
            </a:r>
            <a:r>
              <a:rPr lang="ko-KR" altLang="en-US" sz="1600" dirty="0"/>
              <a:t> 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/>
          </a:p>
          <a:p>
            <a:endParaRPr lang="en-US" altLang="ko-KR" sz="1600"/>
          </a:p>
          <a:p>
            <a:endParaRPr lang="en-US" altLang="ko-KR" sz="1600" dirty="0"/>
          </a:p>
          <a:p>
            <a:r>
              <a:rPr lang="ko-KR" altLang="en-US" sz="1600" dirty="0"/>
              <a:t>반복 구조를 사용하지 않는다면 다음과 같이 동일한 문장을 </a:t>
            </a:r>
            <a:r>
              <a:rPr lang="en-US" altLang="ko-KR" sz="1600" dirty="0" err="1"/>
              <a:t>Ctrl+C</a:t>
            </a:r>
            <a:r>
              <a:rPr lang="ko-KR" altLang="en-US" sz="1600" dirty="0"/>
              <a:t>를 사용하여 복사한 후에 </a:t>
            </a:r>
            <a:r>
              <a:rPr lang="en-US" altLang="ko-KR" sz="1600" dirty="0" err="1"/>
              <a:t>Ctrl+V</a:t>
            </a:r>
            <a:r>
              <a:rPr lang="ko-KR" altLang="en-US" sz="1600" dirty="0"/>
              <a:t>로 붙여넣기 하여야 한다</a:t>
            </a:r>
            <a:r>
              <a:rPr lang="en-US" altLang="ko-KR" sz="1600" dirty="0"/>
              <a:t>.</a:t>
            </a:r>
            <a:r>
              <a:rPr lang="ko-KR" altLang="en-US" sz="1600" dirty="0"/>
              <a:t> </a:t>
            </a:r>
          </a:p>
          <a:p>
            <a:endParaRPr lang="ko-KR" altLang="en-US" sz="2400" dirty="0"/>
          </a:p>
          <a:p>
            <a:pPr marL="0" indent="0">
              <a:buNone/>
            </a:pPr>
            <a:endParaRPr lang="en-US" altLang="ko-KR" sz="23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22B01EB-5CB4-4E94-9454-58CCB87A68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3978"/>
          <a:stretch/>
        </p:blipFill>
        <p:spPr>
          <a:xfrm>
            <a:off x="967347" y="2244029"/>
            <a:ext cx="2982436" cy="150850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8838A1B-E738-4A9F-9273-F183132A8E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114"/>
          <a:stretch/>
        </p:blipFill>
        <p:spPr>
          <a:xfrm>
            <a:off x="967347" y="4896381"/>
            <a:ext cx="3909706" cy="1459969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B609C85-64F0-4970-BA4A-C5D5924C335B}"/>
              </a:ext>
            </a:extLst>
          </p:cNvPr>
          <p:cNvSpPr/>
          <p:nvPr/>
        </p:nvSpPr>
        <p:spPr>
          <a:xfrm>
            <a:off x="5611090" y="2904259"/>
            <a:ext cx="1537855" cy="104948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5580F80-0975-4BAE-B044-087334563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289" y="2001141"/>
            <a:ext cx="4143375" cy="4857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EE148EB-061B-4357-B48F-A4476E597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551" y="3953740"/>
            <a:ext cx="299085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3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반복문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9A680AA-E171-4391-8687-BB20D46E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B449AB4-F75B-46F5-A83A-6155670B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▶반복문의 종류</a:t>
            </a:r>
            <a:endParaRPr lang="ko-KR" altLang="en-US" sz="3400" spc="-150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95F8FE9-0332-4A8E-9271-0E7D29D1E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58" y="2030692"/>
            <a:ext cx="11473342" cy="3058154"/>
          </a:xfrm>
        </p:spPr>
        <p:txBody>
          <a:bodyPr>
            <a:noAutofit/>
          </a:bodyPr>
          <a:lstStyle/>
          <a:p>
            <a:r>
              <a:rPr lang="ko-KR" altLang="en-US" sz="1500" dirty="0" err="1"/>
              <a:t>파이썬에서는</a:t>
            </a:r>
            <a:r>
              <a:rPr lang="ko-KR" altLang="en-US" sz="1500" dirty="0"/>
              <a:t> </a:t>
            </a:r>
            <a:r>
              <a:rPr lang="en-US" altLang="ko-KR" sz="1500" dirty="0"/>
              <a:t>2 </a:t>
            </a:r>
            <a:r>
              <a:rPr lang="ko-KR" altLang="en-US" sz="1500" dirty="0"/>
              <a:t>가지 종류의 반복이 있다</a:t>
            </a:r>
            <a:r>
              <a:rPr lang="en-US" altLang="ko-KR" sz="1500" dirty="0"/>
              <a:t>.</a:t>
            </a:r>
          </a:p>
          <a:p>
            <a:pPr marL="0" indent="0" fontAlgn="base">
              <a:buNone/>
            </a:pPr>
            <a:r>
              <a:rPr lang="en-US" altLang="ko-KR" sz="1500" dirty="0"/>
              <a:t>  1. </a:t>
            </a:r>
            <a:r>
              <a:rPr lang="ko-KR" altLang="en-US" sz="1500" dirty="0"/>
              <a:t>횟수 제어 반복</a:t>
            </a:r>
            <a:r>
              <a:rPr lang="en-US" altLang="ko-KR" sz="1500" dirty="0"/>
              <a:t>(</a:t>
            </a:r>
            <a:r>
              <a:rPr lang="en-US" altLang="ko-KR" sz="1500" b="1" dirty="0"/>
              <a:t>for</a:t>
            </a:r>
            <a:r>
              <a:rPr lang="ko-KR" altLang="en-US" sz="1500" b="1" dirty="0"/>
              <a:t> 문</a:t>
            </a:r>
            <a:r>
              <a:rPr lang="en-US" altLang="ko-KR" sz="1500" dirty="0"/>
              <a:t>): </a:t>
            </a:r>
            <a:r>
              <a:rPr lang="ko-KR" altLang="en-US" sz="1500" dirty="0"/>
              <a:t>보통 횟수를 정해 놓고 반복한다</a:t>
            </a:r>
            <a:r>
              <a:rPr lang="en-US" altLang="ko-KR" sz="1500" dirty="0"/>
              <a:t>.</a:t>
            </a:r>
          </a:p>
          <a:p>
            <a:pPr marL="0" indent="0" fontAlgn="base">
              <a:buNone/>
            </a:pPr>
            <a:r>
              <a:rPr lang="ko-KR" altLang="en-US" sz="1500" dirty="0"/>
              <a:t>  </a:t>
            </a:r>
            <a:r>
              <a:rPr lang="en-US" altLang="ko-KR" sz="1500" dirty="0"/>
              <a:t>2. </a:t>
            </a:r>
            <a:r>
              <a:rPr lang="ko-KR" altLang="en-US" sz="1500" dirty="0"/>
              <a:t>조건 제어 반복</a:t>
            </a:r>
            <a:r>
              <a:rPr lang="en-US" altLang="ko-KR" sz="1500" dirty="0"/>
              <a:t>(</a:t>
            </a:r>
            <a:r>
              <a:rPr lang="en-US" altLang="ko-KR" sz="1500" b="1" dirty="0"/>
              <a:t>while</a:t>
            </a:r>
            <a:r>
              <a:rPr lang="ko-KR" altLang="en-US" sz="1500" b="1" dirty="0"/>
              <a:t> 문</a:t>
            </a:r>
            <a:r>
              <a:rPr lang="en-US" altLang="ko-KR" sz="1500" dirty="0"/>
              <a:t>): </a:t>
            </a:r>
            <a:r>
              <a:rPr lang="ko-KR" altLang="en-US" sz="1500" dirty="0"/>
              <a:t>특정한 조건이 만족되면 계속 반복한다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횟수 제어 반복은 반복을 시작하기 전에 반복의 횟수를 미리 아는 경우에 사용한다</a:t>
            </a:r>
            <a:r>
              <a:rPr lang="en-US" altLang="ko-KR" sz="1500" dirty="0"/>
              <a:t>.</a:t>
            </a:r>
          </a:p>
          <a:p>
            <a:r>
              <a:rPr lang="ko-KR" altLang="en-US" sz="1500" dirty="0"/>
              <a:t>예를 들어서 “환영합니다” 문장을 </a:t>
            </a:r>
            <a:r>
              <a:rPr lang="en-US" altLang="ko-KR" sz="1500" dirty="0"/>
              <a:t>5</a:t>
            </a:r>
            <a:r>
              <a:rPr lang="ko-KR" altLang="en-US" sz="1500" dirty="0"/>
              <a:t>번 반복하여 출력한다면 </a:t>
            </a:r>
            <a:r>
              <a:rPr lang="en-US" altLang="ko-KR" sz="1500" dirty="0"/>
              <a:t>for </a:t>
            </a:r>
            <a:r>
              <a:rPr lang="ko-KR" altLang="en-US" sz="1500" dirty="0"/>
              <a:t>문을 사용하면 자연스럽다</a:t>
            </a:r>
            <a:r>
              <a:rPr lang="en-US" altLang="ko-KR" sz="1500" dirty="0"/>
              <a:t>.</a:t>
            </a:r>
            <a:endParaRPr lang="ko-KR" altLang="en-US" sz="1500" dirty="0"/>
          </a:p>
          <a:p>
            <a:pPr marL="0" indent="0">
              <a:buNone/>
            </a:pPr>
            <a:br>
              <a:rPr lang="ko-KR" altLang="en-US" dirty="0"/>
            </a:br>
            <a:endParaRPr lang="ko-KR" altLang="en-US" dirty="0"/>
          </a:p>
          <a:p>
            <a:pPr marL="0" indent="0" fontAlgn="base">
              <a:buNone/>
            </a:pPr>
            <a:r>
              <a:rPr lang="en-US" altLang="ko-KR" dirty="0"/>
              <a:t> 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317520-02D2-4928-86B2-DECE9438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8335"/>
            <a:ext cx="2459272" cy="258112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0A98812-F213-4FA0-9981-DB33F48C17EF}"/>
              </a:ext>
            </a:extLst>
          </p:cNvPr>
          <p:cNvSpPr txBox="1">
            <a:spLocks/>
          </p:cNvSpPr>
          <p:nvPr/>
        </p:nvSpPr>
        <p:spPr>
          <a:xfrm>
            <a:off x="3326105" y="4309517"/>
            <a:ext cx="3380873" cy="3365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dirty="0"/>
              <a:t>왼쪽의 그림에서 </a:t>
            </a:r>
            <a:r>
              <a:rPr lang="en-US" altLang="ko-KR" sz="1500" dirty="0"/>
              <a:t>range(5)</a:t>
            </a:r>
            <a:r>
              <a:rPr lang="ko-KR" altLang="en-US" sz="1500" dirty="0"/>
              <a:t>라는 함수는 </a:t>
            </a:r>
            <a:r>
              <a:rPr lang="en-US" altLang="ko-KR" sz="1500" dirty="0"/>
              <a:t>0, 1, 2, 3, 4</a:t>
            </a:r>
            <a:r>
              <a:rPr lang="ko-KR" altLang="en-US" sz="1500" dirty="0"/>
              <a:t>의 숫자 시퀀스를 자동으로 생성하는 함수이다</a:t>
            </a:r>
            <a:r>
              <a:rPr lang="en-US" altLang="ko-KR" sz="1500" dirty="0"/>
              <a:t>. </a:t>
            </a:r>
          </a:p>
          <a:p>
            <a:r>
              <a:rPr lang="ko-KR" altLang="en-US" sz="1500" dirty="0"/>
              <a:t>따라서 이 문장은 </a:t>
            </a:r>
            <a:r>
              <a:rPr lang="en-US" altLang="ko-KR" sz="1500" dirty="0"/>
              <a:t>0</a:t>
            </a:r>
            <a:r>
              <a:rPr lang="ko-KR" altLang="en-US" sz="1500" dirty="0"/>
              <a:t>에서 </a:t>
            </a:r>
            <a:r>
              <a:rPr lang="en-US" altLang="ko-KR" sz="1500" dirty="0"/>
              <a:t>4</a:t>
            </a:r>
            <a:r>
              <a:rPr lang="ko-KR" altLang="en-US" sz="1500" dirty="0"/>
              <a:t>까지의 숫자를 반환하는 작업을 끝낼 때 까지 반복 실행된다</a:t>
            </a:r>
            <a:r>
              <a:rPr lang="en-US" altLang="ko-KR" sz="1500" dirty="0"/>
              <a:t>.</a:t>
            </a:r>
            <a:br>
              <a:rPr lang="ko-KR" altLang="en-US" dirty="0"/>
            </a:br>
            <a:endParaRPr lang="ko-KR" altLang="en-US" dirty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ko-KR" dirty="0"/>
              <a:t> 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65C18E-EC33-4F45-A2D2-B9D1ACB8B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611" y="3799846"/>
            <a:ext cx="2322593" cy="2749617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840D4AC-E25C-4DBC-8DA0-36FBDD769DDD}"/>
              </a:ext>
            </a:extLst>
          </p:cNvPr>
          <p:cNvSpPr txBox="1">
            <a:spLocks/>
          </p:cNvSpPr>
          <p:nvPr/>
        </p:nvSpPr>
        <p:spPr>
          <a:xfrm>
            <a:off x="9235612" y="4129149"/>
            <a:ext cx="2625072" cy="3186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/>
              <a:t>반면  </a:t>
            </a:r>
            <a:r>
              <a:rPr lang="en-US" altLang="ko-KR" sz="1500"/>
              <a:t>while</a:t>
            </a:r>
            <a:r>
              <a:rPr lang="ko-KR" altLang="en-US" sz="1500"/>
              <a:t>문은 </a:t>
            </a:r>
            <a:r>
              <a:rPr lang="en-US" altLang="ko-KR" sz="1500"/>
              <a:t>i &lt; 5</a:t>
            </a:r>
            <a:r>
              <a:rPr lang="ko-KR" altLang="en-US" sz="1500"/>
              <a:t>의 조건이 참일 경우 환영합니다를 출력하고 </a:t>
            </a:r>
            <a:r>
              <a:rPr lang="en-US" altLang="ko-KR" sz="1500"/>
              <a:t>i</a:t>
            </a:r>
            <a:r>
              <a:rPr lang="ko-KR" altLang="en-US" sz="1500"/>
              <a:t> 값을 </a:t>
            </a:r>
            <a:r>
              <a:rPr lang="en-US" altLang="ko-KR" sz="1500"/>
              <a:t>1 </a:t>
            </a:r>
            <a:r>
              <a:rPr lang="ko-KR" altLang="en-US" sz="1500"/>
              <a:t>증가시킨다</a:t>
            </a:r>
            <a:r>
              <a:rPr lang="en-US" altLang="ko-KR" sz="1500"/>
              <a:t>. </a:t>
            </a:r>
          </a:p>
          <a:p>
            <a:r>
              <a:rPr lang="ko-KR" altLang="en-US" sz="1500"/>
              <a:t>최초의 </a:t>
            </a:r>
            <a:r>
              <a:rPr lang="en-US" altLang="ko-KR" sz="1500"/>
              <a:t>i </a:t>
            </a:r>
            <a:r>
              <a:rPr lang="ko-KR" altLang="en-US" sz="1500"/>
              <a:t>값이 </a:t>
            </a:r>
            <a:r>
              <a:rPr lang="en-US" altLang="ko-KR" sz="1500"/>
              <a:t>0</a:t>
            </a:r>
            <a:r>
              <a:rPr lang="ko-KR" altLang="en-US" sz="1500"/>
              <a:t>이므로 이 반복문 역시 </a:t>
            </a:r>
            <a:r>
              <a:rPr lang="en-US" altLang="ko-KR" sz="1500"/>
              <a:t>5</a:t>
            </a:r>
            <a:r>
              <a:rPr lang="ko-KR" altLang="en-US" sz="1500"/>
              <a:t>회 반복 수행하게 된다</a:t>
            </a:r>
            <a:r>
              <a:rPr lang="en-US" altLang="ko-KR" sz="1500"/>
              <a:t>.</a:t>
            </a:r>
            <a:br>
              <a:rPr lang="ko-KR" altLang="en-US"/>
            </a:br>
            <a:br>
              <a:rPr lang="ko-KR" altLang="en-US"/>
            </a:br>
            <a:endParaRPr lang="ko-KR" altLang="en-US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ko-KR"/>
              <a:t>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105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반복문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50203A9C-C7D6-4FEC-AA7F-1FCBCD28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▶횟수를 정해 놓고 반복</a:t>
            </a:r>
            <a:endParaRPr lang="ko-KR" altLang="en-US" sz="3400" spc="-15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DD7FF4A-0F99-492D-85E7-5D4B23072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320" y="1966121"/>
            <a:ext cx="2181225" cy="447675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CB9B909-32C0-4558-8792-A8C08D3E29D3}"/>
              </a:ext>
            </a:extLst>
          </p:cNvPr>
          <p:cNvCxnSpPr/>
          <p:nvPr/>
        </p:nvCxnSpPr>
        <p:spPr>
          <a:xfrm>
            <a:off x="1435733" y="4166070"/>
            <a:ext cx="98609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68B1D84-9107-42D3-9306-694520E22571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980254" y="2191113"/>
            <a:ext cx="0" cy="3949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6339772-CC44-4077-938F-CB927C44B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209" y="2470259"/>
            <a:ext cx="990600" cy="139065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41168F4-7486-48CB-BEAC-666FD54F7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869453"/>
            <a:ext cx="2209800" cy="52387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5E88B87-3101-4A32-9E33-FDE66273A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502399"/>
            <a:ext cx="819150" cy="12477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7775478-1848-4D65-9A3C-93C3B92F2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2309" y="4265990"/>
            <a:ext cx="1905000" cy="5334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E4A3DED-7A8B-4884-99ED-3D0DE23FDA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2309" y="5000238"/>
            <a:ext cx="742950" cy="126682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2C82D5F-7718-4AF9-B80E-2501D4A4D8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5552" y="4368285"/>
            <a:ext cx="3257550" cy="50482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A57A233-EEF1-4DCA-9997-B589FB2CC4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135" y="4229100"/>
            <a:ext cx="1228725" cy="22479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FB21A1-0317-40A9-88D4-140919C1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36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range()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함수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3B3832-A47C-448A-8C08-A75566DB41BD}"/>
              </a:ext>
            </a:extLst>
          </p:cNvPr>
          <p:cNvSpPr txBox="1">
            <a:spLocks/>
          </p:cNvSpPr>
          <p:nvPr/>
        </p:nvSpPr>
        <p:spPr>
          <a:xfrm>
            <a:off x="637664" y="1336376"/>
            <a:ext cx="10916671" cy="5019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앞에서는 리스트에 정수들을 저장해두고 하나씩 꺼내서 반복하였다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하지만 반복 횟수가 </a:t>
            </a:r>
            <a:r>
              <a:rPr lang="en-US" altLang="ko-KR" sz="2400" dirty="0"/>
              <a:t>1000</a:t>
            </a:r>
            <a:r>
              <a:rPr lang="ko-KR" altLang="en-US" sz="2400" dirty="0"/>
              <a:t>번이라면 이 방법이 불가능하다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반복해야 하는 횟수가 큰 경우를 대비하여 </a:t>
            </a:r>
            <a:r>
              <a:rPr lang="en-US" altLang="ko-KR" sz="2400" dirty="0"/>
              <a:t>range()</a:t>
            </a:r>
            <a:r>
              <a:rPr lang="ko-KR" altLang="en-US" sz="2400" dirty="0"/>
              <a:t> 함수를 사용하는 방법이 준비되어 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range()</a:t>
            </a:r>
            <a:r>
              <a:rPr lang="ko-KR" altLang="en-US" sz="2400" dirty="0"/>
              <a:t> 함수로 반복 횟수를 전달하면 </a:t>
            </a:r>
            <a:r>
              <a:rPr lang="en-US" altLang="ko-KR" sz="2400" dirty="0"/>
              <a:t>range()</a:t>
            </a:r>
            <a:r>
              <a:rPr lang="ko-KR" altLang="en-US" sz="2400" dirty="0"/>
              <a:t> 함수가 자동으로 정수들을 생성해준다</a:t>
            </a:r>
            <a:r>
              <a:rPr lang="en-US" altLang="ko-KR" sz="2400" dirty="0"/>
              <a:t>. </a:t>
            </a:r>
            <a:endParaRPr lang="ko-KR" altLang="en-US" sz="2400" dirty="0"/>
          </a:p>
          <a:p>
            <a:pPr marL="0" indent="0">
              <a:buNone/>
            </a:pPr>
            <a:br>
              <a:rPr lang="ko-KR" altLang="en-US" dirty="0"/>
            </a:br>
            <a:endParaRPr lang="en-US" altLang="ko-KR" dirty="0"/>
          </a:p>
        </p:txBody>
      </p:sp>
      <p:pic>
        <p:nvPicPr>
          <p:cNvPr id="4" name="Picture 2" descr="https://lh3.googleusercontent.com/PeN7kv7IwpEQqhNhNrE1EC1m7Jza7i5tTMpWrTA7MW2A-xY3nqEvsZK2h_sj3SX0oVOGGq00Yf-PVcdH42fO9KjmMVeImJBkYTPuj04kw3xCHT5r8wGaRUOIkMeM8Cbj167ogkQ4">
            <a:extLst>
              <a:ext uri="{FF2B5EF4-FFF2-40B4-BE49-F238E27FC236}">
                <a16:creationId xmlns:a16="http://schemas.microsoft.com/office/drawing/2014/main" id="{254D1C26-353A-4A62-9A11-1E434EB83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407" y="4131883"/>
            <a:ext cx="9036354" cy="246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1C1AEA2-7880-4452-A669-C00A55DE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1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2. range()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함수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4E43D61-E557-413C-B431-47F588E8B3D1}"/>
              </a:ext>
            </a:extLst>
          </p:cNvPr>
          <p:cNvSpPr txBox="1">
            <a:spLocks/>
          </p:cNvSpPr>
          <p:nvPr/>
        </p:nvSpPr>
        <p:spPr>
          <a:xfrm>
            <a:off x="622700" y="1541693"/>
            <a:ext cx="10916671" cy="5019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예를 들어서 리스트에 </a:t>
            </a:r>
            <a:r>
              <a:rPr lang="en-US" altLang="ko-KR" sz="2400"/>
              <a:t>0</a:t>
            </a:r>
            <a:r>
              <a:rPr lang="ko-KR" altLang="en-US" sz="2400"/>
              <a:t>부터 </a:t>
            </a:r>
            <a:r>
              <a:rPr lang="en-US" altLang="ko-KR" sz="2400"/>
              <a:t>10</a:t>
            </a:r>
            <a:r>
              <a:rPr lang="ko-KR" altLang="en-US" sz="2400"/>
              <a:t>까지 차례대로 숫자를 넣고싶다고 하면</a:t>
            </a:r>
            <a:endParaRPr lang="en-US" altLang="ko-KR" sz="2000" dirty="0"/>
          </a:p>
          <a:p>
            <a:endParaRPr lang="en-US" altLang="ko-KR" sz="2600" dirty="0"/>
          </a:p>
          <a:p>
            <a:endParaRPr lang="en-US" altLang="ko-KR" sz="2600"/>
          </a:p>
          <a:p>
            <a:endParaRPr lang="en-US" altLang="ko-KR" sz="2600" dirty="0"/>
          </a:p>
          <a:p>
            <a:r>
              <a:rPr lang="ko-KR" altLang="en-US" sz="2600" dirty="0"/>
              <a:t>만약 </a:t>
            </a:r>
            <a:r>
              <a:rPr lang="en-US" altLang="ko-KR" sz="2600" dirty="0"/>
              <a:t>10</a:t>
            </a:r>
            <a:r>
              <a:rPr lang="ko-KR" altLang="en-US" sz="2600" dirty="0"/>
              <a:t>부터 시작하여서 </a:t>
            </a:r>
            <a:r>
              <a:rPr lang="en-US" altLang="ko-KR" sz="2600" dirty="0"/>
              <a:t>1</a:t>
            </a:r>
            <a:r>
              <a:rPr lang="ko-KR" altLang="en-US" sz="2600" dirty="0"/>
              <a:t>까지 </a:t>
            </a:r>
            <a:r>
              <a:rPr lang="en-US" altLang="ko-KR" sz="2600" dirty="0"/>
              <a:t>1</a:t>
            </a:r>
            <a:r>
              <a:rPr lang="ko-KR" altLang="en-US" sz="2600" dirty="0"/>
              <a:t>씩 감소하며 </a:t>
            </a:r>
            <a:r>
              <a:rPr lang="ko-KR" altLang="en-US" sz="2600"/>
              <a:t>반복하고 싶다면</a:t>
            </a:r>
            <a:endParaRPr lang="ko-KR" altLang="en-US" sz="2600" dirty="0"/>
          </a:p>
          <a:p>
            <a:pPr marL="0" indent="0">
              <a:buNone/>
            </a:pPr>
            <a:br>
              <a:rPr lang="ko-KR" altLang="en-US" sz="2000" dirty="0"/>
            </a:br>
            <a:endParaRPr lang="ko-KR" altLang="en-US" sz="2000" dirty="0"/>
          </a:p>
          <a:p>
            <a:pPr marL="0" indent="0">
              <a:buNone/>
            </a:pPr>
            <a:br>
              <a:rPr lang="ko-KR" altLang="en-US" sz="2000" dirty="0"/>
            </a:b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081D68-27E2-437A-B703-7B74E40D1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41" y="2245143"/>
            <a:ext cx="2444485" cy="6752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6A5A44B-AA68-43E0-84E8-E69E9AC51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721" y="2245143"/>
            <a:ext cx="5473255" cy="54267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D91C735-9860-4429-81FA-2323A4100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41" y="4051680"/>
            <a:ext cx="3197986" cy="6752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F55269E-B579-4E02-8DCA-4DBC9825B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720" y="4096356"/>
            <a:ext cx="4151647" cy="63427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D068CD-AF17-4A62-AF02-0BA2531C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98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3. While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문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4A3278B-EFA0-4901-B35C-DAC4AFB5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▶조건에 따라 반복해서 실행하는 </a:t>
            </a:r>
            <a:r>
              <a:rPr lang="en-US" altLang="ko-KR" sz="3400" spc="-150"/>
              <a:t>while </a:t>
            </a:r>
            <a:r>
              <a:rPr lang="ko-KR" altLang="en-US" sz="3400" spc="-150"/>
              <a:t>문</a:t>
            </a:r>
            <a:endParaRPr lang="ko-KR" altLang="en-US" sz="3400" spc="-15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B7358C-CA2C-4C27-B424-D749564843E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98845" y="1801453"/>
            <a:ext cx="7762818" cy="22079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785AE7-999D-4382-849D-882963212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408" y="4520856"/>
            <a:ext cx="2666885" cy="17321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25CA73-6590-478F-8795-16C763D41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255" y="4385007"/>
            <a:ext cx="1099829" cy="200379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318961-2223-4217-8916-A7DC4772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185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루프 제어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19C5E-5CFE-4BEB-8916-B67BBAE99551}"/>
              </a:ext>
            </a:extLst>
          </p:cNvPr>
          <p:cNvSpPr txBox="1">
            <a:spLocks/>
          </p:cNvSpPr>
          <p:nvPr/>
        </p:nvSpPr>
        <p:spPr>
          <a:xfrm>
            <a:off x="521918" y="2131276"/>
            <a:ext cx="10916671" cy="5019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조건 제어 루프에서 가끔은 프로그램이 무한히 반복하는 일이 발생한다</a:t>
            </a:r>
            <a:r>
              <a:rPr lang="en-US" altLang="ko-KR" sz="2400" dirty="0"/>
              <a:t>. </a:t>
            </a:r>
            <a:r>
              <a:rPr lang="ko-KR" altLang="en-US" sz="2400" dirty="0"/>
              <a:t>이것은 </a:t>
            </a:r>
            <a:r>
              <a:rPr lang="ko-KR" altLang="en-US" sz="2400" b="1" dirty="0">
                <a:solidFill>
                  <a:schemeClr val="accent5"/>
                </a:solidFill>
              </a:rPr>
              <a:t>무한 루프</a:t>
            </a:r>
            <a:r>
              <a:rPr lang="en-US" altLang="ko-KR" sz="2400" b="1" baseline="30000" dirty="0">
                <a:solidFill>
                  <a:schemeClr val="accent5"/>
                </a:solidFill>
              </a:rPr>
              <a:t>infinite loop</a:t>
            </a:r>
            <a:r>
              <a:rPr lang="ko-KR" altLang="en-US" sz="2400" dirty="0"/>
              <a:t>라고 한다</a:t>
            </a:r>
            <a:r>
              <a:rPr lang="en-US" altLang="ko-KR" sz="2400" dirty="0"/>
              <a:t>. </a:t>
            </a:r>
          </a:p>
          <a:p>
            <a:r>
              <a:rPr lang="ko-KR" altLang="en-US" sz="2400" dirty="0"/>
              <a:t>무한 반복이 발생하면 프로그램은 빠져 나올 수 없기 때문에 문제가 된다</a:t>
            </a:r>
            <a:r>
              <a:rPr lang="en-US" altLang="ko-KR" sz="2400" dirty="0"/>
              <a:t>. </a:t>
            </a:r>
          </a:p>
          <a:p>
            <a:r>
              <a:rPr lang="ko-KR" altLang="en-US" sz="2400"/>
              <a:t>따라서 루프를 빠져 나가기 위한 </a:t>
            </a:r>
            <a:r>
              <a:rPr lang="en-US" altLang="ko-KR" sz="2400"/>
              <a:t>break</a:t>
            </a:r>
            <a:r>
              <a:rPr lang="ko-KR" altLang="en-US" sz="2400"/>
              <a:t>문이 필요할 수 있다</a:t>
            </a:r>
            <a:r>
              <a:rPr lang="en-US" altLang="ko-KR" sz="2400"/>
              <a:t>.</a:t>
            </a:r>
            <a:endParaRPr lang="ko-KR" altLang="en-US" sz="2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EEACBDD-4F3E-494D-A275-6A1173417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634" y="3930486"/>
            <a:ext cx="9607240" cy="237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C674A95-664D-44CE-AF4C-7E119E3B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en-US" altLang="ko-KR" sz="3400" spc="-150"/>
              <a:t>break </a:t>
            </a:r>
            <a:r>
              <a:rPr lang="ko-KR" altLang="en-US" sz="3400" spc="-150"/>
              <a:t>문</a:t>
            </a:r>
            <a:endParaRPr lang="ko-KR" altLang="en-US" sz="3400" spc="-15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02CD9E-D981-464B-AD4F-7DA9B9D4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824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루프 제어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C7F6E-2D88-4795-8466-06E9D00C2583}"/>
              </a:ext>
            </a:extLst>
          </p:cNvPr>
          <p:cNvSpPr txBox="1">
            <a:spLocks/>
          </p:cNvSpPr>
          <p:nvPr/>
        </p:nvSpPr>
        <p:spPr>
          <a:xfrm>
            <a:off x="506297" y="1260706"/>
            <a:ext cx="10916671" cy="5019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while </a:t>
            </a:r>
            <a:r>
              <a:rPr lang="ko-KR" altLang="en-US" sz="2400" dirty="0"/>
              <a:t>루프의 조건에 </a:t>
            </a:r>
            <a:r>
              <a:rPr lang="en-US" altLang="ko-KR" sz="2400" dirty="0"/>
              <a:t>True</a:t>
            </a:r>
            <a:r>
              <a:rPr lang="ko-KR" altLang="en-US" sz="2400" dirty="0"/>
              <a:t>가 있다</a:t>
            </a:r>
            <a:r>
              <a:rPr lang="en-US" altLang="ko-KR" sz="2400" dirty="0"/>
              <a:t>. </a:t>
            </a:r>
            <a:r>
              <a:rPr lang="ko-KR" altLang="en-US" sz="2400" dirty="0"/>
              <a:t>따라서 조건이 항상 참이므로 무한히 반복된다</a:t>
            </a:r>
            <a:r>
              <a:rPr lang="en-US" altLang="ko-KR" sz="2400" dirty="0"/>
              <a:t>. </a:t>
            </a:r>
          </a:p>
          <a:p>
            <a:r>
              <a:rPr lang="ko-KR" altLang="en-US" sz="2400" dirty="0"/>
              <a:t>하지만 무한 루프라고 하더라도 어떤 조건이 성립하면 무한 </a:t>
            </a:r>
            <a:r>
              <a:rPr lang="ko-KR" altLang="en-US" sz="2400"/>
              <a:t>루프를 빠져나올 수 있다</a:t>
            </a:r>
            <a:r>
              <a:rPr lang="en-US" altLang="ko-KR" sz="2400"/>
              <a:t>.</a:t>
            </a:r>
          </a:p>
          <a:p>
            <a:r>
              <a:rPr lang="ko-KR" altLang="en-US" sz="2400"/>
              <a:t>이런 </a:t>
            </a:r>
            <a:r>
              <a:rPr lang="ko-KR" altLang="en-US" sz="2400" dirty="0"/>
              <a:t>경우는 </a:t>
            </a:r>
            <a:r>
              <a:rPr lang="en-US" altLang="ko-KR" sz="2400" dirty="0"/>
              <a:t>if </a:t>
            </a:r>
            <a:r>
              <a:rPr lang="ko-KR" altLang="en-US" sz="2400" dirty="0"/>
              <a:t>문장을 사용하여서 루프를 빠져나오게 된다</a:t>
            </a:r>
            <a:r>
              <a:rPr lang="en-US" altLang="ko-KR" sz="2400" dirty="0"/>
              <a:t>. break </a:t>
            </a:r>
            <a:r>
              <a:rPr lang="ko-KR" altLang="en-US" sz="2400" dirty="0"/>
              <a:t>문장은 루프를 강제적으로 빠져 나올 때 사용하는 문장이다</a:t>
            </a:r>
            <a:r>
              <a:rPr lang="en-US" altLang="ko-KR" sz="2400" dirty="0"/>
              <a:t>. </a:t>
            </a:r>
          </a:p>
          <a:p>
            <a:pPr>
              <a:buNone/>
            </a:pPr>
            <a:br>
              <a:rPr lang="ko-KR" altLang="en-US" sz="2400" dirty="0"/>
            </a:b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6401E9-82C1-4E84-9432-F2C3A5C3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31" y="3771491"/>
            <a:ext cx="5909469" cy="18258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0E24C4-6D70-4BA6-9A53-E7248A51C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799" y="3770693"/>
            <a:ext cx="4096512" cy="155528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40B929-1943-48E2-B068-6CA04527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351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4.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루프 제어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240B1AB-A9F6-4EB0-89A4-79ADD9E9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58" y="865550"/>
            <a:ext cx="11057592" cy="1325563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3400" spc="-150"/>
              <a:t>▶</a:t>
            </a:r>
            <a:r>
              <a:rPr lang="en-US" altLang="ko-KR" sz="3400" spc="-150"/>
              <a:t>continue </a:t>
            </a:r>
            <a:r>
              <a:rPr lang="ko-KR" altLang="en-US" sz="3400" spc="-150"/>
              <a:t>문</a:t>
            </a:r>
            <a:endParaRPr lang="ko-KR" altLang="en-US" sz="3400" spc="-15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453A8F4-5F63-4B4E-9C83-AFB2DCE6C12A}"/>
              </a:ext>
            </a:extLst>
          </p:cNvPr>
          <p:cNvSpPr txBox="1">
            <a:spLocks/>
          </p:cNvSpPr>
          <p:nvPr/>
        </p:nvSpPr>
        <p:spPr>
          <a:xfrm>
            <a:off x="682950" y="2191114"/>
            <a:ext cx="11236334" cy="466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break </a:t>
            </a:r>
            <a:r>
              <a:rPr lang="ko-KR" altLang="en-US" sz="2400"/>
              <a:t>문으로 루프를 빠져 나왔지만</a:t>
            </a:r>
            <a:r>
              <a:rPr lang="en-US" altLang="ko-KR" sz="2400"/>
              <a:t>, continue </a:t>
            </a:r>
            <a:r>
              <a:rPr lang="ko-KR" altLang="en-US" sz="2400"/>
              <a:t>문은 루프를 빠져나오지 않고</a:t>
            </a:r>
            <a:endParaRPr lang="en-US" altLang="ko-KR" sz="2400"/>
          </a:p>
          <a:p>
            <a:pPr marL="0" indent="0">
              <a:buNone/>
            </a:pPr>
            <a:r>
              <a:rPr lang="en-US" altLang="ko-KR" sz="2400"/>
              <a:t>  continue </a:t>
            </a:r>
            <a:r>
              <a:rPr lang="ko-KR" altLang="en-US" sz="2400"/>
              <a:t>아래의 문장만을 건너뛰는 역할을 한다</a:t>
            </a:r>
            <a:r>
              <a:rPr lang="en-US" altLang="ko-KR" sz="2400"/>
              <a:t>.</a:t>
            </a:r>
          </a:p>
          <a:p>
            <a:pPr>
              <a:buNone/>
            </a:pPr>
            <a:br>
              <a:rPr lang="ko-KR" altLang="en-US" sz="2400" dirty="0"/>
            </a:br>
            <a:r>
              <a:rPr lang="ko-KR" altLang="en-US" sz="2400" dirty="0"/>
              <a:t> </a:t>
            </a:r>
          </a:p>
          <a:p>
            <a:pPr>
              <a:buNone/>
            </a:pPr>
            <a:br>
              <a:rPr lang="ko-KR" altLang="en-US" sz="2400" dirty="0"/>
            </a:br>
            <a:r>
              <a:rPr lang="ko-KR" altLang="en-US" sz="2400" dirty="0"/>
              <a:t> </a:t>
            </a:r>
            <a:br>
              <a:rPr lang="ko-KR" altLang="en-US" sz="2400" dirty="0"/>
            </a:br>
            <a:endParaRPr lang="ko-KR" altLang="en-US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1232AE6-63C4-4B25-AA0A-7234D2A674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795"/>
          <a:stretch/>
        </p:blipFill>
        <p:spPr>
          <a:xfrm>
            <a:off x="682950" y="3429000"/>
            <a:ext cx="6520320" cy="254604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72EA9D-D16F-4628-A1C7-1B69F348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8484DD-DD9A-44C8-8CF1-3DBF0BD40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522" y="3964449"/>
            <a:ext cx="3044352" cy="13277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927CB6-4826-4780-A852-009EE8594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4262" y="3740534"/>
            <a:ext cx="615022" cy="190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6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7DDF2D-B4B1-4D91-81AC-9B1E658A8C84}"/>
              </a:ext>
            </a:extLst>
          </p:cNvPr>
          <p:cNvSpPr/>
          <p:nvPr/>
        </p:nvSpPr>
        <p:spPr>
          <a:xfrm>
            <a:off x="0" y="308537"/>
            <a:ext cx="3143365" cy="4029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5. </a:t>
            </a:r>
            <a:r>
              <a:rPr lang="ko-KR" altLang="en-US" sz="240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포매팅</a:t>
            </a:r>
            <a:endParaRPr lang="en-US" altLang="ko-KR" sz="2400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9D5715-F4E9-438B-91B7-85099BFD3CAF}"/>
              </a:ext>
            </a:extLst>
          </p:cNvPr>
          <p:cNvSpPr txBox="1">
            <a:spLocks/>
          </p:cNvSpPr>
          <p:nvPr/>
        </p:nvSpPr>
        <p:spPr>
          <a:xfrm>
            <a:off x="474901" y="1395304"/>
            <a:ext cx="11242198" cy="50199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문자열을 </a:t>
            </a:r>
            <a:r>
              <a:rPr lang="ko-KR" altLang="en-US" sz="2400" dirty="0"/>
              <a:t>출력할 적에 매우 유용한 메소드가 바로 </a:t>
            </a:r>
            <a:r>
              <a:rPr lang="en-US" altLang="ko-KR" sz="2400" dirty="0"/>
              <a:t>format() </a:t>
            </a:r>
            <a:r>
              <a:rPr lang="ko-KR" altLang="en-US" sz="2400" dirty="0"/>
              <a:t>메소드인데 다음과 같은 플레이스홀더를 이용하여 원하는 문자나 숫자를 적절한 포맷으로 출력할 수 있다</a:t>
            </a:r>
            <a:r>
              <a:rPr lang="en-US" altLang="ko-KR" sz="2400" dirty="0"/>
              <a:t>. </a:t>
            </a:r>
          </a:p>
          <a:p>
            <a:r>
              <a:rPr lang="ko-KR" altLang="en-US" sz="2400" dirty="0"/>
              <a:t>여기서 나타나는 </a:t>
            </a:r>
            <a:r>
              <a:rPr lang="en-US" altLang="ko-KR" sz="2400" dirty="0"/>
              <a:t>{}</a:t>
            </a:r>
            <a:r>
              <a:rPr lang="ko-KR" altLang="en-US" sz="2400" dirty="0"/>
              <a:t>는 플레이스홀더로 </a:t>
            </a:r>
            <a:r>
              <a:rPr lang="en-US" altLang="ko-KR" sz="2400" dirty="0"/>
              <a:t>format() </a:t>
            </a:r>
            <a:r>
              <a:rPr lang="ko-KR" altLang="en-US" sz="2400" dirty="0"/>
              <a:t>메소드의 인자로 들어오는 값이 출력되는 위치를 지정하는 역할을 한다</a:t>
            </a:r>
            <a:r>
              <a:rPr lang="en-US" altLang="ko-KR" sz="2400"/>
              <a:t>. </a:t>
            </a:r>
          </a:p>
          <a:p>
            <a:endParaRPr lang="en-US" altLang="ko-KR" sz="2400"/>
          </a:p>
          <a:p>
            <a:endParaRPr lang="en-US" altLang="ko-KR" sz="2400"/>
          </a:p>
          <a:p>
            <a:r>
              <a:rPr lang="en-US" altLang="ko-KR" sz="2400"/>
              <a:t>format() </a:t>
            </a:r>
            <a:r>
              <a:rPr lang="ko-KR" altLang="en-US" sz="2400"/>
              <a:t>메소드의 인자에 대해 </a:t>
            </a:r>
            <a:r>
              <a:rPr lang="en-US" altLang="ko-KR" sz="2400"/>
              <a:t>0, 1, 2</a:t>
            </a:r>
            <a:r>
              <a:rPr lang="ko-KR" altLang="en-US" sz="2400"/>
              <a:t>와 같은 인덱스를 이용하여 인자값을 지정할 수 있다</a:t>
            </a:r>
            <a:r>
              <a:rPr lang="en-US" altLang="ko-KR" sz="2400"/>
              <a:t>.</a:t>
            </a:r>
          </a:p>
          <a:p>
            <a:endParaRPr lang="en-US" altLang="ko-KR" sz="2400"/>
          </a:p>
          <a:p>
            <a:endParaRPr lang="ko-KR" altLang="en-US" sz="2400" dirty="0"/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ko-KR" altLang="en-US" sz="2400"/>
              <a:t>   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0CB8CC-8737-4314-8EF2-0BDB099B4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83" y="3276599"/>
            <a:ext cx="5458764" cy="3930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D304B8-4C36-4A85-810B-57F12EE65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293" y="3320713"/>
            <a:ext cx="1757080" cy="3930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06BAB2-81D4-4D18-8748-8912B2A4F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83" y="4826874"/>
            <a:ext cx="7771003" cy="144810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A4565D-8525-4F67-85D2-368F69D7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293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984045" y="2645410"/>
            <a:ext cx="4223910" cy="1259840"/>
            <a:chOff x="5082540" y="3108960"/>
            <a:chExt cx="2026920" cy="650240"/>
          </a:xfrm>
        </p:grpSpPr>
        <p:grpSp>
          <p:nvGrpSpPr>
            <p:cNvPr id="6" name="그룹 5"/>
            <p:cNvGrpSpPr/>
            <p:nvPr/>
          </p:nvGrpSpPr>
          <p:grpSpPr>
            <a:xfrm>
              <a:off x="5082540" y="3274060"/>
              <a:ext cx="2026920" cy="320040"/>
              <a:chOff x="5082540" y="3268980"/>
              <a:chExt cx="2026920" cy="32004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508254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550926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사</a:t>
                </a: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593598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합</a:t>
                </a: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636270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 err="1"/>
                  <a:t>니</a:t>
                </a:r>
                <a:endParaRPr lang="ko-KR" altLang="en-US" dirty="0"/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6789420" y="3268980"/>
                <a:ext cx="320040" cy="320040"/>
              </a:xfrm>
              <a:prstGeom prst="rect">
                <a:avLst/>
              </a:prstGeom>
              <a:solidFill>
                <a:srgbClr val="5453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/>
                  <a:t>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cxnSp>
          <p:nvCxnSpPr>
            <p:cNvPr id="11" name="직선 연결선 10"/>
            <p:cNvCxnSpPr/>
            <p:nvPr/>
          </p:nvCxnSpPr>
          <p:spPr>
            <a:xfrm>
              <a:off x="5242560" y="310896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5222240" y="3759200"/>
              <a:ext cx="1727200" cy="0"/>
            </a:xfrm>
            <a:prstGeom prst="line">
              <a:avLst/>
            </a:prstGeom>
            <a:ln>
              <a:solidFill>
                <a:srgbClr val="54535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395CE0-3598-4896-99A2-1F98CEF4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1C0B-4F34-4975-8B09-35C2A8FA839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82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</TotalTime>
  <Words>579</Words>
  <Application>Microsoft Office PowerPoint</Application>
  <PresentationFormat>와이드스크린</PresentationFormat>
  <Paragraphs>105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Megrim</vt:lpstr>
      <vt:lpstr>나눔고딕 ExtraBold</vt:lpstr>
      <vt:lpstr>나눔스퀘어_ac</vt:lpstr>
      <vt:lpstr>나눔스퀘어라운드 Bold</vt:lpstr>
      <vt:lpstr>맑은 고딕</vt:lpstr>
      <vt:lpstr>Arial</vt:lpstr>
      <vt:lpstr>Office 테마</vt:lpstr>
      <vt:lpstr>PowerPoint 프레젠테이션</vt:lpstr>
      <vt:lpstr>PowerPoint 프레젠테이션</vt:lpstr>
      <vt:lpstr>▶반복문을 사용하는 이유</vt:lpstr>
      <vt:lpstr>PowerPoint 프레젠테이션</vt:lpstr>
      <vt:lpstr>▶반복문의 종류</vt:lpstr>
      <vt:lpstr>▶횟수를 정해 놓고 반복</vt:lpstr>
      <vt:lpstr>PowerPoint 프레젠테이션</vt:lpstr>
      <vt:lpstr>PowerPoint 프레젠테이션</vt:lpstr>
      <vt:lpstr>▶조건에 따라 반복해서 실행하는 while 문</vt:lpstr>
      <vt:lpstr>▶break 문</vt:lpstr>
      <vt:lpstr>PowerPoint 프레젠테이션</vt:lpstr>
      <vt:lpstr>▶continue 문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 병조</dc:creator>
  <cp:lastModifiedBy>jsb12302@office.deu.ac.kr</cp:lastModifiedBy>
  <cp:revision>287</cp:revision>
  <dcterms:created xsi:type="dcterms:W3CDTF">2018-05-24T09:13:53Z</dcterms:created>
  <dcterms:modified xsi:type="dcterms:W3CDTF">2021-01-14T09:54:51Z</dcterms:modified>
</cp:coreProperties>
</file>