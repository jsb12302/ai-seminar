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63" r:id="rId3"/>
    <p:sldId id="303" r:id="rId4"/>
    <p:sldId id="304" r:id="rId5"/>
    <p:sldId id="305" r:id="rId6"/>
    <p:sldId id="306" r:id="rId7"/>
    <p:sldId id="307" r:id="rId8"/>
    <p:sldId id="308" r:id="rId9"/>
    <p:sldId id="310" r:id="rId10"/>
    <p:sldId id="309" r:id="rId11"/>
    <p:sldId id="311" r:id="rId12"/>
    <p:sldId id="264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이 상화" initials="이상" lastIdx="1" clrIdx="0">
    <p:extLst>
      <p:ext uri="{19B8F6BF-5375-455C-9EA6-DF929625EA0E}">
        <p15:presenceInfo xmlns:p15="http://schemas.microsoft.com/office/powerpoint/2012/main" userId="3d9609a02ac1f2f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4535B"/>
    <a:srgbClr val="FD7C6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96" autoAdjust="0"/>
    <p:restoredTop sz="86701" autoAdjust="0"/>
  </p:normalViewPr>
  <p:slideViewPr>
    <p:cSldViewPr snapToGrid="0" showGuides="1">
      <p:cViewPr varScale="1">
        <p:scale>
          <a:sx n="74" d="100"/>
          <a:sy n="74" d="100"/>
        </p:scale>
        <p:origin x="1066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AFFF07-F165-463F-AADC-71E9041BE566}" type="datetimeFigureOut">
              <a:rPr lang="ko-KR" altLang="en-US" smtClean="0"/>
              <a:t>2021-01-11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6C2A6E-6D5E-4697-99AF-2AC3CE155A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9425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6C2A6E-6D5E-4697-99AF-2AC3CE155A2D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3832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AB78C-409A-4F08-A4A5-A025B75B66AE}" type="datetime1">
              <a:rPr lang="ko-KR" altLang="en-US" smtClean="0"/>
              <a:t>2021-01-11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25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1BFF2-3D21-49CA-AEF0-D920467E008E}" type="datetime1">
              <a:rPr lang="ko-KR" altLang="en-US" smtClean="0"/>
              <a:t>2021-01-11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2325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458F6-9BBF-4EA9-9638-02286FB3198B}" type="datetime1">
              <a:rPr lang="ko-KR" altLang="en-US" smtClean="0"/>
              <a:t>2021-01-11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6235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D9874-258D-404F-89FA-496D3CAB426F}" type="datetime1">
              <a:rPr lang="ko-KR" altLang="en-US" smtClean="0"/>
              <a:t>2021-01-11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135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CA2AE-616E-4B62-81DC-4C2CDDC420C4}" type="datetime1">
              <a:rPr lang="ko-KR" altLang="en-US" smtClean="0"/>
              <a:t>2021-01-11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1824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216D8-15F0-45CA-A070-FDA0057DF405}" type="datetime1">
              <a:rPr lang="ko-KR" altLang="en-US" smtClean="0"/>
              <a:t>2021-01-11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5396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AF31B-90BC-44F6-8E6E-537E6B7FB44B}" type="datetime1">
              <a:rPr lang="ko-KR" altLang="en-US" smtClean="0"/>
              <a:t>2021-01-11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769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F7A09-5E12-43A1-B9E0-01ADBD633E66}" type="datetime1">
              <a:rPr lang="ko-KR" altLang="en-US" smtClean="0"/>
              <a:t>2021-01-11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7980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F64AE-7B8F-4333-81C0-C6442E062594}" type="datetime1">
              <a:rPr lang="ko-KR" altLang="en-US" smtClean="0"/>
              <a:t>2021-01-11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865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FE9B1-6945-42FD-A728-A51B147FF7BF}" type="datetime1">
              <a:rPr lang="ko-KR" altLang="en-US" smtClean="0"/>
              <a:t>2021-01-11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5772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4D787-4C68-4CCA-8896-248910E61C4B}" type="datetime1">
              <a:rPr lang="ko-KR" altLang="en-US" smtClean="0"/>
              <a:t>2021-01-11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566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925346-6302-4358-8EC9-5F534C3AB5D1}" type="datetime1">
              <a:rPr lang="ko-KR" altLang="en-US" smtClean="0"/>
              <a:t>2021-01-11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0418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293803" y="3515360"/>
            <a:ext cx="11604394" cy="131116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스프링 웹 개발 기초</a:t>
            </a:r>
            <a:endParaRPr lang="ko-KR" altLang="en-US" sz="4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cxnSp>
        <p:nvCxnSpPr>
          <p:cNvPr id="8" name="직선 연결선 7"/>
          <p:cNvCxnSpPr/>
          <p:nvPr/>
        </p:nvCxnSpPr>
        <p:spPr>
          <a:xfrm>
            <a:off x="3586882" y="3342640"/>
            <a:ext cx="5018241" cy="0"/>
          </a:xfrm>
          <a:prstGeom prst="line">
            <a:avLst/>
          </a:prstGeom>
          <a:ln w="9525" cap="rnd">
            <a:solidFill>
              <a:schemeClr val="tx1">
                <a:lumMod val="85000"/>
                <a:lumOff val="1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D809B-D72E-440C-BD5A-C1D4661A26B4}"/>
              </a:ext>
            </a:extLst>
          </p:cNvPr>
          <p:cNvSpPr txBox="1"/>
          <p:nvPr/>
        </p:nvSpPr>
        <p:spPr>
          <a:xfrm>
            <a:off x="293803" y="6398310"/>
            <a:ext cx="27432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2021-01-011 </a:t>
            </a:r>
            <a:r>
              <a:rPr lang="ko-KR" altLang="en-US" sz="15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발표자 정순범</a:t>
            </a:r>
            <a:endParaRPr lang="en-US" altLang="ko-KR" sz="15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CAE7F3E-1E92-4B7F-BCAF-70E53883E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1</a:t>
            </a:fld>
            <a:endParaRPr lang="ko-KR" altLang="en-US"/>
          </a:p>
        </p:txBody>
      </p:sp>
      <p:pic>
        <p:nvPicPr>
          <p:cNvPr id="1026" name="Picture 2" descr="wiki.hash.kr/images/thumb/5/5d/%EC%8A%A4%ED%94%...">
            <a:extLst>
              <a:ext uri="{FF2B5EF4-FFF2-40B4-BE49-F238E27FC236}">
                <a16:creationId xmlns:a16="http://schemas.microsoft.com/office/drawing/2014/main" id="{F32A9C0E-33B9-425D-BDE4-58364F020F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250" y="2032763"/>
            <a:ext cx="285750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0117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955303" y="1248606"/>
            <a:ext cx="228139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0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Megrim" panose="02000603000000000000" pitchFamily="2" charset="0"/>
                <a:ea typeface="-윤고딕310" panose="02030504000101010101" pitchFamily="18" charset="-127"/>
              </a:rPr>
              <a:t>Contents</a:t>
            </a:r>
            <a:endParaRPr lang="ko-KR" altLang="en-US" sz="4000" spc="-150" dirty="0">
              <a:ln>
                <a:solidFill>
                  <a:schemeClr val="accent1">
                    <a:alpha val="0"/>
                  </a:schemeClr>
                </a:solidFill>
              </a:ln>
              <a:latin typeface="Megrim" panose="02000603000000000000" pitchFamily="2" charset="0"/>
              <a:ea typeface="-윤고딕310" panose="02030504000101010101" pitchFamily="18" charset="-127"/>
            </a:endParaRPr>
          </a:p>
        </p:txBody>
      </p:sp>
      <p:sp>
        <p:nvSpPr>
          <p:cNvPr id="82" name="직사각형 81"/>
          <p:cNvSpPr/>
          <p:nvPr/>
        </p:nvSpPr>
        <p:spPr>
          <a:xfrm>
            <a:off x="307942" y="480988"/>
            <a:ext cx="11576116" cy="6057924"/>
          </a:xfrm>
          <a:prstGeom prst="rect">
            <a:avLst/>
          </a:prstGeom>
          <a:solidFill>
            <a:srgbClr val="54535B">
              <a:alpha val="4000"/>
            </a:srgbClr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5DD1FDD-D18C-47B9-A4A5-490D66361464}"/>
              </a:ext>
            </a:extLst>
          </p:cNvPr>
          <p:cNvSpPr/>
          <p:nvPr/>
        </p:nvSpPr>
        <p:spPr>
          <a:xfrm>
            <a:off x="804516" y="3875869"/>
            <a:ext cx="551005" cy="282753"/>
          </a:xfrm>
          <a:prstGeom prst="rect">
            <a:avLst/>
          </a:prstGeom>
          <a:solidFill>
            <a:srgbClr val="5453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02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F6C6CF7-3A44-48CD-9BF7-A1A9AAE2887C}"/>
              </a:ext>
            </a:extLst>
          </p:cNvPr>
          <p:cNvSpPr/>
          <p:nvPr/>
        </p:nvSpPr>
        <p:spPr>
          <a:xfrm>
            <a:off x="804515" y="3088456"/>
            <a:ext cx="551005" cy="282753"/>
          </a:xfrm>
          <a:prstGeom prst="rect">
            <a:avLst/>
          </a:prstGeom>
          <a:solidFill>
            <a:srgbClr val="5453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E679AD-C63B-4A7F-8555-AB7726348281}"/>
              </a:ext>
            </a:extLst>
          </p:cNvPr>
          <p:cNvSpPr txBox="1"/>
          <p:nvPr/>
        </p:nvSpPr>
        <p:spPr>
          <a:xfrm>
            <a:off x="1740070" y="3028890"/>
            <a:ext cx="37542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정적 컨텐츠</a:t>
            </a:r>
            <a:endParaRPr lang="en-US" altLang="ko-KR" sz="20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276BEE-E00D-45D7-88B6-57E8EC3E9029}"/>
              </a:ext>
            </a:extLst>
          </p:cNvPr>
          <p:cNvSpPr txBox="1"/>
          <p:nvPr/>
        </p:nvSpPr>
        <p:spPr>
          <a:xfrm>
            <a:off x="1740070" y="3817190"/>
            <a:ext cx="37542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MVC</a:t>
            </a:r>
            <a:r>
              <a:rPr lang="ko-KR" altLang="en-US" sz="20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와 템플릿 엔진</a:t>
            </a:r>
            <a:endParaRPr lang="en-US" altLang="ko-KR" sz="20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505AC6A-80FB-4E85-B211-DB5E7E61C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6F46BAD-6E45-4179-A87C-CDC301C99ECD}"/>
              </a:ext>
            </a:extLst>
          </p:cNvPr>
          <p:cNvSpPr/>
          <p:nvPr/>
        </p:nvSpPr>
        <p:spPr>
          <a:xfrm>
            <a:off x="804515" y="4663282"/>
            <a:ext cx="551005" cy="282753"/>
          </a:xfrm>
          <a:prstGeom prst="rect">
            <a:avLst/>
          </a:prstGeom>
          <a:solidFill>
            <a:srgbClr val="5453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03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421DB44-138A-4757-9B6B-0D83192D0A9B}"/>
              </a:ext>
            </a:extLst>
          </p:cNvPr>
          <p:cNvSpPr txBox="1"/>
          <p:nvPr/>
        </p:nvSpPr>
        <p:spPr>
          <a:xfrm>
            <a:off x="1740070" y="4608835"/>
            <a:ext cx="37542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API</a:t>
            </a:r>
            <a:endParaRPr lang="en-US" altLang="ko-KR" sz="20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30337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C7DDF2D-B4B1-4D91-81AC-9B1E658A8C84}"/>
              </a:ext>
            </a:extLst>
          </p:cNvPr>
          <p:cNvSpPr/>
          <p:nvPr/>
        </p:nvSpPr>
        <p:spPr>
          <a:xfrm>
            <a:off x="0" y="308537"/>
            <a:ext cx="3143365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1. </a:t>
            </a:r>
            <a:r>
              <a:rPr lang="ko-KR" altLang="en-US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정적 컨텐츠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9A680AA-E171-4391-8687-BB20D46E5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4F15A3-2FF3-49A1-92D9-B49582CC7CFE}"/>
              </a:ext>
            </a:extLst>
          </p:cNvPr>
          <p:cNvSpPr txBox="1"/>
          <p:nvPr/>
        </p:nvSpPr>
        <p:spPr>
          <a:xfrm>
            <a:off x="639190" y="1020404"/>
            <a:ext cx="8970032" cy="1086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정적 컨텐츠</a:t>
            </a:r>
            <a:endParaRPr lang="en-US" altLang="ko-KR" sz="1500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html </a:t>
            </a: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파일을 그대로 서버로 전달한다</a:t>
            </a: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Spring boot</a:t>
            </a: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는 기본적으로 정적 컨텐츠를 </a:t>
            </a: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resources/static </a:t>
            </a: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폴터에서 찾아서 제공한다</a:t>
            </a: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B1763E4-C48C-41AC-B2E6-BAC676AEB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040" y="2366780"/>
            <a:ext cx="7689182" cy="4182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620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C7DDF2D-B4B1-4D91-81AC-9B1E658A8C84}"/>
              </a:ext>
            </a:extLst>
          </p:cNvPr>
          <p:cNvSpPr/>
          <p:nvPr/>
        </p:nvSpPr>
        <p:spPr>
          <a:xfrm>
            <a:off x="0" y="308537"/>
            <a:ext cx="3143365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1. </a:t>
            </a:r>
            <a:r>
              <a:rPr lang="ko-KR" altLang="en-US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정적 컨텐츠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9A680AA-E171-4391-8687-BB20D46E5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3887B1D-4842-4C72-B174-34C4B98773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764" y="1257300"/>
            <a:ext cx="2990850" cy="21717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4D01D00-EB5D-485B-A603-CA6B8B0AFC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534" y="3690937"/>
            <a:ext cx="7556332" cy="28479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B6E9EB1-3426-4B0D-B7A3-23E6F8C0C025}"/>
              </a:ext>
            </a:extLst>
          </p:cNvPr>
          <p:cNvSpPr txBox="1"/>
          <p:nvPr/>
        </p:nvSpPr>
        <p:spPr>
          <a:xfrm>
            <a:off x="8711545" y="3690937"/>
            <a:ext cx="3134091" cy="1898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0" i="0">
                <a:solidFill>
                  <a:srgbClr val="575757"/>
                </a:solidFill>
                <a:effectLst/>
                <a:latin typeface="notokr"/>
              </a:rPr>
              <a:t>&lt;meta&gt; </a:t>
            </a:r>
            <a:r>
              <a:rPr lang="ko-KR" altLang="en-US" sz="1600" b="0" i="0">
                <a:solidFill>
                  <a:srgbClr val="575757"/>
                </a:solidFill>
                <a:effectLst/>
                <a:latin typeface="notokr"/>
              </a:rPr>
              <a:t>태그의 </a:t>
            </a:r>
            <a:r>
              <a:rPr lang="en-US" altLang="ko-KR" sz="1600" b="0" i="0">
                <a:solidFill>
                  <a:srgbClr val="575757"/>
                </a:solidFill>
                <a:effectLst/>
                <a:latin typeface="notokr"/>
              </a:rPr>
              <a:t>http-equiv </a:t>
            </a:r>
            <a:r>
              <a:rPr lang="ko-KR" altLang="en-US" sz="1600" b="0" i="0">
                <a:solidFill>
                  <a:srgbClr val="575757"/>
                </a:solidFill>
                <a:effectLst/>
                <a:latin typeface="notokr"/>
              </a:rPr>
              <a:t>속성은 </a:t>
            </a:r>
            <a:r>
              <a:rPr lang="en-US" altLang="ko-KR" sz="1600" b="0" i="0">
                <a:solidFill>
                  <a:srgbClr val="575757"/>
                </a:solidFill>
                <a:effectLst/>
                <a:latin typeface="notokr"/>
              </a:rPr>
              <a:t>content </a:t>
            </a:r>
            <a:r>
              <a:rPr lang="ko-KR" altLang="en-US" sz="1600" b="0" i="0">
                <a:solidFill>
                  <a:srgbClr val="575757"/>
                </a:solidFill>
                <a:effectLst/>
                <a:latin typeface="notokr"/>
              </a:rPr>
              <a:t>속성에 명시된 값에 대한 </a:t>
            </a:r>
            <a:r>
              <a:rPr lang="en-US" altLang="ko-KR" sz="1600" b="0" i="0">
                <a:solidFill>
                  <a:srgbClr val="575757"/>
                </a:solidFill>
                <a:effectLst/>
                <a:latin typeface="notokr"/>
              </a:rPr>
              <a:t>HTTP </a:t>
            </a:r>
            <a:r>
              <a:rPr lang="ko-KR" altLang="en-US" sz="1600" b="0" i="0">
                <a:solidFill>
                  <a:srgbClr val="575757"/>
                </a:solidFill>
                <a:effectLst/>
                <a:latin typeface="notokr"/>
              </a:rPr>
              <a:t>헤더를 제공</a:t>
            </a:r>
            <a:endParaRPr lang="en-US" altLang="ko-KR" sz="1500" b="0" i="0" spc="1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notokr"/>
              <a:ea typeface="나눔스퀘어_ac Bold" panose="020B0600000101010101" pitchFamily="50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0" i="0">
                <a:solidFill>
                  <a:srgbClr val="575757"/>
                </a:solidFill>
                <a:effectLst/>
                <a:latin typeface="notokr"/>
              </a:rPr>
              <a:t>content-type</a:t>
            </a:r>
            <a:r>
              <a:rPr lang="ko-KR" altLang="en-US" sz="1600" b="0" i="0">
                <a:solidFill>
                  <a:srgbClr val="575757"/>
                </a:solidFill>
                <a:effectLst/>
                <a:latin typeface="notokr"/>
              </a:rPr>
              <a:t>은 해당 문서의 문자 인코딩 방식을 명시</a:t>
            </a:r>
            <a:endParaRPr lang="en-US" altLang="ko-KR" sz="1600" b="0" i="0">
              <a:solidFill>
                <a:srgbClr val="575757"/>
              </a:solidFill>
              <a:effectLst/>
              <a:latin typeface="notokr"/>
            </a:endParaRPr>
          </a:p>
        </p:txBody>
      </p:sp>
    </p:spTree>
    <p:extLst>
      <p:ext uri="{BB962C8B-B14F-4D97-AF65-F5344CB8AC3E}">
        <p14:creationId xmlns:p14="http://schemas.microsoft.com/office/powerpoint/2010/main" val="2601467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C7DDF2D-B4B1-4D91-81AC-9B1E658A8C84}"/>
              </a:ext>
            </a:extLst>
          </p:cNvPr>
          <p:cNvSpPr/>
          <p:nvPr/>
        </p:nvSpPr>
        <p:spPr>
          <a:xfrm>
            <a:off x="0" y="308537"/>
            <a:ext cx="3143365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1. </a:t>
            </a:r>
            <a:r>
              <a:rPr lang="ko-KR" altLang="en-US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정적 컨텐츠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9A680AA-E171-4391-8687-BB20D46E5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CAF0483-36B3-4CD6-A4BC-0589B5ECB0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52" y="1509141"/>
            <a:ext cx="4143375" cy="13525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88E543C-5FD5-4719-BD0C-2B7A886CAF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0" y="3429000"/>
            <a:ext cx="6172200" cy="27336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885CBE2-7FA6-4225-BF6A-03F513AB1499}"/>
              </a:ext>
            </a:extLst>
          </p:cNvPr>
          <p:cNvSpPr txBox="1"/>
          <p:nvPr/>
        </p:nvSpPr>
        <p:spPr>
          <a:xfrm>
            <a:off x="915352" y="1100724"/>
            <a:ext cx="2025407" cy="39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Localhost </a:t>
            </a: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실행결과</a:t>
            </a:r>
            <a:endParaRPr lang="en-US" altLang="ko-KR" sz="1500" spc="1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6E87E6-5341-4D5A-BEBC-9E8A19C13157}"/>
              </a:ext>
            </a:extLst>
          </p:cNvPr>
          <p:cNvSpPr txBox="1"/>
          <p:nvPr/>
        </p:nvSpPr>
        <p:spPr>
          <a:xfrm>
            <a:off x="3810000" y="3008242"/>
            <a:ext cx="2025407" cy="39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페이지 소스</a:t>
            </a:r>
            <a:endParaRPr lang="en-US" altLang="ko-KR" sz="1500" spc="1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44868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C7DDF2D-B4B1-4D91-81AC-9B1E658A8C84}"/>
              </a:ext>
            </a:extLst>
          </p:cNvPr>
          <p:cNvSpPr/>
          <p:nvPr/>
        </p:nvSpPr>
        <p:spPr>
          <a:xfrm>
            <a:off x="0" y="308537"/>
            <a:ext cx="3529584" cy="4046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2. MVC </a:t>
            </a:r>
            <a:r>
              <a:rPr lang="ko-KR" altLang="en-US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와 템플릿 엔진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9A680AA-E171-4391-8687-BB20D46E5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D118DB-8B2A-4EC9-A784-60438B3B4106}"/>
              </a:ext>
            </a:extLst>
          </p:cNvPr>
          <p:cNvSpPr txBox="1"/>
          <p:nvPr/>
        </p:nvSpPr>
        <p:spPr>
          <a:xfrm>
            <a:off x="639190" y="1020404"/>
            <a:ext cx="8970032" cy="740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MVC : Model, View, Controller</a:t>
            </a:r>
          </a:p>
          <a:p>
            <a:pPr lvl="1">
              <a:lnSpc>
                <a:spcPct val="150000"/>
              </a:lnSpc>
            </a:pP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하나의 프로젝트를 구성할 때 그 구성요소를 세가지의 역할로 구분</a:t>
            </a:r>
            <a:endParaRPr lang="en-US" altLang="ko-KR" sz="1500" spc="1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DC2EDB5-0F16-4E70-A6A0-4BCF9D02AB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6736" y="2391603"/>
            <a:ext cx="3048000" cy="333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56B2196-BC5E-469C-9B9C-371A5C1778B8}"/>
              </a:ext>
            </a:extLst>
          </p:cNvPr>
          <p:cNvSpPr txBox="1"/>
          <p:nvPr/>
        </p:nvSpPr>
        <p:spPr>
          <a:xfrm>
            <a:off x="4686693" y="2512353"/>
            <a:ext cx="6749680" cy="1778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Model : </a:t>
            </a: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어플리케이션이 </a:t>
            </a: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“</a:t>
            </a: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무엇</a:t>
            </a: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”</a:t>
            </a: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을 할 것인지를 정의하며</a:t>
            </a: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내부 로직을 처리하기 위한 역할</a:t>
            </a:r>
            <a:endParaRPr lang="en-US" altLang="ko-KR" sz="1500" spc="1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Controller : </a:t>
            </a: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모델이 </a:t>
            </a: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“</a:t>
            </a: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어떻게</a:t>
            </a: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”</a:t>
            </a: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처리할 지를 알려주는 역할</a:t>
            </a: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즉 사용자가 데이터를 클릭하고</a:t>
            </a: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수정하는 것들에 대한 이벤트를 처리</a:t>
            </a:r>
            <a:endParaRPr lang="en-US" altLang="ko-KR" sz="1500" spc="1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View : </a:t>
            </a: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화면에 </a:t>
            </a: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“</a:t>
            </a: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무엇</a:t>
            </a: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” </a:t>
            </a: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인가를 보여주기 위한 역할</a:t>
            </a:r>
            <a:endParaRPr lang="en-US" altLang="ko-KR" sz="1500" spc="1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D48444-3EF8-498C-AA1F-8DBECB690B81}"/>
              </a:ext>
            </a:extLst>
          </p:cNvPr>
          <p:cNvSpPr txBox="1"/>
          <p:nvPr/>
        </p:nvSpPr>
        <p:spPr>
          <a:xfrm>
            <a:off x="4686693" y="4520990"/>
            <a:ext cx="6749680" cy="1621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spc="10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MVC</a:t>
            </a:r>
            <a:r>
              <a:rPr lang="ko-KR" altLang="en-US" sz="2000" spc="10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패턴을 사용하는 이유</a:t>
            </a:r>
            <a:endParaRPr lang="en-US" altLang="ko-KR" sz="2000" spc="100">
              <a:ln>
                <a:solidFill>
                  <a:schemeClr val="accent1">
                    <a:alpha val="0"/>
                  </a:schemeClr>
                </a:solidFill>
              </a:ln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>
                <a:solidFill>
                  <a:srgbClr val="000000"/>
                </a:solidFill>
                <a:effectLst/>
                <a:latin typeface="se-nanumgothic"/>
              </a:rPr>
              <a:t>사용자가 보는 페이지</a:t>
            </a:r>
            <a:r>
              <a:rPr lang="en-US" altLang="ko-KR" sz="1600" b="0" i="0">
                <a:solidFill>
                  <a:srgbClr val="000000"/>
                </a:solidFill>
                <a:effectLst/>
                <a:latin typeface="se-nanumgothic"/>
              </a:rPr>
              <a:t>, </a:t>
            </a:r>
            <a:r>
              <a:rPr lang="ko-KR" altLang="en-US" sz="1600" b="0" i="0">
                <a:solidFill>
                  <a:srgbClr val="000000"/>
                </a:solidFill>
                <a:effectLst/>
                <a:latin typeface="se-nanumgothic"/>
              </a:rPr>
              <a:t>데이터처리</a:t>
            </a:r>
            <a:r>
              <a:rPr lang="en-US" altLang="ko-KR" sz="1600" b="0" i="0">
                <a:solidFill>
                  <a:srgbClr val="000000"/>
                </a:solidFill>
                <a:effectLst/>
                <a:latin typeface="se-nanumgothic"/>
              </a:rPr>
              <a:t>, </a:t>
            </a:r>
            <a:r>
              <a:rPr lang="ko-KR" altLang="en-US" sz="1600" b="0" i="0">
                <a:solidFill>
                  <a:srgbClr val="000000"/>
                </a:solidFill>
                <a:effectLst/>
                <a:latin typeface="se-nanumgothic"/>
              </a:rPr>
              <a:t>그리고 이 </a:t>
            </a:r>
            <a:r>
              <a:rPr lang="en-US" altLang="ko-KR" sz="1600" b="0" i="0">
                <a:solidFill>
                  <a:srgbClr val="000000"/>
                </a:solidFill>
                <a:effectLst/>
                <a:latin typeface="se-nanumgothic"/>
              </a:rPr>
              <a:t>2</a:t>
            </a:r>
            <a:r>
              <a:rPr lang="ko-KR" altLang="en-US" sz="1600" b="0" i="0">
                <a:solidFill>
                  <a:srgbClr val="000000"/>
                </a:solidFill>
                <a:effectLst/>
                <a:latin typeface="se-nanumgothic"/>
              </a:rPr>
              <a:t>가지를 중간에서 제어하는 컨트롤</a:t>
            </a:r>
            <a:r>
              <a:rPr lang="en-US" altLang="ko-KR" sz="1600" b="0" i="0">
                <a:solidFill>
                  <a:srgbClr val="000000"/>
                </a:solidFill>
                <a:effectLst/>
                <a:latin typeface="se-nanumgothic"/>
              </a:rPr>
              <a:t>, </a:t>
            </a:r>
            <a:r>
              <a:rPr lang="ko-KR" altLang="en-US" sz="1600" b="0" i="0">
                <a:solidFill>
                  <a:srgbClr val="000000"/>
                </a:solidFill>
                <a:effectLst/>
                <a:latin typeface="se-nanumgothic"/>
              </a:rPr>
              <a:t>이 </a:t>
            </a:r>
            <a:r>
              <a:rPr lang="en-US" altLang="ko-KR" sz="1600" b="0" i="0">
                <a:solidFill>
                  <a:srgbClr val="000000"/>
                </a:solidFill>
                <a:effectLst/>
                <a:latin typeface="se-nanumgothic"/>
              </a:rPr>
              <a:t>3</a:t>
            </a:r>
            <a:r>
              <a:rPr lang="ko-KR" altLang="en-US" sz="1600" b="0" i="0">
                <a:solidFill>
                  <a:srgbClr val="000000"/>
                </a:solidFill>
                <a:effectLst/>
                <a:latin typeface="se-nanumgothic"/>
              </a:rPr>
              <a:t>가지로 구성되는 하나의 애플리케이션을 만들어 각각 맡은역할만 집중을 할 수 있게 된다</a:t>
            </a:r>
            <a:r>
              <a:rPr lang="en-US" altLang="ko-KR" sz="1600" b="0" i="0">
                <a:solidFill>
                  <a:srgbClr val="000000"/>
                </a:solidFill>
                <a:effectLst/>
                <a:latin typeface="se-nanumgothic"/>
              </a:rPr>
              <a:t>. </a:t>
            </a:r>
            <a:r>
              <a:rPr lang="ko-KR" altLang="en-US" sz="1600" b="0" i="0">
                <a:solidFill>
                  <a:srgbClr val="000000"/>
                </a:solidFill>
                <a:effectLst/>
                <a:latin typeface="se-nanumgothic"/>
              </a:rPr>
              <a:t>따라서 개발에 효율적이다</a:t>
            </a:r>
            <a:r>
              <a:rPr lang="en-US" altLang="ko-KR" sz="1600" b="0" i="0">
                <a:solidFill>
                  <a:srgbClr val="000000"/>
                </a:solidFill>
                <a:effectLst/>
                <a:latin typeface="se-nanumgothic"/>
              </a:rPr>
              <a:t>.</a:t>
            </a:r>
            <a:endParaRPr lang="en-US" altLang="ko-KR" sz="1500" spc="1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40826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C7DDF2D-B4B1-4D91-81AC-9B1E658A8C84}"/>
              </a:ext>
            </a:extLst>
          </p:cNvPr>
          <p:cNvSpPr/>
          <p:nvPr/>
        </p:nvSpPr>
        <p:spPr>
          <a:xfrm>
            <a:off x="0" y="308537"/>
            <a:ext cx="3529584" cy="4046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2. MVC </a:t>
            </a:r>
            <a:r>
              <a:rPr lang="ko-KR" altLang="en-US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와 템플릿 엔진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9A680AA-E171-4391-8687-BB20D46E5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8B59DBB7-1C5C-47AF-BC1B-775525BBC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868" y="1177968"/>
            <a:ext cx="5075132" cy="144326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28D7B1D-FAF8-498C-A8B1-410A040E3A65}"/>
              </a:ext>
            </a:extLst>
          </p:cNvPr>
          <p:cNvSpPr txBox="1"/>
          <p:nvPr/>
        </p:nvSpPr>
        <p:spPr>
          <a:xfrm>
            <a:off x="6743237" y="1177968"/>
            <a:ext cx="4064104" cy="1086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파라미터를 </a:t>
            </a: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“key”</a:t>
            </a: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로 설정하고 모델로 넘겨준다</a:t>
            </a: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hello-template </a:t>
            </a: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로 넘어간다</a:t>
            </a: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CF32558-266C-412F-9F2D-B569DF2D4D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4889" y="2888158"/>
            <a:ext cx="3571111" cy="102642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12BEC2A3-4F8D-47D8-807E-51EA4E7ACA5A}"/>
              </a:ext>
            </a:extLst>
          </p:cNvPr>
          <p:cNvSpPr txBox="1"/>
          <p:nvPr/>
        </p:nvSpPr>
        <p:spPr>
          <a:xfrm>
            <a:off x="6743237" y="2858311"/>
            <a:ext cx="4064104" cy="740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파라미터로 넘어온 값이 </a:t>
            </a: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${key}</a:t>
            </a: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로 치환이 되어 출력한다</a:t>
            </a: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9AFA3E6F-E808-4257-9A4C-D2DB4AD5C9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0823" y="4513417"/>
            <a:ext cx="2981740" cy="814848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5DFCAFBD-6ADF-4B84-A6A1-20B9C327CD9B}"/>
              </a:ext>
            </a:extLst>
          </p:cNvPr>
          <p:cNvSpPr txBox="1"/>
          <p:nvPr/>
        </p:nvSpPr>
        <p:spPr>
          <a:xfrm>
            <a:off x="6743237" y="4513417"/>
            <a:ext cx="2981740" cy="740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http get</a:t>
            </a: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방식으로 파라미터를 넘겨줄 수 있다</a:t>
            </a: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88A5666B-11F9-41A6-952F-8115E232CE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0823" y="5844476"/>
            <a:ext cx="1723371" cy="60279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6D69E2D-E863-49B9-9297-6D553D6C97BA}"/>
              </a:ext>
            </a:extLst>
          </p:cNvPr>
          <p:cNvSpPr txBox="1"/>
          <p:nvPr/>
        </p:nvSpPr>
        <p:spPr>
          <a:xfrm>
            <a:off x="3230823" y="4158202"/>
            <a:ext cx="2025407" cy="39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Localhost </a:t>
            </a: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실행결과</a:t>
            </a:r>
            <a:endParaRPr lang="en-US" altLang="ko-KR" sz="1500" spc="1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E87B49-CD72-4CB1-924D-2C954F9940AF}"/>
              </a:ext>
            </a:extLst>
          </p:cNvPr>
          <p:cNvSpPr txBox="1"/>
          <p:nvPr/>
        </p:nvSpPr>
        <p:spPr>
          <a:xfrm>
            <a:off x="3230822" y="5483055"/>
            <a:ext cx="2025407" cy="39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페이지 소스</a:t>
            </a:r>
            <a:endParaRPr lang="en-US" altLang="ko-KR" sz="1500" spc="1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8709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C7DDF2D-B4B1-4D91-81AC-9B1E658A8C84}"/>
              </a:ext>
            </a:extLst>
          </p:cNvPr>
          <p:cNvSpPr/>
          <p:nvPr/>
        </p:nvSpPr>
        <p:spPr>
          <a:xfrm>
            <a:off x="0" y="308537"/>
            <a:ext cx="3529584" cy="4046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2. MVC </a:t>
            </a:r>
            <a:r>
              <a:rPr lang="ko-KR" altLang="en-US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와 템플릿 엔진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9A680AA-E171-4391-8687-BB20D46E5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17D9537-0F9C-4787-8B24-E5960CDA69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049" name="_x472960720">
            <a:extLst>
              <a:ext uri="{FF2B5EF4-FFF2-40B4-BE49-F238E27FC236}">
                <a16:creationId xmlns:a16="http://schemas.microsoft.com/office/drawing/2014/main" id="{82911CEA-8A27-4E43-9033-5582035CA5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0" y="1717675"/>
            <a:ext cx="6112905" cy="3405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F290C58-2695-4376-B0C7-91ECB5B5FFD9}"/>
              </a:ext>
            </a:extLst>
          </p:cNvPr>
          <p:cNvSpPr txBox="1"/>
          <p:nvPr/>
        </p:nvSpPr>
        <p:spPr>
          <a:xfrm>
            <a:off x="7616399" y="1717675"/>
            <a:ext cx="4345446" cy="316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웹 브라우저는 </a:t>
            </a: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localhost </a:t>
            </a: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주소를 내장 톰켓 서버를 거쳐 전달된다</a:t>
            </a: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스프링 컨테이너 에서는 </a:t>
            </a: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helloController</a:t>
            </a: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에 매핑이 되어있는 메소드를 호출하고 </a:t>
            </a: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hello-template</a:t>
            </a: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리턴하여 </a:t>
            </a: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viewResolver</a:t>
            </a: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에게 전달한다</a:t>
            </a: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viewResolver</a:t>
            </a: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는 </a:t>
            </a: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view</a:t>
            </a: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찾고 템플릿에게 연결시켜주며 변환한 </a:t>
            </a: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html</a:t>
            </a: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을 웹 브라우저에게 반환한다</a:t>
            </a: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59767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C7DDF2D-B4B1-4D91-81AC-9B1E658A8C84}"/>
              </a:ext>
            </a:extLst>
          </p:cNvPr>
          <p:cNvSpPr/>
          <p:nvPr/>
        </p:nvSpPr>
        <p:spPr>
          <a:xfrm>
            <a:off x="0" y="308537"/>
            <a:ext cx="2697480" cy="4046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3. API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9A680AA-E171-4391-8687-BB20D46E5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17D9537-0F9C-4787-8B24-E5960CDA69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44BAB29-2117-4C27-B5E4-7F6A27F7AA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245" y="2114550"/>
            <a:ext cx="5848350" cy="13144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A7603F4-676A-44ED-9451-F1B8D2B662F7}"/>
              </a:ext>
            </a:extLst>
          </p:cNvPr>
          <p:cNvSpPr txBox="1"/>
          <p:nvPr/>
        </p:nvSpPr>
        <p:spPr>
          <a:xfrm>
            <a:off x="7406460" y="2114550"/>
            <a:ext cx="4064104" cy="1086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@ResponseBody </a:t>
            </a: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사용하여 뷰 리졸버를 사용하지 않고 대신에 </a:t>
            </a: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HTTP</a:t>
            </a: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의 </a:t>
            </a: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BODY</a:t>
            </a: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에 문자 내용을 직접 반환</a:t>
            </a: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ED38CE-8609-44D4-898F-9AE20ED519F0}"/>
              </a:ext>
            </a:extLst>
          </p:cNvPr>
          <p:cNvSpPr txBox="1"/>
          <p:nvPr/>
        </p:nvSpPr>
        <p:spPr>
          <a:xfrm>
            <a:off x="817245" y="1042010"/>
            <a:ext cx="8970032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spc="10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@ResponseBody </a:t>
            </a:r>
            <a:r>
              <a:rPr lang="ko-KR" altLang="en-US" sz="2000" b="1" spc="10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문자 반환</a:t>
            </a:r>
            <a:endParaRPr lang="en-US" altLang="ko-KR" sz="2000" b="1" spc="100">
              <a:ln>
                <a:solidFill>
                  <a:schemeClr val="accent1">
                    <a:alpha val="0"/>
                  </a:schemeClr>
                </a:solidFill>
              </a:ln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D6449EB-E0FB-4707-A0E4-3E02F75C83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2888" y="4007046"/>
            <a:ext cx="3912799" cy="108519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48F8E5E-1632-4E58-AEAF-66F5AB42FD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3134" y="5581866"/>
            <a:ext cx="4693356" cy="95704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D63D40C-A465-4BCA-9DA2-1A1C24AEF4C1}"/>
              </a:ext>
            </a:extLst>
          </p:cNvPr>
          <p:cNvSpPr txBox="1"/>
          <p:nvPr/>
        </p:nvSpPr>
        <p:spPr>
          <a:xfrm>
            <a:off x="2023881" y="3596806"/>
            <a:ext cx="2025407" cy="39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Localhost </a:t>
            </a: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실행결과</a:t>
            </a:r>
            <a:endParaRPr lang="en-US" altLang="ko-KR" sz="1500" spc="1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27CD71-5CE4-47CB-914B-51FFADB70088}"/>
              </a:ext>
            </a:extLst>
          </p:cNvPr>
          <p:cNvSpPr txBox="1"/>
          <p:nvPr/>
        </p:nvSpPr>
        <p:spPr>
          <a:xfrm>
            <a:off x="5083296" y="5108522"/>
            <a:ext cx="2025407" cy="39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페이지 소스</a:t>
            </a:r>
            <a:endParaRPr lang="en-US" altLang="ko-KR" sz="1500" spc="1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9971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9A680AA-E171-4391-8687-BB20D46E5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17D9537-0F9C-4787-8B24-E5960CDA69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3F7BFB5-E5A8-4399-8F4F-D5D539A09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245" y="1736750"/>
            <a:ext cx="4537416" cy="407924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C25197A4-6C04-4484-9669-16E4296156D5}"/>
              </a:ext>
            </a:extLst>
          </p:cNvPr>
          <p:cNvSpPr/>
          <p:nvPr/>
        </p:nvSpPr>
        <p:spPr>
          <a:xfrm>
            <a:off x="0" y="308537"/>
            <a:ext cx="2697480" cy="4046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3. API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32C1EF-5FB4-4492-A5A3-94C0B4C7D251}"/>
              </a:ext>
            </a:extLst>
          </p:cNvPr>
          <p:cNvSpPr txBox="1"/>
          <p:nvPr/>
        </p:nvSpPr>
        <p:spPr>
          <a:xfrm>
            <a:off x="817245" y="1042010"/>
            <a:ext cx="3788622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spc="10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@ResponseBody </a:t>
            </a:r>
            <a:r>
              <a:rPr lang="ko-KR" altLang="en-US" sz="2000" b="1" spc="10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객체 반환</a:t>
            </a:r>
            <a:endParaRPr lang="en-US" altLang="ko-KR" sz="2000" b="1" spc="100">
              <a:ln>
                <a:solidFill>
                  <a:schemeClr val="accent1">
                    <a:alpha val="0"/>
                  </a:schemeClr>
                </a:solidFill>
              </a:ln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D6461A2F-D41E-40F4-B71E-7E60569914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2275" y="3336651"/>
            <a:ext cx="3608080" cy="77797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CA7C1F8-9FC7-49F0-A706-FBD83E22C2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2274" y="2053100"/>
            <a:ext cx="3257845" cy="87995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95BBCA1-E322-4391-8C73-FE5577DD1E9A}"/>
              </a:ext>
            </a:extLst>
          </p:cNvPr>
          <p:cNvSpPr txBox="1"/>
          <p:nvPr/>
        </p:nvSpPr>
        <p:spPr>
          <a:xfrm>
            <a:off x="6002089" y="1612987"/>
            <a:ext cx="2025407" cy="39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Localhost </a:t>
            </a: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실행결과</a:t>
            </a:r>
            <a:endParaRPr lang="en-US" altLang="ko-KR" sz="1500" spc="1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1EA9CD7-C53C-4D89-B14C-25043B7878E8}"/>
              </a:ext>
            </a:extLst>
          </p:cNvPr>
          <p:cNvSpPr txBox="1"/>
          <p:nvPr/>
        </p:nvSpPr>
        <p:spPr>
          <a:xfrm>
            <a:off x="6002090" y="2991606"/>
            <a:ext cx="2025407" cy="39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페이지 소스</a:t>
            </a:r>
            <a:endParaRPr lang="en-US" altLang="ko-KR" sz="1500" spc="1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46101E-E1D4-41C1-9E83-20057343434B}"/>
              </a:ext>
            </a:extLst>
          </p:cNvPr>
          <p:cNvSpPr txBox="1"/>
          <p:nvPr/>
        </p:nvSpPr>
        <p:spPr>
          <a:xfrm>
            <a:off x="6145897" y="4518221"/>
            <a:ext cx="4064104" cy="7907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JSON </a:t>
            </a: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방식을 사용해서 </a:t>
            </a: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“</a:t>
            </a:r>
            <a:r>
              <a:rPr lang="ko-KR" altLang="en-US" sz="1600" b="0" i="0">
                <a:solidFill>
                  <a:srgbClr val="4D5156"/>
                </a:solidFill>
                <a:effectLst/>
                <a:latin typeface="Apple SD Gothic Neo"/>
              </a:rPr>
              <a:t>키</a:t>
            </a:r>
            <a:r>
              <a:rPr lang="en-US" altLang="ko-KR" sz="1600" b="0" i="0">
                <a:solidFill>
                  <a:srgbClr val="4D5156"/>
                </a:solidFill>
                <a:effectLst/>
                <a:latin typeface="Apple SD Gothic Neo"/>
              </a:rPr>
              <a:t>-</a:t>
            </a:r>
            <a:r>
              <a:rPr lang="ko-KR" altLang="en-US" sz="1600" b="0" i="0">
                <a:solidFill>
                  <a:srgbClr val="4D5156"/>
                </a:solidFill>
                <a:effectLst/>
                <a:latin typeface="Apple SD Gothic Neo"/>
              </a:rPr>
              <a:t>값</a:t>
            </a:r>
            <a:r>
              <a:rPr lang="en-US" altLang="ko-KR" sz="1600" b="0" i="0">
                <a:solidFill>
                  <a:srgbClr val="4D5156"/>
                </a:solidFill>
                <a:effectLst/>
                <a:latin typeface="Apple SD Gothic Neo"/>
              </a:rPr>
              <a:t>”</a:t>
            </a:r>
            <a:r>
              <a:rPr lang="ko-KR" altLang="en-US" sz="1600" b="0" i="0">
                <a:solidFill>
                  <a:srgbClr val="4D5156"/>
                </a:solidFill>
                <a:effectLst/>
                <a:latin typeface="Apple SD Gothic Neo"/>
              </a:rPr>
              <a:t> 쌍으로 이루어진 데이터 </a:t>
            </a:r>
            <a:endParaRPr lang="en-US" altLang="ko-KR" sz="1500" spc="1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949869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917D9537-0F9C-4787-8B24-E5960CDA69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25197A4-6C04-4484-9669-16E4296156D5}"/>
              </a:ext>
            </a:extLst>
          </p:cNvPr>
          <p:cNvSpPr/>
          <p:nvPr/>
        </p:nvSpPr>
        <p:spPr>
          <a:xfrm>
            <a:off x="0" y="308537"/>
            <a:ext cx="2697480" cy="4046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3. API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4768D44-F265-436B-A26C-D874E4173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762" y="1585736"/>
            <a:ext cx="6312917" cy="342653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2EFE3BF-58B9-4D99-AC57-5BBF926B9B23}"/>
              </a:ext>
            </a:extLst>
          </p:cNvPr>
          <p:cNvSpPr txBox="1"/>
          <p:nvPr/>
        </p:nvSpPr>
        <p:spPr>
          <a:xfrm>
            <a:off x="7568296" y="1698625"/>
            <a:ext cx="4505041" cy="29993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/>
              <a:t>HTTP</a:t>
            </a:r>
            <a:r>
              <a:rPr lang="ko-KR" altLang="en-US" sz="1600"/>
              <a:t>의 </a:t>
            </a:r>
            <a:r>
              <a:rPr lang="en-US" altLang="ko-KR" sz="1600"/>
              <a:t>BODY</a:t>
            </a:r>
            <a:r>
              <a:rPr lang="ko-KR" altLang="en-US" sz="1600"/>
              <a:t>에 문자 내용을 직접 반환 </a:t>
            </a:r>
            <a:endParaRPr lang="en-US" altLang="ko-KR" sz="160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/>
              <a:t>viewResolver </a:t>
            </a:r>
            <a:r>
              <a:rPr lang="ko-KR" altLang="en-US" sz="1600"/>
              <a:t>대신에 </a:t>
            </a:r>
            <a:r>
              <a:rPr lang="en-US" altLang="ko-KR" sz="1600"/>
              <a:t>HttpMessageConverter </a:t>
            </a:r>
            <a:r>
              <a:rPr lang="ko-KR" altLang="en-US" sz="1600"/>
              <a:t>가 동작 </a:t>
            </a:r>
            <a:endParaRPr lang="en-US" altLang="ko-KR" sz="160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/>
              <a:t>기본 문자처리</a:t>
            </a:r>
            <a:r>
              <a:rPr lang="en-US" altLang="ko-KR" sz="1600"/>
              <a:t>: StringHttpMessageConverter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/>
              <a:t>기본 객체처리</a:t>
            </a:r>
            <a:r>
              <a:rPr lang="en-US" altLang="ko-KR" sz="1600"/>
              <a:t>: MappingJackson2HttpMessageConverter</a:t>
            </a:r>
          </a:p>
          <a:p>
            <a:pPr>
              <a:lnSpc>
                <a:spcPct val="150000"/>
              </a:lnSpc>
            </a:pPr>
            <a:r>
              <a:rPr lang="en-US" altLang="ko-KR" sz="1600"/>
              <a:t>-&gt; </a:t>
            </a:r>
            <a:r>
              <a:rPr lang="en-US" altLang="ko-KR" sz="1100"/>
              <a:t>Jackson</a:t>
            </a:r>
            <a:r>
              <a:rPr lang="ko-KR" altLang="en-US" sz="1100"/>
              <a:t>은 객체를 </a:t>
            </a:r>
            <a:r>
              <a:rPr lang="en-US" altLang="ko-KR" sz="1100"/>
              <a:t>JSON</a:t>
            </a:r>
            <a:r>
              <a:rPr lang="ko-KR" altLang="en-US" sz="1100"/>
              <a:t>으로 바꿔주는 라이브러리</a:t>
            </a:r>
            <a:endParaRPr lang="en-US" altLang="ko-KR" sz="1100"/>
          </a:p>
        </p:txBody>
      </p:sp>
    </p:spTree>
    <p:extLst>
      <p:ext uri="{BB962C8B-B14F-4D97-AF65-F5344CB8AC3E}">
        <p14:creationId xmlns:p14="http://schemas.microsoft.com/office/powerpoint/2010/main" val="33442398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/>
          <p:cNvGrpSpPr/>
          <p:nvPr/>
        </p:nvGrpSpPr>
        <p:grpSpPr>
          <a:xfrm>
            <a:off x="3984045" y="2645410"/>
            <a:ext cx="4223910" cy="1259840"/>
            <a:chOff x="5082540" y="3108960"/>
            <a:chExt cx="2026920" cy="650240"/>
          </a:xfrm>
        </p:grpSpPr>
        <p:grpSp>
          <p:nvGrpSpPr>
            <p:cNvPr id="6" name="그룹 5"/>
            <p:cNvGrpSpPr/>
            <p:nvPr/>
          </p:nvGrpSpPr>
          <p:grpSpPr>
            <a:xfrm>
              <a:off x="5082540" y="3274060"/>
              <a:ext cx="2026920" cy="320040"/>
              <a:chOff x="5082540" y="3268980"/>
              <a:chExt cx="2026920" cy="320040"/>
            </a:xfrm>
          </p:grpSpPr>
          <p:sp>
            <p:nvSpPr>
              <p:cNvPr id="28" name="직사각형 27"/>
              <p:cNvSpPr/>
              <p:nvPr/>
            </p:nvSpPr>
            <p:spPr>
              <a:xfrm>
                <a:off x="5082540" y="3268980"/>
                <a:ext cx="320040" cy="320040"/>
              </a:xfrm>
              <a:prstGeom prst="rect">
                <a:avLst/>
              </a:prstGeom>
              <a:solidFill>
                <a:srgbClr val="54535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/>
                  <a:t>감</a:t>
                </a:r>
              </a:p>
            </p:txBody>
          </p:sp>
          <p:sp>
            <p:nvSpPr>
              <p:cNvPr id="30" name="직사각형 29"/>
              <p:cNvSpPr/>
              <p:nvPr/>
            </p:nvSpPr>
            <p:spPr>
              <a:xfrm>
                <a:off x="5509260" y="3268980"/>
                <a:ext cx="320040" cy="320040"/>
              </a:xfrm>
              <a:prstGeom prst="rect">
                <a:avLst/>
              </a:prstGeom>
              <a:solidFill>
                <a:srgbClr val="54535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/>
                  <a:t>사</a:t>
                </a:r>
              </a:p>
            </p:txBody>
          </p:sp>
          <p:sp>
            <p:nvSpPr>
              <p:cNvPr id="31" name="직사각형 30"/>
              <p:cNvSpPr/>
              <p:nvPr/>
            </p:nvSpPr>
            <p:spPr>
              <a:xfrm>
                <a:off x="5935980" y="3268980"/>
                <a:ext cx="320040" cy="320040"/>
              </a:xfrm>
              <a:prstGeom prst="rect">
                <a:avLst/>
              </a:prstGeom>
              <a:solidFill>
                <a:srgbClr val="54535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/>
                  <a:t>합</a:t>
                </a:r>
              </a:p>
            </p:txBody>
          </p:sp>
          <p:sp>
            <p:nvSpPr>
              <p:cNvPr id="32" name="직사각형 31"/>
              <p:cNvSpPr/>
              <p:nvPr/>
            </p:nvSpPr>
            <p:spPr>
              <a:xfrm>
                <a:off x="6362700" y="3268980"/>
                <a:ext cx="320040" cy="320040"/>
              </a:xfrm>
              <a:prstGeom prst="rect">
                <a:avLst/>
              </a:prstGeom>
              <a:solidFill>
                <a:srgbClr val="54535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 err="1"/>
                  <a:t>니</a:t>
                </a:r>
                <a:endParaRPr lang="ko-KR" altLang="en-US" dirty="0"/>
              </a:p>
            </p:txBody>
          </p:sp>
          <p:sp>
            <p:nvSpPr>
              <p:cNvPr id="33" name="직사각형 32"/>
              <p:cNvSpPr/>
              <p:nvPr/>
            </p:nvSpPr>
            <p:spPr>
              <a:xfrm>
                <a:off x="6789420" y="3268980"/>
                <a:ext cx="320040" cy="320040"/>
              </a:xfrm>
              <a:prstGeom prst="rect">
                <a:avLst/>
              </a:prstGeom>
              <a:solidFill>
                <a:srgbClr val="54535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/>
                  <a:t>다</a:t>
                </a:r>
                <a:r>
                  <a:rPr lang="en-US" altLang="ko-KR" dirty="0"/>
                  <a:t>.</a:t>
                </a:r>
                <a:endParaRPr lang="ko-KR" altLang="en-US" dirty="0"/>
              </a:p>
            </p:txBody>
          </p:sp>
        </p:grpSp>
        <p:cxnSp>
          <p:nvCxnSpPr>
            <p:cNvPr id="11" name="직선 연결선 10"/>
            <p:cNvCxnSpPr/>
            <p:nvPr/>
          </p:nvCxnSpPr>
          <p:spPr>
            <a:xfrm>
              <a:off x="5242560" y="3108960"/>
              <a:ext cx="1727200" cy="0"/>
            </a:xfrm>
            <a:prstGeom prst="line">
              <a:avLst/>
            </a:prstGeom>
            <a:ln>
              <a:solidFill>
                <a:srgbClr val="54535B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직선 연결선 44"/>
            <p:cNvCxnSpPr/>
            <p:nvPr/>
          </p:nvCxnSpPr>
          <p:spPr>
            <a:xfrm>
              <a:off x="5222240" y="3759200"/>
              <a:ext cx="1727200" cy="0"/>
            </a:xfrm>
            <a:prstGeom prst="line">
              <a:avLst/>
            </a:prstGeom>
            <a:ln>
              <a:solidFill>
                <a:srgbClr val="54535B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A395CE0-3598-4896-99A2-1F98CEF4D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88238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2741</TotalTime>
  <Words>372</Words>
  <Application>Microsoft Office PowerPoint</Application>
  <PresentationFormat>와이드스크린</PresentationFormat>
  <Paragraphs>71</Paragraphs>
  <Slides>12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23" baseType="lpstr">
      <vt:lpstr>Apple SD Gothic Neo</vt:lpstr>
      <vt:lpstr>Megrim</vt:lpstr>
      <vt:lpstr>notokr</vt:lpstr>
      <vt:lpstr>se-nanumgothic</vt:lpstr>
      <vt:lpstr>나눔고딕 ExtraBold</vt:lpstr>
      <vt:lpstr>나눔스퀘어_ac</vt:lpstr>
      <vt:lpstr>나눔스퀘어_ac Bold</vt:lpstr>
      <vt:lpstr>나눔스퀘어라운드 Bold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민 병조</dc:creator>
  <cp:lastModifiedBy>jsb12302@office.deu.ac.kr</cp:lastModifiedBy>
  <cp:revision>295</cp:revision>
  <dcterms:created xsi:type="dcterms:W3CDTF">2018-05-24T09:13:53Z</dcterms:created>
  <dcterms:modified xsi:type="dcterms:W3CDTF">2021-01-11T09:20:10Z</dcterms:modified>
</cp:coreProperties>
</file>