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26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상화" initials="이상" lastIdx="1" clrIdx="0">
    <p:extLst>
      <p:ext uri="{19B8F6BF-5375-455C-9EA6-DF929625EA0E}">
        <p15:presenceInfo xmlns:p15="http://schemas.microsoft.com/office/powerpoint/2012/main" userId="3d9609a02ac1f2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535B"/>
    <a:srgbClr val="FD7C6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6" autoAdjust="0"/>
    <p:restoredTop sz="86701" autoAdjust="0"/>
  </p:normalViewPr>
  <p:slideViewPr>
    <p:cSldViewPr snapToGrid="0" showGuides="1">
      <p:cViewPr varScale="1">
        <p:scale>
          <a:sx n="74" d="100"/>
          <a:sy n="74" d="100"/>
        </p:scale>
        <p:origin x="1066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FFF07-F165-463F-AADC-71E9041BE566}" type="datetimeFigureOut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C2A6E-6D5E-4697-99AF-2AC3CE155A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42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83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AB78C-409A-4F08-A4A5-A025B75B66AE}" type="datetime1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BFF2-3D21-49CA-AEF0-D920467E008E}" type="datetime1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2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58F6-9BBF-4EA9-9638-02286FB3198B}" type="datetime1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23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9874-258D-404F-89FA-496D3CAB426F}" type="datetime1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3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CA2AE-616E-4B62-81DC-4C2CDDC420C4}" type="datetime1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82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216D8-15F0-45CA-A070-FDA0057DF405}" type="datetime1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9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F31B-90BC-44F6-8E6E-537E6B7FB44B}" type="datetime1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76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7A09-5E12-43A1-B9E0-01ADBD633E66}" type="datetime1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8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64AE-7B8F-4333-81C0-C6442E062594}" type="datetime1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FE9B1-6945-42FD-A728-A51B147FF7BF}" type="datetime1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77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D787-4C68-4CCA-8896-248910E61C4B}" type="datetime1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6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25346-6302-4358-8EC9-5F534C3AB5D1}" type="datetime1">
              <a:rPr lang="ko-KR" altLang="en-US" smtClean="0"/>
              <a:t>2021-01-18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1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93803" y="3515360"/>
            <a:ext cx="11604394" cy="13111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0" i="0">
                <a:solidFill>
                  <a:schemeClr val="bg1"/>
                </a:solidFill>
                <a:effectLst/>
                <a:latin typeface="Noto Sans KR"/>
              </a:rPr>
              <a:t>스프링 </a:t>
            </a:r>
            <a:r>
              <a:rPr lang="en-US" altLang="ko-KR" sz="4000" b="0" i="0">
                <a:solidFill>
                  <a:schemeClr val="bg1"/>
                </a:solidFill>
                <a:effectLst/>
                <a:latin typeface="Noto Sans KR"/>
              </a:rPr>
              <a:t>DB </a:t>
            </a:r>
            <a:r>
              <a:rPr lang="ko-KR" altLang="en-US" sz="4000" b="0" i="0">
                <a:solidFill>
                  <a:schemeClr val="bg1"/>
                </a:solidFill>
                <a:effectLst/>
                <a:latin typeface="Noto Sans KR"/>
              </a:rPr>
              <a:t>접근 기술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3586882" y="3342640"/>
            <a:ext cx="5018241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D809B-D72E-440C-BD5A-C1D4661A26B4}"/>
              </a:ext>
            </a:extLst>
          </p:cNvPr>
          <p:cNvSpPr txBox="1"/>
          <p:nvPr/>
        </p:nvSpPr>
        <p:spPr>
          <a:xfrm>
            <a:off x="293803" y="6398310"/>
            <a:ext cx="2743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2021-01-18 </a:t>
            </a:r>
            <a:r>
              <a:rPr lang="ko-KR" altLang="en-US" sz="15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발표자 정순범</a:t>
            </a:r>
            <a:endParaRPr lang="en-US" altLang="ko-KR" sz="15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AE7F3E-1E92-4B7F-BCAF-70E53883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5123" y="6356350"/>
            <a:ext cx="2743200" cy="365125"/>
          </a:xfrm>
        </p:spPr>
        <p:txBody>
          <a:bodyPr/>
          <a:lstStyle/>
          <a:p>
            <a:fld id="{25181C0B-4F34-4975-8B09-35C2A8FA8398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1026" name="Picture 2" descr="wiki.hash.kr/images/thumb/5/5d/%EC%8A%A4%ED%94%...">
            <a:extLst>
              <a:ext uri="{FF2B5EF4-FFF2-40B4-BE49-F238E27FC236}">
                <a16:creationId xmlns:a16="http://schemas.microsoft.com/office/drawing/2014/main" id="{F32A9C0E-33B9-425D-BDE4-58364F020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032763"/>
            <a:ext cx="2857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11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55303" y="1248606"/>
            <a:ext cx="2281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rPr>
              <a:t>Contents</a:t>
            </a:r>
            <a:endParaRPr lang="ko-KR" altLang="en-US" sz="40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Megrim" panose="02000603000000000000" pitchFamily="2" charset="0"/>
              <a:ea typeface="-윤고딕310" panose="02030504000101010101" pitchFamily="18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07942" y="480988"/>
            <a:ext cx="11576116" cy="6057924"/>
          </a:xfrm>
          <a:prstGeom prst="rect">
            <a:avLst/>
          </a:prstGeom>
          <a:solidFill>
            <a:srgbClr val="54535B">
              <a:alpha val="4000"/>
            </a:srgb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DD1FDD-D18C-47B9-A4A5-490D66361464}"/>
              </a:ext>
            </a:extLst>
          </p:cNvPr>
          <p:cNvSpPr/>
          <p:nvPr/>
        </p:nvSpPr>
        <p:spPr>
          <a:xfrm>
            <a:off x="804516" y="3875869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6C6CF7-3A44-48CD-9BF7-A1A9AAE2887C}"/>
              </a:ext>
            </a:extLst>
          </p:cNvPr>
          <p:cNvSpPr/>
          <p:nvPr/>
        </p:nvSpPr>
        <p:spPr>
          <a:xfrm>
            <a:off x="804515" y="3088456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E679AD-C63B-4A7F-8555-AB7726348281}"/>
              </a:ext>
            </a:extLst>
          </p:cNvPr>
          <p:cNvSpPr txBox="1"/>
          <p:nvPr/>
        </p:nvSpPr>
        <p:spPr>
          <a:xfrm>
            <a:off x="1740070" y="3028890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스프링 통합 테스트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276BEE-E00D-45D7-88B6-57E8EC3E9029}"/>
              </a:ext>
            </a:extLst>
          </p:cNvPr>
          <p:cNvSpPr txBox="1"/>
          <p:nvPr/>
        </p:nvSpPr>
        <p:spPr>
          <a:xfrm>
            <a:off x="1740070" y="3817190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JdbcTemplate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05AC6A-80FB-4E85-B211-DB5E7E61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F46BAD-6E45-4179-A87C-CDC301C99ECD}"/>
              </a:ext>
            </a:extLst>
          </p:cNvPr>
          <p:cNvSpPr/>
          <p:nvPr/>
        </p:nvSpPr>
        <p:spPr>
          <a:xfrm>
            <a:off x="804515" y="4663282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21DB44-138A-4757-9B6B-0D83192D0A9B}"/>
              </a:ext>
            </a:extLst>
          </p:cNvPr>
          <p:cNvSpPr txBox="1"/>
          <p:nvPr/>
        </p:nvSpPr>
        <p:spPr>
          <a:xfrm>
            <a:off x="1740070" y="4608835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JPA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D53C5D-DC31-47BF-ACC8-8C5681B30C11}"/>
              </a:ext>
            </a:extLst>
          </p:cNvPr>
          <p:cNvSpPr/>
          <p:nvPr/>
        </p:nvSpPr>
        <p:spPr>
          <a:xfrm>
            <a:off x="804514" y="5450657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04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B03741-919A-40ED-BC25-4CE842AEE254}"/>
              </a:ext>
            </a:extLst>
          </p:cNvPr>
          <p:cNvSpPr txBox="1"/>
          <p:nvPr/>
        </p:nvSpPr>
        <p:spPr>
          <a:xfrm>
            <a:off x="1740070" y="5373818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스프링 데이터 </a:t>
            </a:r>
            <a:r>
              <a:rPr lang="en-US" altLang="ko-KR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JPA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033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1957" y="308537"/>
            <a:ext cx="3581900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스프링 통합 테스트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4F15A3-2FF3-49A1-92D9-B49582CC7CFE}"/>
              </a:ext>
            </a:extLst>
          </p:cNvPr>
          <p:cNvSpPr txBox="1"/>
          <p:nvPr/>
        </p:nvSpPr>
        <p:spPr>
          <a:xfrm>
            <a:off x="698183" y="902417"/>
            <a:ext cx="8970032" cy="1432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@SpringBootTest :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스프링 컨테이너와 테스트를 함께 실행한다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@Transactional :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테스트 케이스에 이 애노테이션이 있으면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테스트 시작 전에 트랜잭션을 시작하고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테스트 완료 후에 항상 롤백한다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이렇게 하면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DB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데이터가 남지 않으므로 다음 테스트에 영향을 주지 않는다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23679A-4952-4FB0-BB3A-B47C77004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27" y="2665668"/>
            <a:ext cx="3548609" cy="3289915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334745F-3C2C-4F7E-8D54-0C7CA922A0BD}"/>
              </a:ext>
            </a:extLst>
          </p:cNvPr>
          <p:cNvCxnSpPr/>
          <p:nvPr/>
        </p:nvCxnSpPr>
        <p:spPr>
          <a:xfrm>
            <a:off x="5372100" y="4135582"/>
            <a:ext cx="9871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651D9735-12A8-4866-A9CF-67C296264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700" y="2665668"/>
            <a:ext cx="3776342" cy="328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2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1957" y="308537"/>
            <a:ext cx="3581900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JdbcTemplate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5D0BA-72F9-45C7-ACF6-64595C3305B7}"/>
              </a:ext>
            </a:extLst>
          </p:cNvPr>
          <p:cNvSpPr txBox="1"/>
          <p:nvPr/>
        </p:nvSpPr>
        <p:spPr>
          <a:xfrm>
            <a:off x="698183" y="902417"/>
            <a:ext cx="8970032" cy="1086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순수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Jdbc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동일한 환경설정을 하면 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스프링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JdbcTemplate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은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JDBC API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본 반복 코드를 대부분제거해준다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하지만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은 직접 작생해야 한다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1CF1EE-C785-419D-A7B7-BCF1F43DD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3" y="2212018"/>
            <a:ext cx="3202713" cy="8337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F121AB2-6B59-4489-95CC-14A7BFF83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83" y="3627672"/>
            <a:ext cx="5524500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4887EB-20B2-4C66-BA77-71E007DCE24E}"/>
              </a:ext>
            </a:extLst>
          </p:cNvPr>
          <p:cNvSpPr txBox="1"/>
          <p:nvPr/>
        </p:nvSpPr>
        <p:spPr>
          <a:xfrm>
            <a:off x="6453361" y="3778655"/>
            <a:ext cx="5349433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스프링이 자동으로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dataSource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인젝션 해준다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8BF423-B477-4C10-AD04-AB7A67BC8D46}"/>
              </a:ext>
            </a:extLst>
          </p:cNvPr>
          <p:cNvSpPr txBox="1"/>
          <p:nvPr/>
        </p:nvSpPr>
        <p:spPr>
          <a:xfrm>
            <a:off x="698183" y="5227872"/>
            <a:ext cx="539781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▶</a:t>
            </a:r>
            <a:r>
              <a:rPr lang="en-US" altLang="ko-KR" sz="1000" b="1" i="0">
                <a:solidFill>
                  <a:srgbClr val="202124"/>
                </a:solidFill>
                <a:effectLst/>
                <a:latin typeface="Apple SD Gothic Neo"/>
              </a:rPr>
              <a:t>DataSource</a:t>
            </a:r>
            <a:r>
              <a:rPr lang="ko-KR" altLang="en-US" sz="1000" b="1" i="0">
                <a:solidFill>
                  <a:srgbClr val="202124"/>
                </a:solidFill>
                <a:effectLst/>
                <a:latin typeface="Apple SD Gothic Neo"/>
              </a:rPr>
              <a:t>는 </a:t>
            </a:r>
            <a:r>
              <a:rPr lang="en-US" altLang="ko-KR" sz="1000" b="1" i="0">
                <a:solidFill>
                  <a:srgbClr val="202124"/>
                </a:solidFill>
                <a:effectLst/>
                <a:latin typeface="Apple SD Gothic Neo"/>
              </a:rPr>
              <a:t>JDBC </a:t>
            </a:r>
            <a:r>
              <a:rPr lang="ko-KR" altLang="en-US" sz="1000" b="1" i="0">
                <a:solidFill>
                  <a:srgbClr val="202124"/>
                </a:solidFill>
                <a:effectLst/>
                <a:latin typeface="Apple SD Gothic Neo"/>
              </a:rPr>
              <a:t>명세의 일부분이면서 일반화된 연결 팩토리이다</a:t>
            </a:r>
            <a:r>
              <a:rPr lang="en-US" altLang="ko-KR" sz="1000" b="1" i="0">
                <a:solidFill>
                  <a:srgbClr val="202124"/>
                </a:solidFill>
                <a:effectLst/>
                <a:latin typeface="Apple SD Gothic Neo"/>
              </a:rPr>
              <a:t>. </a:t>
            </a:r>
            <a:r>
              <a:rPr lang="ko-KR" altLang="en-US" sz="1000" b="1" i="0">
                <a:solidFill>
                  <a:srgbClr val="202124"/>
                </a:solidFill>
                <a:effectLst/>
                <a:latin typeface="Apple SD Gothic Neo"/>
              </a:rPr>
              <a:t>즉 </a:t>
            </a:r>
            <a:r>
              <a:rPr lang="en-US" altLang="ko-KR" sz="1000" b="1" i="0">
                <a:solidFill>
                  <a:srgbClr val="202124"/>
                </a:solidFill>
                <a:effectLst/>
                <a:latin typeface="Apple SD Gothic Neo"/>
              </a:rPr>
              <a:t>DB</a:t>
            </a:r>
            <a:r>
              <a:rPr lang="ko-KR" altLang="en-US" sz="1000" b="1" i="0">
                <a:solidFill>
                  <a:srgbClr val="202124"/>
                </a:solidFill>
                <a:effectLst/>
                <a:latin typeface="Apple SD Gothic Neo"/>
              </a:rPr>
              <a:t>와 관계된 </a:t>
            </a:r>
            <a:r>
              <a:rPr lang="en-US" altLang="ko-KR" sz="1000" b="1" i="0">
                <a:solidFill>
                  <a:srgbClr val="202124"/>
                </a:solidFill>
                <a:effectLst/>
                <a:latin typeface="Apple SD Gothic Neo"/>
              </a:rPr>
              <a:t>connection </a:t>
            </a:r>
            <a:r>
              <a:rPr lang="ko-KR" altLang="en-US" sz="1000" b="1" i="0">
                <a:solidFill>
                  <a:srgbClr val="202124"/>
                </a:solidFill>
                <a:effectLst/>
                <a:latin typeface="Apple SD Gothic Neo"/>
              </a:rPr>
              <a:t>정보를 담고 있으며</a:t>
            </a:r>
            <a:r>
              <a:rPr lang="en-US" altLang="ko-KR" sz="1000" b="1" i="0">
                <a:solidFill>
                  <a:srgbClr val="202124"/>
                </a:solidFill>
                <a:effectLst/>
                <a:latin typeface="Apple SD Gothic Neo"/>
              </a:rPr>
              <a:t>, bean</a:t>
            </a:r>
            <a:r>
              <a:rPr lang="ko-KR" altLang="en-US" sz="1000" b="1" i="0">
                <a:solidFill>
                  <a:srgbClr val="202124"/>
                </a:solidFill>
                <a:effectLst/>
                <a:latin typeface="Apple SD Gothic Neo"/>
              </a:rPr>
              <a:t>으로 등록하여 인자로 넘겨준다</a:t>
            </a:r>
            <a:r>
              <a:rPr lang="en-US" altLang="ko-KR" sz="1000" b="1" i="0">
                <a:solidFill>
                  <a:srgbClr val="202124"/>
                </a:solidFill>
                <a:effectLst/>
                <a:latin typeface="Apple SD Gothic Neo"/>
              </a:rPr>
              <a:t>. </a:t>
            </a:r>
            <a:r>
              <a:rPr lang="ko-KR" altLang="en-US" sz="1000" b="1" i="0">
                <a:solidFill>
                  <a:srgbClr val="202124"/>
                </a:solidFill>
                <a:effectLst/>
                <a:latin typeface="Apple SD Gothic Neo"/>
              </a:rPr>
              <a:t>이 과정을 통해 </a:t>
            </a:r>
            <a:r>
              <a:rPr lang="en-US" altLang="ko-KR" sz="1000" b="1" i="0">
                <a:solidFill>
                  <a:srgbClr val="202124"/>
                </a:solidFill>
                <a:effectLst/>
                <a:latin typeface="Apple SD Gothic Neo"/>
              </a:rPr>
              <a:t>Spring</a:t>
            </a:r>
            <a:r>
              <a:rPr lang="ko-KR" altLang="en-US" sz="1000" b="1" i="0">
                <a:solidFill>
                  <a:srgbClr val="202124"/>
                </a:solidFill>
                <a:effectLst/>
                <a:latin typeface="Apple SD Gothic Neo"/>
              </a:rPr>
              <a:t>은 </a:t>
            </a:r>
            <a:r>
              <a:rPr lang="en-US" altLang="ko-KR" sz="1000" b="1" i="0">
                <a:solidFill>
                  <a:srgbClr val="202124"/>
                </a:solidFill>
                <a:effectLst/>
                <a:latin typeface="Apple SD Gothic Neo"/>
              </a:rPr>
              <a:t>DataSource</a:t>
            </a:r>
            <a:r>
              <a:rPr lang="ko-KR" altLang="en-US" sz="1000" b="1" i="0">
                <a:solidFill>
                  <a:srgbClr val="202124"/>
                </a:solidFill>
                <a:effectLst/>
                <a:latin typeface="Apple SD Gothic Neo"/>
              </a:rPr>
              <a:t>로 </a:t>
            </a:r>
            <a:r>
              <a:rPr lang="en-US" altLang="ko-KR" sz="1000" b="1" i="0">
                <a:solidFill>
                  <a:srgbClr val="202124"/>
                </a:solidFill>
                <a:effectLst/>
                <a:latin typeface="Apple SD Gothic Neo"/>
              </a:rPr>
              <a:t>DB</a:t>
            </a:r>
            <a:r>
              <a:rPr lang="ko-KR" altLang="en-US" sz="1000" b="1" i="0">
                <a:solidFill>
                  <a:srgbClr val="202124"/>
                </a:solidFill>
                <a:effectLst/>
                <a:latin typeface="Apple SD Gothic Neo"/>
              </a:rPr>
              <a:t>와의 연결을 획득한다</a:t>
            </a:r>
            <a:r>
              <a:rPr lang="en-US" altLang="ko-KR" sz="1000" b="1" i="0">
                <a:solidFill>
                  <a:srgbClr val="202124"/>
                </a:solidFill>
                <a:effectLst/>
                <a:latin typeface="Apple SD Gothic Neo"/>
              </a:rPr>
              <a:t>.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959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1957" y="308537"/>
            <a:ext cx="3581900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JdbcTemplate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3B1D062-C50E-4126-9346-A589348D5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1" y="1549937"/>
            <a:ext cx="6724650" cy="22669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2B21A4-6DD8-4691-BC54-99CBC9306124}"/>
              </a:ext>
            </a:extLst>
          </p:cNvPr>
          <p:cNvSpPr txBox="1"/>
          <p:nvPr/>
        </p:nvSpPr>
        <p:spPr>
          <a:xfrm>
            <a:off x="7502395" y="1549937"/>
            <a:ext cx="4492381" cy="2379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SimpleJdbcInsert </a:t>
            </a:r>
            <a:r>
              <a:rPr lang="ko-KR" altLang="en-US" sz="14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객체를 만들고 </a:t>
            </a:r>
            <a:r>
              <a:rPr lang="en-US" altLang="ko-KR" sz="1400" b="0" i="0">
                <a:solidFill>
                  <a:srgbClr val="333333"/>
                </a:solidFill>
                <a:effectLst/>
                <a:latin typeface="Noto Sans KR"/>
              </a:rPr>
              <a:t>withTableName </a:t>
            </a:r>
            <a:r>
              <a:rPr lang="ko-KR" altLang="en-US" sz="1400" b="0" i="0">
                <a:solidFill>
                  <a:srgbClr val="333333"/>
                </a:solidFill>
                <a:effectLst/>
                <a:latin typeface="Noto Sans KR"/>
              </a:rPr>
              <a:t>메소드에 어떤 테이블에 데이터를 삽입할지</a:t>
            </a:r>
            <a:r>
              <a:rPr lang="en-US" altLang="ko-KR" sz="1400" b="0" i="0">
                <a:solidFill>
                  <a:srgbClr val="333333"/>
                </a:solidFill>
                <a:effectLst/>
                <a:latin typeface="Noto Sans KR"/>
              </a:rPr>
              <a:t>,  usingGeneratedKeyColumns </a:t>
            </a:r>
            <a:r>
              <a:rPr lang="ko-KR" altLang="en-US" sz="1400" b="0" i="0">
                <a:solidFill>
                  <a:srgbClr val="333333"/>
                </a:solidFill>
                <a:effectLst/>
                <a:latin typeface="Noto Sans KR"/>
              </a:rPr>
              <a:t>메소드에 어떤 칼럼을 자동으로 값을 받아올지 설정한다</a:t>
            </a:r>
            <a:r>
              <a:rPr lang="en-US" altLang="ko-KR" sz="1400" b="0" i="0">
                <a:solidFill>
                  <a:srgbClr val="333333"/>
                </a:solidFill>
                <a:effectLst/>
                <a:latin typeface="Noto Sans KR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executeAndReturnKey()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메소드는 자동 생성된 주키의 값을 반환한다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25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1957" y="308537"/>
            <a:ext cx="3581900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JdbcTemplate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75AE33-BEAE-48D4-B626-6DEC3E9904ED}"/>
              </a:ext>
            </a:extLst>
          </p:cNvPr>
          <p:cNvSpPr txBox="1"/>
          <p:nvPr/>
        </p:nvSpPr>
        <p:spPr>
          <a:xfrm>
            <a:off x="7515458" y="1581005"/>
            <a:ext cx="4492381" cy="15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RowMapper 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template 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객체의 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query 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메소드를 통해 결과값을 가져올 때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sql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문에 따라 추출된 결과를 리턴받을 객체의 멤버변수에 적절하게 할당하기 위한 매핑수단</a:t>
            </a:r>
            <a:endParaRPr lang="en-US" altLang="ko-KR" sz="13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71ABE6C-6693-48B7-A631-10D82B2E7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77" y="1469571"/>
            <a:ext cx="6768935" cy="39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3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1957" y="308537"/>
            <a:ext cx="3581900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JdbcTemplate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84FF00-0BDC-44CA-A6A8-C593450AD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3" y="1948769"/>
            <a:ext cx="2358966" cy="72934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4FB9A29-E6AF-4C9B-9D1D-311890FA6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37" y="3122615"/>
            <a:ext cx="4391025" cy="1057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6F14F7-4E04-4A31-9BE1-A0E29679C952}"/>
              </a:ext>
            </a:extLst>
          </p:cNvPr>
          <p:cNvSpPr txBox="1"/>
          <p:nvPr/>
        </p:nvSpPr>
        <p:spPr>
          <a:xfrm>
            <a:off x="698183" y="902417"/>
            <a:ext cx="8970032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JdbcTemplate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사용하도록 스프링 설정 변경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B02B076-FD28-4F06-85D4-829D0BF8D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37" y="4555793"/>
            <a:ext cx="2837469" cy="119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26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1957" y="308537"/>
            <a:ext cx="212728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JPA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6F14F7-4E04-4A31-9BE1-A0E29679C952}"/>
              </a:ext>
            </a:extLst>
          </p:cNvPr>
          <p:cNvSpPr txBox="1"/>
          <p:nvPr/>
        </p:nvSpPr>
        <p:spPr>
          <a:xfrm>
            <a:off x="698183" y="902417"/>
            <a:ext cx="10143988" cy="1086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JPA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기존의 반복 코드는 물론이고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기본적인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도 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JPA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직접 만들어서 실행해준다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JPA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사용하면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SQL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 데이터 중심의 설계에서 객체 중심의 설계로 패러다임을 전환을 할 수 있다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JPA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사용하면 개발 생산성을 크게 높일 수 있다</a:t>
            </a: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D5B894-C369-435C-9935-E74AB83799E5}"/>
              </a:ext>
            </a:extLst>
          </p:cNvPr>
          <p:cNvSpPr txBox="1"/>
          <p:nvPr/>
        </p:nvSpPr>
        <p:spPr>
          <a:xfrm>
            <a:off x="698183" y="2341276"/>
            <a:ext cx="7165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▶build.gradle 파일에 JPA, h2 데이터베이스 관련 라이브러리 추가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37537FD-2DC5-4B89-B73F-C7BE53A91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01" y="2843132"/>
            <a:ext cx="5848350" cy="16383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B53ACE8-E2B9-4DF6-80D9-3C6BBF559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01" y="5127625"/>
            <a:ext cx="4095750" cy="12287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4FF4B6-7228-47C9-A5BC-31EE229A11CA}"/>
              </a:ext>
            </a:extLst>
          </p:cNvPr>
          <p:cNvSpPr txBox="1"/>
          <p:nvPr/>
        </p:nvSpPr>
        <p:spPr>
          <a:xfrm>
            <a:off x="698182" y="4671018"/>
            <a:ext cx="7165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▶스프링 부트에 </a:t>
            </a:r>
            <a:r>
              <a:rPr lang="en-US" altLang="ko-KR"/>
              <a:t>JPA </a:t>
            </a:r>
            <a:r>
              <a:rPr lang="ko-KR" altLang="en-US"/>
              <a:t>설정 추가</a:t>
            </a:r>
          </a:p>
        </p:txBody>
      </p:sp>
    </p:spTree>
    <p:extLst>
      <p:ext uri="{BB962C8B-B14F-4D97-AF65-F5344CB8AC3E}">
        <p14:creationId xmlns:p14="http://schemas.microsoft.com/office/powerpoint/2010/main" val="1336895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1957" y="308537"/>
            <a:ext cx="212728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JPA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8DA4F7-D53B-425E-9C2B-36CA80F4E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79" y="2158093"/>
            <a:ext cx="4733925" cy="3848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32A9F26-FA97-414A-BB22-53FF82165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9" y="1325337"/>
            <a:ext cx="1990971" cy="5034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E71184-F227-426F-A129-1EE76FE0380F}"/>
              </a:ext>
            </a:extLst>
          </p:cNvPr>
          <p:cNvSpPr txBox="1"/>
          <p:nvPr/>
        </p:nvSpPr>
        <p:spPr>
          <a:xfrm>
            <a:off x="6733498" y="2148393"/>
            <a:ext cx="4492381" cy="3752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@Entity 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는 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JPA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를 사용해서 테이블과 매핑할 클래스에 붙이는 어노테이션이다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apple-system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22426"/>
                </a:solidFill>
                <a:latin typeface="-apple-system"/>
                <a:ea typeface="나눔스퀘어_ac Bold" panose="020B0600000101010101" pitchFamily="50" charset="-127"/>
              </a:rPr>
              <a:t>@Entity </a:t>
            </a:r>
            <a:r>
              <a:rPr lang="ko-KR" altLang="en-US" sz="14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22426"/>
                </a:solidFill>
                <a:latin typeface="-apple-system"/>
                <a:ea typeface="나눔스퀘어_ac Bold" panose="020B0600000101010101" pitchFamily="50" charset="-127"/>
              </a:rPr>
              <a:t>가 붙은 클래스는 </a:t>
            </a:r>
            <a:r>
              <a:rPr lang="en-US" altLang="ko-KR" sz="14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22426"/>
                </a:solidFill>
                <a:latin typeface="-apple-system"/>
                <a:ea typeface="나눔스퀘어_ac Bold" panose="020B0600000101010101" pitchFamily="50" charset="-127"/>
              </a:rPr>
              <a:t>JPA</a:t>
            </a:r>
            <a:r>
              <a:rPr lang="ko-KR" altLang="en-US" sz="14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22426"/>
                </a:solidFill>
                <a:latin typeface="-apple-system"/>
                <a:ea typeface="나눔스퀘어_ac Bold" panose="020B0600000101010101" pitchFamily="50" charset="-127"/>
              </a:rPr>
              <a:t>가 관리 한다</a:t>
            </a:r>
            <a:r>
              <a:rPr lang="en-US" altLang="ko-KR" sz="14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22426"/>
                </a:solidFill>
                <a:latin typeface="-apple-system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apple-system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@GeneratedValue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 는 기본키 자동생성 방법을 사용할때 붙이는 어노테이션이다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apple-system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5C5C5C"/>
                </a:solidFill>
                <a:effectLst/>
                <a:latin typeface="-apple-system"/>
              </a:rPr>
              <a:t>IDENTITY</a:t>
            </a:r>
            <a:r>
              <a:rPr lang="ko-KR" altLang="en-US" sz="1400">
                <a:solidFill>
                  <a:srgbClr val="5C5C5C"/>
                </a:solidFill>
                <a:latin typeface="-apple-system"/>
              </a:rPr>
              <a:t>는 </a:t>
            </a:r>
            <a:r>
              <a:rPr lang="ko-KR" altLang="en-US" sz="1400" b="0">
                <a:solidFill>
                  <a:srgbClr val="5C5C5C"/>
                </a:solidFill>
                <a:effectLst/>
                <a:latin typeface="-apple-system"/>
              </a:rPr>
              <a:t>기본 키 생성을 데이터베이스에 위임하는 방법</a:t>
            </a:r>
            <a:endParaRPr lang="en-US" altLang="ko-KR" sz="13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apple-system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즉 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DB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에 값을 넣으면 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ID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를 자동으로 생성해준다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22426"/>
              </a:solidFill>
              <a:latin typeface="-apple-system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3725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1957" y="308537"/>
            <a:ext cx="212728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JPA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E71184-F227-426F-A129-1EE76FE0380F}"/>
              </a:ext>
            </a:extLst>
          </p:cNvPr>
          <p:cNvSpPr txBox="1"/>
          <p:nvPr/>
        </p:nvSpPr>
        <p:spPr>
          <a:xfrm>
            <a:off x="7308263" y="2501090"/>
            <a:ext cx="4492381" cy="2851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persist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는 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EntityManager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를 통해서 엔티티를 영속성 컨텍스트에 저장한다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apple-system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22426"/>
                </a:solidFill>
                <a:latin typeface="-apple-system"/>
                <a:ea typeface="나눔스퀘어_ac Bold" panose="020B0600000101010101" pitchFamily="50" charset="-127"/>
              </a:rPr>
              <a:t>"select m from Member m“ </a:t>
            </a:r>
            <a:r>
              <a:rPr lang="ko-KR" altLang="en-US" sz="14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22426"/>
                </a:solidFill>
                <a:latin typeface="-apple-system"/>
                <a:ea typeface="나눔스퀘어_ac Bold" panose="020B0600000101010101" pitchFamily="50" charset="-127"/>
              </a:rPr>
              <a:t>은 </a:t>
            </a:r>
            <a:r>
              <a:rPr lang="en-US" altLang="ko-KR" sz="14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22426"/>
                </a:solidFill>
                <a:latin typeface="-apple-system"/>
                <a:ea typeface="나눔스퀘어_ac Bold" panose="020B0600000101010101" pitchFamily="50" charset="-127"/>
              </a:rPr>
              <a:t>JPQL </a:t>
            </a:r>
            <a:r>
              <a:rPr lang="ko-KR" altLang="en-US" sz="14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22426"/>
                </a:solidFill>
                <a:latin typeface="-apple-system"/>
                <a:ea typeface="나눔스퀘어_ac Bold" panose="020B0600000101010101" pitchFamily="50" charset="-127"/>
              </a:rPr>
              <a:t>객체지향 쿼리 언어이며 테이블을 대상이 아닌 객체를 대상으로 쿼리 한다</a:t>
            </a:r>
            <a:r>
              <a:rPr lang="en-US" altLang="ko-KR" sz="14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22426"/>
                </a:solidFill>
                <a:latin typeface="-apple-system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apple-system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apple-system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22426"/>
              </a:solidFill>
              <a:latin typeface="-apple-system"/>
              <a:ea typeface="나눔스퀘어_ac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83111D-7204-4F5E-8A2D-0FCAB0011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64" y="1140947"/>
            <a:ext cx="1847850" cy="8001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8EBC838-382D-408F-97CF-05B33CDEB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64" y="2155371"/>
            <a:ext cx="6212735" cy="396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68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1957" y="308537"/>
            <a:ext cx="2127289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JPA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5FACA-E0F0-4C02-A9C3-60538C3FB6F4}"/>
              </a:ext>
            </a:extLst>
          </p:cNvPr>
          <p:cNvSpPr txBox="1"/>
          <p:nvPr/>
        </p:nvSpPr>
        <p:spPr>
          <a:xfrm>
            <a:off x="698183" y="902417"/>
            <a:ext cx="8970032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JPA</a:t>
            </a:r>
            <a:r>
              <a:rPr lang="ko-KR" altLang="en-US" sz="15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사용하도록 스프링 설정 변경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06C9C6-80F9-4E60-89FD-0A0AA5C6B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53" y="1853389"/>
            <a:ext cx="1905524" cy="7853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713BEAC-16D9-4A78-8BAD-A5B9902B3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79" y="2796250"/>
            <a:ext cx="4001359" cy="375321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6EEC4D7-1F25-446B-8A90-56259BC42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535" y="4772252"/>
            <a:ext cx="3693909" cy="118732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DBDB654-F91B-4B1C-B6C8-15C29591E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6535" y="1627485"/>
            <a:ext cx="3954652" cy="1737650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967371A-ADB1-493D-8BE3-70D7356EF383}"/>
              </a:ext>
            </a:extLst>
          </p:cNvPr>
          <p:cNvCxnSpPr/>
          <p:nvPr/>
        </p:nvCxnSpPr>
        <p:spPr>
          <a:xfrm>
            <a:off x="5958038" y="1627485"/>
            <a:ext cx="0" cy="3927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E122049F-2895-4B7A-B65B-33D578DF1B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2339" y="3540430"/>
            <a:ext cx="1640864" cy="86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99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1956" y="308536"/>
            <a:ext cx="3084143" cy="4577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스프링 데이터 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JPA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E14A64-3385-4F11-8FC2-EA01EE913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3" y="2705634"/>
            <a:ext cx="2781300" cy="16859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6F49E04-DC9D-476B-91A7-8BFC61B46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83" y="4854842"/>
            <a:ext cx="9877425" cy="10382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623956F-3F24-4F3E-A181-0EB0A3042F8F}"/>
              </a:ext>
            </a:extLst>
          </p:cNvPr>
          <p:cNvSpPr txBox="1"/>
          <p:nvPr/>
        </p:nvSpPr>
        <p:spPr>
          <a:xfrm>
            <a:off x="698183" y="1155900"/>
            <a:ext cx="10143988" cy="11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0" i="0">
                <a:effectLst/>
                <a:latin typeface="Noto Sans KR"/>
              </a:rPr>
              <a:t>스프링 프레임워크에서 </a:t>
            </a:r>
            <a:r>
              <a:rPr lang="en-US" altLang="ko-KR" sz="1600" b="0" i="0">
                <a:effectLst/>
                <a:latin typeface="Noto Sans KR"/>
              </a:rPr>
              <a:t>JPA</a:t>
            </a:r>
            <a:r>
              <a:rPr lang="ko-KR" altLang="en-US" sz="1600" b="0" i="0">
                <a:effectLst/>
                <a:latin typeface="Noto Sans KR"/>
              </a:rPr>
              <a:t>를 편리하게 사용할 수 있도록 지원하는</a:t>
            </a:r>
            <a:r>
              <a:rPr lang="en-US" altLang="ko-KR" sz="1500" b="0" i="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 KR"/>
                <a:ea typeface="나눔스퀘어_ac Bold" panose="020B0600000101010101" pitchFamily="50" charset="-127"/>
              </a:rPr>
              <a:t> </a:t>
            </a:r>
            <a:r>
              <a:rPr lang="ko-KR" altLang="en-US" sz="1500" b="0" i="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oto Sans KR"/>
                <a:ea typeface="나눔스퀘어_ac Bold" panose="020B0600000101010101" pitchFamily="50" charset="-127"/>
              </a:rPr>
              <a:t>기능</a:t>
            </a:r>
            <a:endParaRPr lang="en-US" altLang="ko-KR" sz="1500" b="0" i="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Noto Sans KR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0" i="0">
                <a:effectLst/>
                <a:latin typeface="Noto Sans KR"/>
              </a:rPr>
              <a:t>데이터 접근 계층을 개발할 때 구현 클래스 없이 인터페이스만 작성해도 개발을 완료</a:t>
            </a:r>
            <a:r>
              <a:rPr lang="en-US" altLang="ko-KR" sz="1600" b="0" i="0">
                <a:effectLst/>
                <a:latin typeface="Noto Sans KR"/>
              </a:rPr>
              <a:t>,</a:t>
            </a:r>
            <a:r>
              <a:rPr lang="ko-KR" altLang="en-US" sz="1600" b="0" i="0">
                <a:effectLst/>
                <a:latin typeface="Noto Sans KR"/>
              </a:rPr>
              <a:t> </a:t>
            </a:r>
            <a:r>
              <a:rPr lang="en-US" altLang="ko-KR" sz="1600" b="0" i="0">
                <a:effectLst/>
                <a:latin typeface="Noto Sans KR"/>
              </a:rPr>
              <a:t>CRUD </a:t>
            </a:r>
            <a:r>
              <a:rPr lang="ko-KR" altLang="en-US" sz="1600" b="0" i="0">
                <a:effectLst/>
                <a:latin typeface="Noto Sans KR"/>
              </a:rPr>
              <a:t>문제를 세련된 방법으로 해결</a:t>
            </a:r>
            <a:r>
              <a:rPr lang="en-US" altLang="ko-KR" sz="1600" b="0" i="0">
                <a:effectLst/>
                <a:latin typeface="Noto Sans KR"/>
              </a:rPr>
              <a:t>, </a:t>
            </a:r>
            <a:r>
              <a:rPr lang="ko-KR" altLang="en-US" sz="1600" b="0" i="0">
                <a:effectLst/>
                <a:latin typeface="Noto Sans KR"/>
              </a:rPr>
              <a:t>인터페이스만 작성하면 실행시점에 스프링 데이터 </a:t>
            </a:r>
            <a:r>
              <a:rPr lang="en-US" altLang="ko-KR" sz="1600" b="0" i="0">
                <a:effectLst/>
                <a:latin typeface="Noto Sans KR"/>
              </a:rPr>
              <a:t>JPA</a:t>
            </a:r>
            <a:r>
              <a:rPr lang="ko-KR" altLang="en-US" sz="1600" b="0" i="0">
                <a:effectLst/>
                <a:latin typeface="Noto Sans KR"/>
              </a:rPr>
              <a:t>가 구현</a:t>
            </a:r>
            <a:endParaRPr lang="en-US" altLang="ko-KR" sz="15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B85DF2-D286-4A99-B7B9-4659EFA3E244}"/>
              </a:ext>
            </a:extLst>
          </p:cNvPr>
          <p:cNvSpPr txBox="1"/>
          <p:nvPr/>
        </p:nvSpPr>
        <p:spPr>
          <a:xfrm>
            <a:off x="3247889" y="2227660"/>
            <a:ext cx="8667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▶</a:t>
            </a:r>
            <a:r>
              <a:rPr lang="en-US" altLang="ko-KR" sz="1000" b="1" i="0">
                <a:solidFill>
                  <a:srgbClr val="202124"/>
                </a:solidFill>
                <a:effectLst/>
                <a:latin typeface="Apple SD Gothic Neo"/>
              </a:rPr>
              <a:t>CRUD</a:t>
            </a:r>
            <a:r>
              <a:rPr lang="ko-KR" altLang="en-US" sz="1000" b="0" i="0">
                <a:solidFill>
                  <a:srgbClr val="202124"/>
                </a:solidFill>
                <a:effectLst/>
                <a:latin typeface="Apple SD Gothic Neo"/>
              </a:rPr>
              <a:t>는 대부분의 컴퓨터 소프트웨어가 가지는 기본적인 데이터 처리 기능인 </a:t>
            </a:r>
            <a:r>
              <a:rPr lang="en-US" altLang="ko-KR" sz="1000" b="0" i="0">
                <a:solidFill>
                  <a:srgbClr val="202124"/>
                </a:solidFill>
                <a:effectLst/>
                <a:latin typeface="Apple SD Gothic Neo"/>
              </a:rPr>
              <a:t>Create(</a:t>
            </a:r>
            <a:r>
              <a:rPr lang="ko-KR" altLang="en-US" sz="1000" b="0" i="0">
                <a:solidFill>
                  <a:srgbClr val="202124"/>
                </a:solidFill>
                <a:effectLst/>
                <a:latin typeface="Apple SD Gothic Neo"/>
              </a:rPr>
              <a:t>생성</a:t>
            </a:r>
            <a:r>
              <a:rPr lang="en-US" altLang="ko-KR" sz="1000" b="0" i="0">
                <a:solidFill>
                  <a:srgbClr val="202124"/>
                </a:solidFill>
                <a:effectLst/>
                <a:latin typeface="Apple SD Gothic Neo"/>
              </a:rPr>
              <a:t>), Read(</a:t>
            </a:r>
            <a:r>
              <a:rPr lang="ko-KR" altLang="en-US" sz="1000" b="0" i="0">
                <a:solidFill>
                  <a:srgbClr val="202124"/>
                </a:solidFill>
                <a:effectLst/>
                <a:latin typeface="Apple SD Gothic Neo"/>
              </a:rPr>
              <a:t>읽기</a:t>
            </a:r>
            <a:r>
              <a:rPr lang="en-US" altLang="ko-KR" sz="1000" b="0" i="0">
                <a:solidFill>
                  <a:srgbClr val="202124"/>
                </a:solidFill>
                <a:effectLst/>
                <a:latin typeface="Apple SD Gothic Neo"/>
              </a:rPr>
              <a:t>), Update(</a:t>
            </a:r>
            <a:r>
              <a:rPr lang="ko-KR" altLang="en-US" sz="1000" b="0" i="0">
                <a:solidFill>
                  <a:srgbClr val="202124"/>
                </a:solidFill>
                <a:effectLst/>
                <a:latin typeface="Apple SD Gothic Neo"/>
              </a:rPr>
              <a:t>갱신</a:t>
            </a:r>
            <a:r>
              <a:rPr lang="en-US" altLang="ko-KR" sz="1000" b="0" i="0">
                <a:solidFill>
                  <a:srgbClr val="202124"/>
                </a:solidFill>
                <a:effectLst/>
                <a:latin typeface="Apple SD Gothic Neo"/>
              </a:rPr>
              <a:t>), Delete(</a:t>
            </a:r>
            <a:r>
              <a:rPr lang="ko-KR" altLang="en-US" sz="1000" b="0" i="0">
                <a:solidFill>
                  <a:srgbClr val="202124"/>
                </a:solidFill>
                <a:effectLst/>
                <a:latin typeface="Apple SD Gothic Neo"/>
              </a:rPr>
              <a:t>삭제</a:t>
            </a:r>
            <a:r>
              <a:rPr lang="en-US" altLang="ko-KR" sz="1000" b="0" i="0">
                <a:solidFill>
                  <a:srgbClr val="202124"/>
                </a:solidFill>
                <a:effectLst/>
                <a:latin typeface="Apple SD Gothic Neo"/>
              </a:rPr>
              <a:t>)</a:t>
            </a:r>
            <a:r>
              <a:rPr lang="ko-KR" altLang="en-US" sz="1000" b="0" i="0">
                <a:solidFill>
                  <a:srgbClr val="202124"/>
                </a:solidFill>
                <a:effectLst/>
                <a:latin typeface="Apple SD Gothic Neo"/>
              </a:rPr>
              <a:t>를 묶어서 일컫는 말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534926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1956" y="308536"/>
            <a:ext cx="3084143" cy="5201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스프링 데이터 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JPA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D0DB5E-DB4B-428C-9186-012296DF6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976438"/>
            <a:ext cx="6029325" cy="3276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A836A4-A9BE-491C-98DB-57211E2AAB02}"/>
              </a:ext>
            </a:extLst>
          </p:cNvPr>
          <p:cNvSpPr txBox="1"/>
          <p:nvPr/>
        </p:nvSpPr>
        <p:spPr>
          <a:xfrm>
            <a:off x="638175" y="1420296"/>
            <a:ext cx="7419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▶스프링 데이터 </a:t>
            </a:r>
            <a:r>
              <a:rPr lang="en-US" altLang="ko-KR"/>
              <a:t>JPA </a:t>
            </a:r>
            <a:r>
              <a:rPr lang="ko-KR" altLang="en-US"/>
              <a:t>회원 리포지토리를 사용하도록 스프링 설정 변경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0308A1-117B-44D5-B7AA-78F639A4FCC2}"/>
              </a:ext>
            </a:extLst>
          </p:cNvPr>
          <p:cNvSpPr txBox="1"/>
          <p:nvPr/>
        </p:nvSpPr>
        <p:spPr>
          <a:xfrm>
            <a:off x="7061479" y="1988994"/>
            <a:ext cx="4836112" cy="1282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스프링 데이터 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JPA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가 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SpringDataJpaMemberRepository </a:t>
            </a:r>
            <a:r>
              <a:rPr lang="ko-KR" altLang="en-US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를 스프링 빈으로 자동 등록해준다</a:t>
            </a:r>
            <a:r>
              <a:rPr lang="en-US" altLang="ko-KR" sz="1300" spc="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-apple-system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-apple-system"/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spc="10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22426"/>
              </a:solidFill>
              <a:latin typeface="-apple-system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1228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1956" y="308536"/>
            <a:ext cx="3084143" cy="5201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스프링 데이터 </a:t>
            </a:r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JPA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6707CC-6E68-4FD9-82B9-1BEAEE471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99" y="1422400"/>
            <a:ext cx="5548551" cy="422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4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3984045" y="2645410"/>
            <a:ext cx="4223910" cy="1259840"/>
            <a:chOff x="5082540" y="3108960"/>
            <a:chExt cx="2026920" cy="650240"/>
          </a:xfrm>
        </p:grpSpPr>
        <p:grpSp>
          <p:nvGrpSpPr>
            <p:cNvPr id="6" name="그룹 5"/>
            <p:cNvGrpSpPr/>
            <p:nvPr/>
          </p:nvGrpSpPr>
          <p:grpSpPr>
            <a:xfrm>
              <a:off x="5082540" y="3274060"/>
              <a:ext cx="2026920" cy="320040"/>
              <a:chOff x="5082540" y="3268980"/>
              <a:chExt cx="2026920" cy="320040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08254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감</a:t>
                </a: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550926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사</a:t>
                </a: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593598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합</a:t>
                </a: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636270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 err="1"/>
                  <a:t>니</a:t>
                </a:r>
                <a:endParaRPr lang="ko-KR" altLang="en-US" dirty="0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678942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p:grpSp>
        <p:cxnSp>
          <p:nvCxnSpPr>
            <p:cNvPr id="11" name="직선 연결선 10"/>
            <p:cNvCxnSpPr/>
            <p:nvPr/>
          </p:nvCxnSpPr>
          <p:spPr>
            <a:xfrm>
              <a:off x="5242560" y="310896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>
              <a:off x="5222240" y="375920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395CE0-3598-4896-99A2-1F98CEF4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82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3111</TotalTime>
  <Words>493</Words>
  <Application>Microsoft Office PowerPoint</Application>
  <PresentationFormat>와이드스크린</PresentationFormat>
  <Paragraphs>79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6" baseType="lpstr">
      <vt:lpstr>Apple SD Gothic Neo</vt:lpstr>
      <vt:lpstr>-apple-system</vt:lpstr>
      <vt:lpstr>Megrim</vt:lpstr>
      <vt:lpstr>Noto Sans KR</vt:lpstr>
      <vt:lpstr>나눔고딕 ExtraBold</vt:lpstr>
      <vt:lpstr>나눔스퀘어_ac</vt:lpstr>
      <vt:lpstr>나눔스퀘어_ac Bold</vt:lpstr>
      <vt:lpstr>나눔스퀘어라운드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 병조</dc:creator>
  <cp:lastModifiedBy>jsb12302@office.deu.ac.kr</cp:lastModifiedBy>
  <cp:revision>335</cp:revision>
  <dcterms:created xsi:type="dcterms:W3CDTF">2018-05-24T09:13:53Z</dcterms:created>
  <dcterms:modified xsi:type="dcterms:W3CDTF">2021-01-18T07:28:00Z</dcterms:modified>
</cp:coreProperties>
</file>