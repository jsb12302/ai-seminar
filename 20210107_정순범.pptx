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303" r:id="rId4"/>
    <p:sldId id="305" r:id="rId5"/>
    <p:sldId id="307" r:id="rId6"/>
    <p:sldId id="310" r:id="rId7"/>
    <p:sldId id="311" r:id="rId8"/>
    <p:sldId id="313" r:id="rId9"/>
    <p:sldId id="314" r:id="rId10"/>
    <p:sldId id="315" r:id="rId11"/>
    <p:sldId id="316" r:id="rId12"/>
    <p:sldId id="26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86701" autoAdjust="0"/>
  </p:normalViewPr>
  <p:slideViewPr>
    <p:cSldViewPr snapToGrid="0" showGuides="1">
      <p:cViewPr varScale="1">
        <p:scale>
          <a:sx n="74" d="100"/>
          <a:sy n="74" d="100"/>
        </p:scale>
        <p:origin x="106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B78C-409A-4F08-A4A5-A025B75B66AE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BFF2-3D21-49CA-AEF0-D920467E008E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8F6-9BBF-4EA9-9638-02286FB3198B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9874-258D-404F-89FA-496D3CAB426F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A2AE-616E-4B62-81DC-4C2CDDC420C4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16D8-15F0-45CA-A070-FDA0057DF405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F31B-90BC-44F6-8E6E-537E6B7FB44B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7A09-5E12-43A1-B9E0-01ADBD633E66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64AE-7B8F-4333-81C0-C6442E062594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FE9B1-6945-42FD-A728-A51B147FF7BF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D787-4C68-4CCA-8896-248910E61C4B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25346-6302-4358-8EC9-5F534C3AB5D1}" type="datetime1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Chapter 01 </a:t>
            </a:r>
            <a:r>
              <a:rPr lang="ko-KR" altLang="en-US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과학과 파이썬의 세계로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293803" y="6398310"/>
            <a:ext cx="2520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2021-01-07 </a:t>
            </a:r>
            <a:r>
              <a:rPr lang="ko-KR" altLang="en-US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AE7F3E-1E92-4B7F-BCAF-70E5388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4AB26F-DB60-4B37-B46B-E75F09D32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75" y="422444"/>
            <a:ext cx="2776450" cy="269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7942" y="40003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804516" y="4643654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804517" y="5569442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A948B-EDBD-4DAA-918A-847994014BC5}"/>
              </a:ext>
            </a:extLst>
          </p:cNvPr>
          <p:cNvSpPr txBox="1"/>
          <p:nvPr/>
        </p:nvSpPr>
        <p:spPr>
          <a:xfrm>
            <a:off x="1740070" y="458497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파이썬 모듈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83767-C4BC-40B3-B74D-8D064863C40C}"/>
              </a:ext>
            </a:extLst>
          </p:cNvPr>
          <p:cNvSpPr txBox="1"/>
          <p:nvPr/>
        </p:nvSpPr>
        <p:spPr>
          <a:xfrm>
            <a:off x="1740070" y="5510763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터틀 그래픽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8A3EC-5AAA-4AE8-9BCC-2E04A9B657F6}"/>
              </a:ext>
            </a:extLst>
          </p:cNvPr>
          <p:cNvSpPr/>
          <p:nvPr/>
        </p:nvSpPr>
        <p:spPr>
          <a:xfrm>
            <a:off x="804516" y="3823870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A406-557D-46B8-B5F1-BE9931702316}"/>
              </a:ext>
            </a:extLst>
          </p:cNvPr>
          <p:cNvSpPr txBox="1"/>
          <p:nvPr/>
        </p:nvSpPr>
        <p:spPr>
          <a:xfrm>
            <a:off x="1740070" y="3775966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파이썬 실습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1FDD-D18C-47B9-A4A5-490D66361464}"/>
              </a:ext>
            </a:extLst>
          </p:cNvPr>
          <p:cNvSpPr/>
          <p:nvPr/>
        </p:nvSpPr>
        <p:spPr>
          <a:xfrm>
            <a:off x="804516" y="3077714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6C6CF7-3A44-48CD-9BF7-A1A9AAE2887C}"/>
              </a:ext>
            </a:extLst>
          </p:cNvPr>
          <p:cNvSpPr/>
          <p:nvPr/>
        </p:nvSpPr>
        <p:spPr>
          <a:xfrm>
            <a:off x="804515" y="2290301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679AD-C63B-4A7F-8555-AB7726348281}"/>
              </a:ext>
            </a:extLst>
          </p:cNvPr>
          <p:cNvSpPr txBox="1"/>
          <p:nvPr/>
        </p:nvSpPr>
        <p:spPr>
          <a:xfrm>
            <a:off x="1740070" y="223073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과학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276BEE-E00D-45D7-88B6-57E8EC3E9029}"/>
              </a:ext>
            </a:extLst>
          </p:cNvPr>
          <p:cNvSpPr txBox="1"/>
          <p:nvPr/>
        </p:nvSpPr>
        <p:spPr>
          <a:xfrm>
            <a:off x="1740070" y="301903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파이썬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05AC6A-80FB-4E85-B211-DB5E7E61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데이터 과학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F8E0839-E8BB-4901-BC91-68EBD42F8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29" y="1235148"/>
            <a:ext cx="10916671" cy="4387704"/>
          </a:xfrm>
        </p:spPr>
        <p:txBody>
          <a:bodyPr/>
          <a:lstStyle/>
          <a:p>
            <a:r>
              <a:rPr lang="ko-KR" altLang="en-US" sz="2000" b="1" dirty="0">
                <a:solidFill>
                  <a:srgbClr val="4472C4"/>
                </a:solidFill>
              </a:rPr>
              <a:t>데이터 과학</a:t>
            </a:r>
            <a:r>
              <a:rPr lang="en-US" altLang="ko-KR" sz="2000" b="1" baseline="30000" dirty="0">
                <a:solidFill>
                  <a:srgbClr val="4472C4"/>
                </a:solidFill>
              </a:rPr>
              <a:t>data science</a:t>
            </a:r>
            <a:r>
              <a:rPr lang="ko-KR" altLang="en-US" sz="2000" dirty="0"/>
              <a:t>은 데이터에서 과학적 방법으로 정보나 지식을</a:t>
            </a:r>
            <a:r>
              <a:rPr lang="en-US" altLang="ko-KR" sz="2000" dirty="0"/>
              <a:t> </a:t>
            </a:r>
            <a:r>
              <a:rPr lang="ko-KR" altLang="en-US" sz="2000" dirty="0"/>
              <a:t>추출하는 학문이다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통계학</a:t>
            </a:r>
            <a:r>
              <a:rPr lang="en-US" altLang="ko-KR" sz="2000" dirty="0"/>
              <a:t>, </a:t>
            </a:r>
            <a:r>
              <a:rPr lang="ko-KR" altLang="en-US" sz="2000" dirty="0"/>
              <a:t>컴퓨터 과학</a:t>
            </a:r>
            <a:r>
              <a:rPr lang="en-US" altLang="ko-KR" sz="2000" dirty="0"/>
              <a:t>, </a:t>
            </a:r>
            <a:r>
              <a:rPr lang="ko-KR" altLang="en-US" sz="2000" dirty="0"/>
              <a:t>그리고 데이터가 발생하는 영역과 관련된 학문 분야의 이론과 기술을 </a:t>
            </a:r>
            <a:r>
              <a:rPr lang="ko-KR" altLang="en-US" sz="2000" dirty="0" err="1"/>
              <a:t>융합적으로</a:t>
            </a:r>
            <a:r>
              <a:rPr lang="ko-KR" altLang="en-US" sz="2000" dirty="0"/>
              <a:t> 사용하여야 </a:t>
            </a:r>
            <a:r>
              <a:rPr lang="ko-KR" altLang="en-US" sz="2000"/>
              <a:t>한다</a:t>
            </a:r>
            <a:r>
              <a:rPr lang="en-US" altLang="ko-KR" sz="2000"/>
              <a:t>.</a:t>
            </a:r>
          </a:p>
          <a:p>
            <a:r>
              <a:rPr lang="ko-KR" altLang="en-US" sz="2000" b="1">
                <a:solidFill>
                  <a:srgbClr val="4472C4"/>
                </a:solidFill>
              </a:rPr>
              <a:t>파이썬</a:t>
            </a:r>
            <a:r>
              <a:rPr lang="ko-KR" altLang="en-US" sz="2000"/>
              <a:t>은 데이터 과학자들을 위한 분석도구이다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프로그래밍을 통한 데이처 처리는 모든 학문에서 중요한 기초가 되었다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93EDBD-0745-4A83-A3A4-EA2B7FE4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92" y="3511982"/>
            <a:ext cx="7168144" cy="277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데이터 과학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2423CDE-4283-4A7F-B617-A238DC87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04" y="772389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데이터 과학은 무엇을 다루나 </a:t>
            </a:r>
          </a:p>
        </p:txBody>
      </p:sp>
      <p:pic>
        <p:nvPicPr>
          <p:cNvPr id="9" name="_x299916360" descr="EMB00003970231f">
            <a:extLst>
              <a:ext uri="{FF2B5EF4-FFF2-40B4-BE49-F238E27FC236}">
                <a16:creationId xmlns:a16="http://schemas.microsoft.com/office/drawing/2014/main" id="{51E18F7A-355C-4719-B2FE-555CFEBFF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02" y="2097952"/>
            <a:ext cx="4444146" cy="398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B50E479-D7CC-47F5-8BE3-096985C75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464" y="2110430"/>
            <a:ext cx="5546416" cy="1868012"/>
          </a:xfrm>
        </p:spPr>
        <p:txBody>
          <a:bodyPr>
            <a:normAutofit/>
          </a:bodyPr>
          <a:lstStyle/>
          <a:p>
            <a:r>
              <a:rPr lang="ko-KR" altLang="en-US" sz="1600"/>
              <a:t>데이터를 다루는 이유는 무엇일까</a:t>
            </a:r>
            <a:r>
              <a:rPr lang="en-US" altLang="ko-KR" sz="1600"/>
              <a:t>? </a:t>
            </a:r>
            <a:r>
              <a:rPr lang="ko-KR" altLang="en-US" sz="1600"/>
              <a:t>분석한 데이터는 어디에 쓸까</a:t>
            </a:r>
            <a:r>
              <a:rPr lang="en-US" altLang="ko-KR" sz="1600"/>
              <a:t>?</a:t>
            </a:r>
          </a:p>
          <a:p>
            <a:r>
              <a:rPr lang="en-US" altLang="ko-KR" sz="1600"/>
              <a:t>2010</a:t>
            </a:r>
            <a:r>
              <a:rPr lang="ko-KR" altLang="en-US" sz="1600"/>
              <a:t>년대 후반 서울시는 심야버스 노선을 조정하기 위해 택시 </a:t>
            </a:r>
            <a:r>
              <a:rPr lang="ko-KR" altLang="en-US" sz="1600" err="1"/>
              <a:t>승하차</a:t>
            </a:r>
            <a:r>
              <a:rPr lang="ko-KR" altLang="en-US" sz="1600"/>
              <a:t> 정보와 통화량 데이터를 사용했다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서울시는 분석한 자료를 바탕으로 노선을 조정하여 시범 운행한 뒤에</a:t>
            </a:r>
            <a:r>
              <a:rPr lang="en-US" altLang="ko-KR" sz="1600"/>
              <a:t>, </a:t>
            </a:r>
            <a:r>
              <a:rPr lang="ko-KR" altLang="en-US" sz="1600"/>
              <a:t>이것을 바탕으로 노선을 확정하였다</a:t>
            </a:r>
            <a:r>
              <a:rPr lang="en-US" altLang="ko-KR" sz="1600"/>
              <a:t>. </a:t>
            </a:r>
          </a:p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F9CC380-2ABE-4FAF-BA87-F79ED0280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870" y="4187500"/>
            <a:ext cx="6448926" cy="22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4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파이썬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6B5E821-EFC4-480E-83B7-24B99E61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04" y="938025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3400" spc="-150"/>
              <a:t> </a:t>
            </a:r>
            <a:r>
              <a:rPr lang="ko-KR" altLang="en-US" sz="3400" spc="-150"/>
              <a:t>파이썬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729250A-E130-4D7F-AEE3-325CCCA5744B}"/>
              </a:ext>
            </a:extLst>
          </p:cNvPr>
          <p:cNvSpPr txBox="1">
            <a:spLocks/>
          </p:cNvSpPr>
          <p:nvPr/>
        </p:nvSpPr>
        <p:spPr>
          <a:xfrm>
            <a:off x="307278" y="1668380"/>
            <a:ext cx="6010059" cy="5189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b="1" dirty="0" err="1">
                <a:solidFill>
                  <a:srgbClr val="4472C4"/>
                </a:solidFill>
              </a:rPr>
              <a:t>파이썬</a:t>
            </a:r>
            <a:r>
              <a:rPr lang="en-US" altLang="ko-KR" sz="1600" b="1" baseline="30000" dirty="0">
                <a:solidFill>
                  <a:srgbClr val="4472C4"/>
                </a:solidFill>
              </a:rPr>
              <a:t>Python</a:t>
            </a:r>
            <a:r>
              <a:rPr lang="ko-KR" altLang="en-US" sz="1600" dirty="0">
                <a:solidFill>
                  <a:srgbClr val="000000"/>
                </a:solidFill>
              </a:rPr>
              <a:t>은 </a:t>
            </a:r>
            <a:r>
              <a:rPr lang="ko-KR" altLang="en-US" sz="1600" b="1" dirty="0">
                <a:solidFill>
                  <a:srgbClr val="4472C4"/>
                </a:solidFill>
              </a:rPr>
              <a:t>귀도 반 </a:t>
            </a:r>
            <a:r>
              <a:rPr lang="ko-KR" altLang="en-US" sz="1600" b="1" dirty="0" err="1">
                <a:solidFill>
                  <a:srgbClr val="4472C4"/>
                </a:solidFill>
              </a:rPr>
              <a:t>로섬</a:t>
            </a:r>
            <a:r>
              <a:rPr lang="en-US" altLang="ko-KR" sz="1600" b="1" baseline="30000" dirty="0">
                <a:solidFill>
                  <a:srgbClr val="4472C4"/>
                </a:solidFill>
              </a:rPr>
              <a:t>Guido van Rossum</a:t>
            </a:r>
            <a:r>
              <a:rPr lang="ko-KR" altLang="en-US" sz="1600" dirty="0">
                <a:solidFill>
                  <a:srgbClr val="000000"/>
                </a:solidFill>
              </a:rPr>
              <a:t>이</a:t>
            </a:r>
            <a:r>
              <a:rPr lang="en-US" altLang="ko-KR" sz="1600" dirty="0">
                <a:solidFill>
                  <a:srgbClr val="000000"/>
                </a:solidFill>
              </a:rPr>
              <a:t> 1991</a:t>
            </a:r>
            <a:r>
              <a:rPr lang="ko-KR" altLang="en-US" sz="1600" dirty="0">
                <a:solidFill>
                  <a:srgbClr val="000000"/>
                </a:solidFill>
              </a:rPr>
              <a:t>년에 개발한 대화형 프로그래밍 언어인데 최근 많은 인기를 얻고 있다</a:t>
            </a:r>
            <a:r>
              <a:rPr lang="en-US" altLang="ko-KR" sz="1600" dirty="0">
                <a:solidFill>
                  <a:srgbClr val="000000"/>
                </a:solidFill>
              </a:rPr>
              <a:t>.</a:t>
            </a:r>
          </a:p>
          <a:p>
            <a:pPr latinLnBrk="0"/>
            <a:r>
              <a:rPr lang="ko-KR" altLang="en-US" sz="1600" dirty="0">
                <a:solidFill>
                  <a:srgbClr val="000000"/>
                </a:solidFill>
              </a:rPr>
              <a:t>가장 큰 이유는 생산성이 뛰어나기 때문이다</a:t>
            </a:r>
            <a:r>
              <a:rPr lang="en-US" altLang="ko-KR" sz="1600" dirty="0">
                <a:solidFill>
                  <a:srgbClr val="000000"/>
                </a:solidFill>
              </a:rPr>
              <a:t>. </a:t>
            </a:r>
            <a:r>
              <a:rPr lang="ko-KR" altLang="en-US" sz="1600" dirty="0" err="1">
                <a:solidFill>
                  <a:srgbClr val="000000"/>
                </a:solidFill>
              </a:rPr>
              <a:t>파이썬을</a:t>
            </a:r>
            <a:r>
              <a:rPr lang="ko-KR" altLang="en-US" sz="1600" dirty="0">
                <a:solidFill>
                  <a:srgbClr val="000000"/>
                </a:solidFill>
              </a:rPr>
              <a:t> 이용하면 간결하면서도 효율적인 프로그램을 빠르게 작성할 수 있다</a:t>
            </a:r>
            <a:r>
              <a:rPr lang="en-US" altLang="ko-KR" sz="1600" dirty="0">
                <a:solidFill>
                  <a:srgbClr val="000000"/>
                </a:solidFill>
              </a:rPr>
              <a:t>. </a:t>
            </a:r>
          </a:p>
          <a:p>
            <a:pPr latinLnBrk="0"/>
            <a:r>
              <a:rPr lang="ko-KR" altLang="en-US" sz="1600" dirty="0" err="1">
                <a:solidFill>
                  <a:srgbClr val="000000"/>
                </a:solidFill>
              </a:rPr>
              <a:t>파이썬은</a:t>
            </a:r>
            <a:r>
              <a:rPr lang="ko-KR" altLang="en-US" sz="1600" dirty="0">
                <a:solidFill>
                  <a:srgbClr val="000000"/>
                </a:solidFill>
              </a:rPr>
              <a:t> 오픈 소스이어서 무료이고 패키지들이 계속 추가되고 있어서 매일 진화하는 언어이기도 </a:t>
            </a:r>
            <a:r>
              <a:rPr lang="ko-KR" altLang="en-US" sz="1600">
                <a:solidFill>
                  <a:srgbClr val="000000"/>
                </a:solidFill>
              </a:rPr>
              <a:t>하다</a:t>
            </a:r>
            <a:r>
              <a:rPr lang="en-US" altLang="ko-KR" sz="1600">
                <a:solidFill>
                  <a:srgbClr val="000000"/>
                </a:solidFill>
              </a:rPr>
              <a:t>.</a:t>
            </a:r>
          </a:p>
          <a:p>
            <a:r>
              <a:rPr lang="ko-KR" altLang="en-US" sz="1600"/>
              <a:t>파이썬은 무엇보다도 초보자의 프로그래밍 입문에 적합한 언어이다</a:t>
            </a:r>
            <a:r>
              <a:rPr lang="en-US" altLang="ko-KR" sz="1600"/>
              <a:t>. </a:t>
            </a:r>
            <a:r>
              <a:rPr lang="ko-KR" altLang="en-US" sz="1600"/>
              <a:t>그 이유는 프로그래머가 한 줄의 문장을 입력하고 엔터키를 치면 명령 해석기인 </a:t>
            </a:r>
            <a:r>
              <a:rPr lang="ko-KR" altLang="en-US" sz="1600" b="1">
                <a:solidFill>
                  <a:srgbClr val="4472C4"/>
                </a:solidFill>
              </a:rPr>
              <a:t>인터프리터</a:t>
            </a:r>
            <a:r>
              <a:rPr lang="en-US" altLang="ko-KR" sz="1600" b="1" baseline="30000">
                <a:solidFill>
                  <a:srgbClr val="4472C4"/>
                </a:solidFill>
              </a:rPr>
              <a:t>interpreter</a:t>
            </a:r>
            <a:r>
              <a:rPr lang="ko-KR" altLang="en-US" sz="1600"/>
              <a:t>가 이것을 바로 실행한다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파이썬 프로그래머는 자신이 작성한 문장의 결과를 입력 즉시 볼 수 있기 때문에 입문자도 간편하게 프로그램의 실행을 살펴볼 수 있다</a:t>
            </a:r>
            <a:r>
              <a:rPr lang="en-US" altLang="ko-KR" sz="1600"/>
              <a:t>.</a:t>
            </a:r>
          </a:p>
          <a:p>
            <a:pPr latinLnBrk="0"/>
            <a:endParaRPr lang="en-US" altLang="ko-KR" sz="2000" dirty="0">
              <a:solidFill>
                <a:srgbClr val="000000"/>
              </a:solidFill>
            </a:endParaRPr>
          </a:p>
        </p:txBody>
      </p:sp>
      <p:pic>
        <p:nvPicPr>
          <p:cNvPr id="14" name="Picture 2" descr="https://lh3.googleusercontent.com/hWjehyBJo_kZgKGWryTrI0ig8pAxrSNcGwPC-AXGN9jl-sIqc0wn8jeFhuHOnOcVLiLgJzBz7FzOB8GZ1qpZHElv00xZ-hhapEqBOri1YqkyQp-tkXGybFqC4gyhlyi9HEV75wJV">
            <a:extLst>
              <a:ext uri="{FF2B5EF4-FFF2-40B4-BE49-F238E27FC236}">
                <a16:creationId xmlns:a16="http://schemas.microsoft.com/office/drawing/2014/main" id="{B73B189A-FC64-4765-8905-135F598CC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263" y="1864019"/>
            <a:ext cx="5307459" cy="312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E7D529-F09C-446F-B6E9-8ADE69AD02AE}"/>
              </a:ext>
            </a:extLst>
          </p:cNvPr>
          <p:cNvSpPr txBox="1"/>
          <p:nvPr/>
        </p:nvSpPr>
        <p:spPr>
          <a:xfrm>
            <a:off x="10007589" y="5054482"/>
            <a:ext cx="3754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출처 </a:t>
            </a:r>
            <a:r>
              <a:rPr lang="en-US" altLang="ko-KR"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나눔고딕 ExtraBold" panose="020D0904000000000000" pitchFamily="50" charset="-127"/>
              </a:rPr>
              <a:t>: https://learnworthy.net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24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파이썬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21244C9-E442-4552-B9A9-2FDECFD0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66" y="809689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파이썬 개발도구를 설치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B118E34-729C-4B42-BD48-9C85D4A583C6}"/>
              </a:ext>
            </a:extLst>
          </p:cNvPr>
          <p:cNvSpPr txBox="1">
            <a:spLocks/>
          </p:cNvSpPr>
          <p:nvPr/>
        </p:nvSpPr>
        <p:spPr>
          <a:xfrm>
            <a:off x="637664" y="2135252"/>
            <a:ext cx="10916671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/>
              <a:t>홈페이지 접속</a:t>
            </a:r>
            <a:endParaRPr lang="en-US" altLang="ko-KR" sz="2000"/>
          </a:p>
          <a:p>
            <a:pPr lvl="1"/>
            <a:r>
              <a:rPr lang="en-US" altLang="ko-KR" sz="1500" b="1">
                <a:hlinkClick r:id="rId2"/>
              </a:rPr>
              <a:t>http://www.python.org/</a:t>
            </a:r>
            <a:endParaRPr lang="en-US" altLang="ko-KR" sz="15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2F5146-F6A1-458F-A779-09479474D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29" y="3153511"/>
            <a:ext cx="4101008" cy="193526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269599-DD28-4F6D-97B3-5588AD7579FB}"/>
              </a:ext>
            </a:extLst>
          </p:cNvPr>
          <p:cNvCxnSpPr>
            <a:cxnSpLocks/>
          </p:cNvCxnSpPr>
          <p:nvPr/>
        </p:nvCxnSpPr>
        <p:spPr>
          <a:xfrm>
            <a:off x="6400800" y="2021305"/>
            <a:ext cx="0" cy="4194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77197D4-6FDB-4413-AF73-04D727984EA5}"/>
              </a:ext>
            </a:extLst>
          </p:cNvPr>
          <p:cNvSpPr txBox="1">
            <a:spLocks/>
          </p:cNvSpPr>
          <p:nvPr/>
        </p:nvSpPr>
        <p:spPr>
          <a:xfrm>
            <a:off x="6759416" y="2249199"/>
            <a:ext cx="5994058" cy="172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500"/>
              <a:t>python-3-8-x.exe </a:t>
            </a:r>
            <a:r>
              <a:rPr lang="ko-KR" altLang="en-US" sz="1500"/>
              <a:t>실행 후</a:t>
            </a:r>
            <a:r>
              <a:rPr lang="en-US" altLang="ko-KR" sz="1500"/>
              <a:t>(</a:t>
            </a:r>
            <a:r>
              <a:rPr lang="ko-KR" altLang="en-US" sz="1500">
                <a:solidFill>
                  <a:srgbClr val="FF0000"/>
                </a:solidFill>
              </a:rPr>
              <a:t>최신 버전으로 설치하세요</a:t>
            </a:r>
            <a:r>
              <a:rPr lang="en-US" altLang="ko-KR" sz="1500"/>
              <a:t>)</a:t>
            </a:r>
            <a:endParaRPr lang="ko-KR" altLang="en-US" sz="1500"/>
          </a:p>
          <a:p>
            <a:r>
              <a:rPr lang="ko-KR" altLang="en-US" sz="1500"/>
              <a:t> “</a:t>
            </a:r>
            <a:r>
              <a:rPr lang="en-US" altLang="ko-KR" sz="1500"/>
              <a:t>Install launcher for all users(recommended)“ </a:t>
            </a:r>
          </a:p>
          <a:p>
            <a:r>
              <a:rPr lang="en-US" altLang="ko-KR" sz="1500"/>
              <a:t> “Add Python 3.7 to PATH“ </a:t>
            </a:r>
            <a:r>
              <a:rPr lang="ko-KR" altLang="en-US" sz="1500"/>
              <a:t>선택 </a:t>
            </a:r>
          </a:p>
        </p:txBody>
      </p:sp>
      <p:pic>
        <p:nvPicPr>
          <p:cNvPr id="12" name="Picture 3" descr="https://lh6.googleusercontent.com/XMWGoXd78Dy4PpJ2ufWGlyPw5of-tRum4E09FHweMIB5kIjAXLB3XWlwQiihzL8sSsY_stMCu0vMeLlzTQQbsvcmdeb8V4mIiiy_LzdQHkIhWPh-NMRZDeDb0Zy_vbipBL0JDZPe">
            <a:extLst>
              <a:ext uri="{FF2B5EF4-FFF2-40B4-BE49-F238E27FC236}">
                <a16:creationId xmlns:a16="http://schemas.microsoft.com/office/drawing/2014/main" id="{1FBCF38C-57F5-4356-8AF6-0D969E8D4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864" y="3429000"/>
            <a:ext cx="3938322" cy="241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08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파이썬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21244C9-E442-4552-B9A9-2FDECFD0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66" y="809689"/>
            <a:ext cx="4945876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파이썬 인터프리터 사용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D5571E-C42F-43DE-A1FF-AD08546B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96" y="2325418"/>
            <a:ext cx="3813507" cy="253499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0D7BEDE5-064E-4DA0-BE74-E75143C4AF56}"/>
              </a:ext>
            </a:extLst>
          </p:cNvPr>
          <p:cNvSpPr txBox="1">
            <a:spLocks/>
          </p:cNvSpPr>
          <p:nvPr/>
        </p:nvSpPr>
        <p:spPr>
          <a:xfrm>
            <a:off x="7668128" y="809688"/>
            <a:ext cx="31602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ko-KR" altLang="en-US" sz="3400" spc="-150"/>
              <a:t>주석 사용하기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A58264E-5093-4114-8987-D2585E1BB72B}"/>
              </a:ext>
            </a:extLst>
          </p:cNvPr>
          <p:cNvCxnSpPr>
            <a:cxnSpLocks/>
          </p:cNvCxnSpPr>
          <p:nvPr/>
        </p:nvCxnSpPr>
        <p:spPr>
          <a:xfrm>
            <a:off x="6031832" y="1812758"/>
            <a:ext cx="0" cy="4194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0588B06-EDC7-456E-BAA1-8605DC827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499" y="4923501"/>
            <a:ext cx="2591772" cy="1432849"/>
          </a:xfrm>
          <a:prstGeom prst="rect">
            <a:avLst/>
          </a:prstGeom>
        </p:spPr>
      </p:pic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3EB2760-066E-451D-957C-E27DF31A6836}"/>
              </a:ext>
            </a:extLst>
          </p:cNvPr>
          <p:cNvSpPr txBox="1">
            <a:spLocks/>
          </p:cNvSpPr>
          <p:nvPr/>
        </p:nvSpPr>
        <p:spPr>
          <a:xfrm>
            <a:off x="6400800" y="1880814"/>
            <a:ext cx="5402182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/>
              <a:t>주석은 컴퓨터를 위한 것이 아니고 프로그램을 읽는 사람을 위한 것이다</a:t>
            </a:r>
            <a:r>
              <a:rPr lang="en-US" altLang="ko-KR" sz="1500"/>
              <a:t>. </a:t>
            </a:r>
          </a:p>
          <a:p>
            <a:pPr lvl="1"/>
            <a:r>
              <a:rPr lang="ko-KR" altLang="en-US" sz="1500"/>
              <a:t>프로그램은 완성된 후에도 유지보수를 계속 해야 한다</a:t>
            </a:r>
            <a:r>
              <a:rPr lang="en-US" altLang="ko-KR" sz="1500"/>
              <a:t>. </a:t>
            </a:r>
          </a:p>
          <a:p>
            <a:pPr lvl="1"/>
            <a:r>
              <a:rPr lang="ko-KR" altLang="en-US" sz="1500"/>
              <a:t>일을 물려 받은 후임 개발자가 소스 코드를 수정하거나 보완하려고 다시 읽을 수 있다</a:t>
            </a:r>
            <a:r>
              <a:rPr lang="en-US" altLang="ko-KR" sz="1500"/>
              <a:t>. </a:t>
            </a:r>
          </a:p>
          <a:p>
            <a:pPr lvl="1"/>
            <a:r>
              <a:rPr lang="ko-KR" altLang="en-US" sz="1500"/>
              <a:t>만약 코드가 복잡하고 오래 전에 만들었다면</a:t>
            </a:r>
            <a:r>
              <a:rPr lang="en-US" altLang="ko-KR" sz="1500"/>
              <a:t>, </a:t>
            </a:r>
            <a:r>
              <a:rPr lang="ko-KR" altLang="en-US" sz="1500"/>
              <a:t>코드를 만든 사람조차도 잘 이해되지 않을 수 있다</a:t>
            </a:r>
            <a:r>
              <a:rPr lang="en-US" altLang="ko-KR" sz="1500"/>
              <a:t>. </a:t>
            </a:r>
          </a:p>
          <a:p>
            <a:pPr lvl="1"/>
            <a:r>
              <a:rPr lang="ko-KR" altLang="en-US" sz="1500"/>
              <a:t>다른 사람이 작성한 코드를 읽는 것은 더욱 어려운 일이다</a:t>
            </a:r>
            <a:r>
              <a:rPr lang="en-US" altLang="ko-KR" sz="1500"/>
              <a:t>. </a:t>
            </a:r>
          </a:p>
          <a:p>
            <a:r>
              <a:rPr lang="ko-KR" altLang="en-US" sz="1500"/>
              <a:t>따라서 개발자는 자신의 프로그램이 무엇을 하려고 하는지 주석으로 만들어서 코드에 붙일 필요가 있는 것이다</a:t>
            </a:r>
            <a:r>
              <a:rPr lang="en-US" altLang="ko-KR" sz="1500"/>
              <a:t>.</a:t>
            </a:r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393964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파이썬 실습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8604A2-38AE-469C-9082-DBE6C1B6D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08" y="1887577"/>
            <a:ext cx="1526548" cy="14184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262D327-F50E-40A5-9A47-432079105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08" y="3806658"/>
            <a:ext cx="1962150" cy="1009650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EE3DEE5-33D8-4AEC-AE7F-3A6D198A5570}"/>
              </a:ext>
            </a:extLst>
          </p:cNvPr>
          <p:cNvSpPr txBox="1">
            <a:spLocks/>
          </p:cNvSpPr>
          <p:nvPr/>
        </p:nvSpPr>
        <p:spPr>
          <a:xfrm>
            <a:off x="480082" y="1234278"/>
            <a:ext cx="3709747" cy="402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/>
              <a:t>계산</a:t>
            </a:r>
            <a:endParaRPr lang="en-US" altLang="ko-KR" sz="200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D4D6D826-A33F-486E-BA8D-BF1D924C0212}"/>
              </a:ext>
            </a:extLst>
          </p:cNvPr>
          <p:cNvSpPr txBox="1">
            <a:spLocks/>
          </p:cNvSpPr>
          <p:nvPr/>
        </p:nvSpPr>
        <p:spPr>
          <a:xfrm>
            <a:off x="7273915" y="1234278"/>
            <a:ext cx="3709747" cy="402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/>
              <a:t>print() </a:t>
            </a:r>
            <a:r>
              <a:rPr lang="ko-KR" altLang="en-US" sz="2000"/>
              <a:t>함수</a:t>
            </a:r>
            <a:endParaRPr lang="en-US" altLang="ko-KR" sz="200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CA317CF-92FB-4DCD-AD25-77D08836FD62}"/>
              </a:ext>
            </a:extLst>
          </p:cNvPr>
          <p:cNvCxnSpPr>
            <a:cxnSpLocks/>
          </p:cNvCxnSpPr>
          <p:nvPr/>
        </p:nvCxnSpPr>
        <p:spPr>
          <a:xfrm>
            <a:off x="6031832" y="1812758"/>
            <a:ext cx="0" cy="4194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4E9AAE5-3937-4AC7-A230-346A52FD4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660" y="1887577"/>
            <a:ext cx="2686050" cy="10287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1680EB5-277A-4E23-BABA-72EC7B5CE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703" y="3607613"/>
            <a:ext cx="16954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4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파이썬 모듈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2B5C703-5BB8-45D1-ABAF-1E76910C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04" y="921983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파이썬이 정말로 편리한 이유 </a:t>
            </a:r>
            <a:r>
              <a:rPr lang="en-US" altLang="ko-KR" sz="3400" spc="-150"/>
              <a:t>: </a:t>
            </a:r>
            <a:r>
              <a:rPr lang="ko-KR" altLang="en-US" sz="3400" spc="-150"/>
              <a:t>모듈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2F91EAE-8837-4C1C-B5AE-74D5037C25AB}"/>
              </a:ext>
            </a:extLst>
          </p:cNvPr>
          <p:cNvSpPr txBox="1">
            <a:spLocks/>
          </p:cNvSpPr>
          <p:nvPr/>
        </p:nvSpPr>
        <p:spPr>
          <a:xfrm>
            <a:off x="567205" y="2100468"/>
            <a:ext cx="4662522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dirty="0" err="1"/>
              <a:t>파이썬</a:t>
            </a:r>
            <a:r>
              <a:rPr lang="ko-KR" altLang="en-US" sz="1500" dirty="0"/>
              <a:t> 함수나 변수 또는 클래스들은 별도의 스크립트 파일로 저장하여 불러서 사용하는 것이 편리한데 이렇게 만든 스크립트 파일을 </a:t>
            </a:r>
            <a:r>
              <a:rPr lang="ko-KR" altLang="en-US" sz="1500" b="1" dirty="0">
                <a:solidFill>
                  <a:srgbClr val="4472C4"/>
                </a:solidFill>
              </a:rPr>
              <a:t>모듈</a:t>
            </a:r>
            <a:r>
              <a:rPr lang="en-US" altLang="ko-KR" sz="1500" b="1" baseline="30000" dirty="0">
                <a:solidFill>
                  <a:srgbClr val="4472C4"/>
                </a:solidFill>
              </a:rPr>
              <a:t>module</a:t>
            </a:r>
            <a:r>
              <a:rPr lang="ko-KR" altLang="en-US" sz="1500" dirty="0"/>
              <a:t>이라고 부른다</a:t>
            </a:r>
            <a:r>
              <a:rPr lang="en-US" altLang="ko-KR" sz="1500" dirty="0"/>
              <a:t>. </a:t>
            </a:r>
          </a:p>
          <a:p>
            <a:r>
              <a:rPr lang="ko-KR" altLang="en-US" sz="1500" dirty="0" err="1"/>
              <a:t>파이썬</a:t>
            </a:r>
            <a:r>
              <a:rPr lang="ko-KR" altLang="en-US" sz="1500" dirty="0"/>
              <a:t> 설치 시에 함께 제공되는 모듈을 </a:t>
            </a:r>
            <a:r>
              <a:rPr lang="ko-KR" altLang="en-US" sz="1500" b="1" dirty="0">
                <a:solidFill>
                  <a:srgbClr val="4472C4"/>
                </a:solidFill>
              </a:rPr>
              <a:t>표준 라이브러리</a:t>
            </a:r>
            <a:r>
              <a:rPr lang="en-US" altLang="ko-KR" sz="1500" b="1" baseline="30000" dirty="0">
                <a:solidFill>
                  <a:srgbClr val="4472C4"/>
                </a:solidFill>
              </a:rPr>
              <a:t>standard library</a:t>
            </a:r>
            <a:r>
              <a:rPr lang="ko-KR" altLang="en-US" sz="1500" dirty="0"/>
              <a:t>라고 부른다</a:t>
            </a:r>
            <a:r>
              <a:rPr lang="en-US" altLang="ko-KR" sz="1500"/>
              <a:t>. </a:t>
            </a:r>
            <a:r>
              <a:rPr lang="ko-KR" altLang="en-US" sz="1500"/>
              <a:t>여러 </a:t>
            </a:r>
            <a:r>
              <a:rPr lang="ko-KR" altLang="en-US" sz="1500" dirty="0"/>
              <a:t>프로그래머와 기관에서 만들어 놓은 라이브러리를 가져다가 활용할 필요가 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이 라이브러리는 흔히 </a:t>
            </a:r>
            <a:r>
              <a:rPr lang="ko-KR" altLang="en-US" sz="1500" b="1" dirty="0">
                <a:solidFill>
                  <a:srgbClr val="4472C4"/>
                </a:solidFill>
              </a:rPr>
              <a:t>패키지</a:t>
            </a:r>
            <a:r>
              <a:rPr lang="en-US" altLang="ko-KR" sz="1500" b="1" baseline="30000" dirty="0">
                <a:solidFill>
                  <a:srgbClr val="4472C4"/>
                </a:solidFill>
              </a:rPr>
              <a:t>package</a:t>
            </a:r>
            <a:r>
              <a:rPr lang="ko-KR" altLang="en-US" sz="1500" dirty="0"/>
              <a:t>라고도 한다</a:t>
            </a:r>
            <a:r>
              <a:rPr lang="en-US" altLang="ko-KR" sz="1500" dirty="0"/>
              <a:t>. </a:t>
            </a:r>
            <a:r>
              <a:rPr lang="ko-KR" altLang="en-US" sz="1500" dirty="0"/>
              <a:t>외부 패키지를 사용하기 위해서는 </a:t>
            </a:r>
            <a:endParaRPr lang="en-US" altLang="ko-KR" sz="1500" dirty="0"/>
          </a:p>
          <a:p>
            <a:pPr marL="457200" lvl="1" indent="0">
              <a:buNone/>
            </a:pPr>
            <a:r>
              <a:rPr lang="en-US" altLang="ko-KR" sz="1500" dirty="0"/>
              <a:t>1) </a:t>
            </a:r>
            <a:r>
              <a:rPr lang="ko-KR" altLang="en-US" sz="1500" dirty="0" err="1"/>
              <a:t>파이썬</a:t>
            </a:r>
            <a:r>
              <a:rPr lang="ko-KR" altLang="en-US" sz="1500" dirty="0"/>
              <a:t> 시스템에 </a:t>
            </a:r>
            <a:r>
              <a:rPr lang="en-US" altLang="ko-KR" sz="1500" dirty="0"/>
              <a:t>pip</a:t>
            </a:r>
            <a:r>
              <a:rPr lang="ko-KR" altLang="en-US" sz="1500" dirty="0"/>
              <a:t>라는 프로그램을 이용해 패키지를 설치하는 작업 </a:t>
            </a:r>
            <a:endParaRPr lang="en-US" altLang="ko-KR" sz="1500" dirty="0"/>
          </a:p>
          <a:p>
            <a:pPr marL="457200" lvl="1" indent="0">
              <a:buNone/>
            </a:pPr>
            <a:r>
              <a:rPr lang="en-US" altLang="ko-KR" sz="1500" dirty="0"/>
              <a:t>2) </a:t>
            </a:r>
            <a:r>
              <a:rPr lang="ko-KR" altLang="en-US" sz="1500" dirty="0"/>
              <a:t>설치된 패키지를 활용을 위해 불러들이는 작업이 필요하다</a:t>
            </a:r>
            <a:r>
              <a:rPr lang="en-US" altLang="ko-KR" sz="1500" dirty="0"/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585C07-6559-4C31-84A3-F039633F4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043" y="2211451"/>
            <a:ext cx="6105525" cy="285750"/>
          </a:xfrm>
          <a:prstGeom prst="rect">
            <a:avLst/>
          </a:prstGeom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35E4F92-E187-4E38-B240-6305A9613BAC}"/>
              </a:ext>
            </a:extLst>
          </p:cNvPr>
          <p:cNvSpPr txBox="1">
            <a:spLocks/>
          </p:cNvSpPr>
          <p:nvPr/>
        </p:nvSpPr>
        <p:spPr>
          <a:xfrm>
            <a:off x="5562275" y="3054194"/>
            <a:ext cx="5729973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/>
              <a:t>미리 만들어진 모듈이 설치된 상태라면 이제 사용하기 위해 불러오는 것이 필요하다</a:t>
            </a:r>
            <a:r>
              <a:rPr lang="en-US" altLang="ko-KR" sz="1500"/>
              <a:t>. </a:t>
            </a:r>
          </a:p>
          <a:p>
            <a:r>
              <a:rPr lang="ko-KR" altLang="en-US" sz="1500"/>
              <a:t>이를 위해서는 ‘</a:t>
            </a:r>
            <a:r>
              <a:rPr lang="en-US" altLang="ko-KR" sz="1500"/>
              <a:t>import’</a:t>
            </a:r>
            <a:r>
              <a:rPr lang="ko-KR" altLang="en-US" sz="1500"/>
              <a:t>와 함께 모듈 이름을 써 주면 되고</a:t>
            </a:r>
            <a:r>
              <a:rPr lang="en-US" altLang="ko-KR" sz="1500"/>
              <a:t>, </a:t>
            </a:r>
            <a:r>
              <a:rPr lang="ko-KR" altLang="en-US" sz="1500"/>
              <a:t>사용할 때에는 모듈 이름에 점</a:t>
            </a:r>
            <a:r>
              <a:rPr lang="en-US" altLang="ko-KR" sz="1500"/>
              <a:t>(.)</a:t>
            </a:r>
            <a:r>
              <a:rPr lang="ko-KR" altLang="en-US" sz="1500"/>
              <a:t>을 찍은 후 모듈 안의 구성요소를 호출해주면 된다</a:t>
            </a:r>
            <a:r>
              <a:rPr lang="en-US" altLang="ko-KR" sz="1500"/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D9C22E-9708-4D9A-A3CD-102796E24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563" y="4610455"/>
            <a:ext cx="1981200" cy="9715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D1010E-916E-437D-B7FB-9D15FAC57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563" y="5872861"/>
            <a:ext cx="113347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61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터틀 그래픽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17586755-E682-4915-9D4B-83F494AF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04" y="1066362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터틀 그래픽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CC9B2B5E-29D5-4128-AC7B-ADBFD82EFCB9}"/>
              </a:ext>
            </a:extLst>
          </p:cNvPr>
          <p:cNvSpPr txBox="1">
            <a:spLocks/>
          </p:cNvSpPr>
          <p:nvPr/>
        </p:nvSpPr>
        <p:spPr>
          <a:xfrm>
            <a:off x="567204" y="2391925"/>
            <a:ext cx="10374423" cy="3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 err="1"/>
              <a:t>파이썬이</a:t>
            </a:r>
            <a:r>
              <a:rPr lang="ko-KR" altLang="en-US" sz="2000" dirty="0"/>
              <a:t> 초보자에게 좋은 점 중의 하나는 화면에 그림을 그리기가 쉽다는 점이다</a:t>
            </a:r>
            <a:r>
              <a:rPr lang="en-US" altLang="ko-KR" sz="2000" dirty="0"/>
              <a:t>. </a:t>
            </a:r>
            <a:r>
              <a:rPr lang="ko-KR" altLang="en-US" sz="2000" dirty="0" err="1"/>
              <a:t>파이썬은</a:t>
            </a:r>
            <a:r>
              <a:rPr lang="ko-KR" altLang="en-US" sz="2000" dirty="0"/>
              <a:t> </a:t>
            </a:r>
            <a:r>
              <a:rPr lang="ko-KR" altLang="en-US" sz="2000" b="1" dirty="0" err="1">
                <a:solidFill>
                  <a:srgbClr val="4472C4"/>
                </a:solidFill>
              </a:rPr>
              <a:t>터틀</a:t>
            </a:r>
            <a:r>
              <a:rPr lang="ko-KR" altLang="en-US" sz="2000" b="1" dirty="0">
                <a:solidFill>
                  <a:srgbClr val="4472C4"/>
                </a:solidFill>
              </a:rPr>
              <a:t> 그래픽</a:t>
            </a:r>
            <a:r>
              <a:rPr lang="en-US" altLang="ko-KR" sz="2000" b="1" baseline="30000" dirty="0">
                <a:solidFill>
                  <a:srgbClr val="4472C4"/>
                </a:solidFill>
              </a:rPr>
              <a:t>turtle graphic</a:t>
            </a:r>
            <a:r>
              <a:rPr lang="ko-KR" altLang="en-US" sz="2000" dirty="0"/>
              <a:t>이 지원된다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 err="1"/>
              <a:t>터틀</a:t>
            </a:r>
            <a:r>
              <a:rPr lang="ko-KR" altLang="en-US" sz="2000" dirty="0"/>
              <a:t> 그래픽은 </a:t>
            </a:r>
            <a:r>
              <a:rPr lang="en-US" altLang="ko-KR" sz="2000" dirty="0"/>
              <a:t>2</a:t>
            </a:r>
            <a:r>
              <a:rPr lang="ko-KR" altLang="en-US" sz="2000" dirty="0"/>
              <a:t>차원 화면에 로봇 거북이가 있다고 가정하고 이 거북이에게 명령을 내려서 그림을 그리는 </a:t>
            </a:r>
            <a:r>
              <a:rPr lang="ko-KR" altLang="en-US" sz="2000"/>
              <a:t>기능이다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터틀 그래픽은 다음과 같이 동작한다</a:t>
            </a:r>
            <a:r>
              <a:rPr lang="en-US" altLang="ko-KR" sz="2000"/>
              <a:t>.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ko-KR" altLang="en-US" sz="2000"/>
              <a:t>터틀 그래픽을 시작하면 종이의 한 가운데 거북이가 나타난다</a:t>
            </a:r>
            <a:r>
              <a:rPr lang="en-US" altLang="ko-KR" sz="2000"/>
              <a:t>. 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ko-KR" altLang="en-US" sz="2000"/>
              <a:t>거북이에게 명령을 내리면 거북이가 움직인다</a:t>
            </a:r>
            <a:r>
              <a:rPr lang="en-US" altLang="ko-KR" sz="2000"/>
              <a:t>. </a:t>
            </a:r>
            <a:r>
              <a:rPr lang="ko-KR" altLang="en-US" sz="2000"/>
              <a:t>예를 들어서 “앞으로 전진”</a:t>
            </a:r>
            <a:r>
              <a:rPr lang="en-US" altLang="ko-KR" sz="2000"/>
              <a:t>, “</a:t>
            </a:r>
            <a:r>
              <a:rPr lang="ko-KR" altLang="en-US" sz="2000"/>
              <a:t>뒤로 후진”</a:t>
            </a:r>
            <a:r>
              <a:rPr lang="en-US" altLang="ko-KR" sz="2000"/>
              <a:t>, “</a:t>
            </a:r>
            <a:r>
              <a:rPr lang="ko-KR" altLang="en-US" sz="2000"/>
              <a:t>왼쪽으로 방향 전환” 등의 명령을 사용할 수 있다</a:t>
            </a:r>
            <a:r>
              <a:rPr lang="en-US" altLang="ko-KR" sz="2000"/>
              <a:t>. </a:t>
            </a:r>
          </a:p>
          <a:p>
            <a:pPr marL="914400" lvl="1" indent="-457200" fontAlgn="base">
              <a:buFont typeface="+mj-lt"/>
              <a:buAutoNum type="arabicPeriod"/>
            </a:pPr>
            <a:r>
              <a:rPr lang="ko-KR" altLang="en-US" sz="2000"/>
              <a:t>거북이가 움직이면서 종이 위에 그림이 그려진다</a:t>
            </a:r>
            <a:r>
              <a:rPr lang="en-US" altLang="ko-KR" sz="2000"/>
              <a:t>. </a:t>
            </a:r>
            <a:r>
              <a:rPr lang="ko-KR" altLang="en-US" sz="2000"/>
              <a:t>거북이가 펜을 가지고 움직인다고 생각하면 된다</a:t>
            </a:r>
            <a:r>
              <a:rPr lang="en-US" altLang="ko-KR" sz="2000"/>
              <a:t>. 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85810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터틀 그래픽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AA791D-57F5-48F7-8161-EC572F12B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28" y="3064043"/>
            <a:ext cx="2916198" cy="25766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9514984-47A7-4B37-AA00-EAD5875D4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373" y="3064043"/>
            <a:ext cx="2916197" cy="25766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F8B1AE9-96D8-43B0-B0BE-CA29D509E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42" y="1457908"/>
            <a:ext cx="6962775" cy="6191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1B48798-6847-4B42-8B34-C50E876F0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373" y="2594808"/>
            <a:ext cx="1771650" cy="2286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302419-2618-4A47-AEC9-6F20588B6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8484" y="3096547"/>
            <a:ext cx="2916198" cy="257668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BDD725C-2B61-407F-B2C6-4304EB17A5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8484" y="2494795"/>
            <a:ext cx="16859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1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395CE0-3598-4896-99A2-1F98CEF4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621</Words>
  <Application>Microsoft Office PowerPoint</Application>
  <PresentationFormat>와이드스크린</PresentationFormat>
  <Paragraphs>86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Megrim</vt:lpstr>
      <vt:lpstr>나눔고딕 ExtraBold</vt:lpstr>
      <vt:lpstr>나눔스퀘어_ac</vt:lpstr>
      <vt:lpstr>나눔스퀘어라운드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데이터 과학은 무엇을 다루나 </vt:lpstr>
      <vt:lpstr> 파이썬</vt:lpstr>
      <vt:lpstr>파이썬 개발도구를 설치</vt:lpstr>
      <vt:lpstr>파이썬 인터프리터 사용</vt:lpstr>
      <vt:lpstr>PowerPoint 프레젠테이션</vt:lpstr>
      <vt:lpstr>파이썬이 정말로 편리한 이유 : 모듈</vt:lpstr>
      <vt:lpstr>터틀 그래픽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254</cp:revision>
  <dcterms:created xsi:type="dcterms:W3CDTF">2018-05-24T09:13:53Z</dcterms:created>
  <dcterms:modified xsi:type="dcterms:W3CDTF">2021-01-07T03:31:38Z</dcterms:modified>
</cp:coreProperties>
</file>