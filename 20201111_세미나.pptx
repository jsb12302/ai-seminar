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8"/>
  </p:notesMasterIdLst>
  <p:sldIdLst>
    <p:sldId id="256" r:id="rId2"/>
    <p:sldId id="263" r:id="rId3"/>
    <p:sldId id="260" r:id="rId4"/>
    <p:sldId id="265" r:id="rId5"/>
    <p:sldId id="266" r:id="rId6"/>
    <p:sldId id="267" r:id="rId7"/>
    <p:sldId id="268" r:id="rId8"/>
    <p:sldId id="298" r:id="rId9"/>
    <p:sldId id="269" r:id="rId10"/>
    <p:sldId id="271" r:id="rId11"/>
    <p:sldId id="272" r:id="rId12"/>
    <p:sldId id="299" r:id="rId13"/>
    <p:sldId id="274" r:id="rId14"/>
    <p:sldId id="275" r:id="rId15"/>
    <p:sldId id="276" r:id="rId16"/>
    <p:sldId id="294" r:id="rId17"/>
    <p:sldId id="295" r:id="rId18"/>
    <p:sldId id="280" r:id="rId19"/>
    <p:sldId id="282" r:id="rId20"/>
    <p:sldId id="281" r:id="rId21"/>
    <p:sldId id="297" r:id="rId22"/>
    <p:sldId id="296" r:id="rId23"/>
    <p:sldId id="284" r:id="rId24"/>
    <p:sldId id="285" r:id="rId25"/>
    <p:sldId id="277" r:id="rId26"/>
    <p:sldId id="278" r:id="rId27"/>
    <p:sldId id="279" r:id="rId28"/>
    <p:sldId id="283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64" r:id="rId37"/>
  </p:sldIdLst>
  <p:sldSz cx="12192000" cy="6858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나눔고딕 ExtraBold" panose="020D0904000000000000" pitchFamily="50" charset="-127"/>
      <p:bold r:id="rId40"/>
    </p:embeddedFont>
    <p:embeddedFont>
      <p:font typeface="나눔스퀘어" panose="020B0600000101010101" pitchFamily="50" charset="-127"/>
      <p:regular r:id="rId41"/>
    </p:embeddedFont>
    <p:embeddedFont>
      <p:font typeface="나눔스퀘어 ExtraBold" panose="020B0600000101010101" pitchFamily="50" charset="-127"/>
      <p:bold r:id="rId42"/>
    </p:embeddedFont>
    <p:embeddedFont>
      <p:font typeface="나눔스퀘어_ac" panose="020B0600000101010101" pitchFamily="50" charset="-127"/>
      <p:regular r:id="rId43"/>
    </p:embeddedFont>
    <p:embeddedFont>
      <p:font typeface="나눔스퀘어_ac Bold" panose="020B0600000101010101" pitchFamily="50" charset="-127"/>
      <p:bold r:id="rId44"/>
    </p:embeddedFont>
    <p:embeddedFont>
      <p:font typeface="나눔스퀘어_ac ExtraBold" panose="020B0600000101010101" pitchFamily="50" charset="-127"/>
      <p:bold r:id="rId45"/>
    </p:embeddedFont>
    <p:embeddedFont>
      <p:font typeface="나눔스퀘어라운드 Bold" panose="020B0600000101010101" pitchFamily="50" charset="-127"/>
      <p:bold r:id="rId46"/>
    </p:embeddedFont>
    <p:embeddedFont>
      <p:font typeface="나눔스퀘어라운드 ExtraBold" panose="020B0600000101010101" pitchFamily="50" charset="-127"/>
      <p:bold r:id="rId47"/>
    </p:embeddedFont>
    <p:embeddedFont>
      <p:font typeface="맑은 고딕" panose="020B0503020000020004" pitchFamily="50" charset="-127"/>
      <p:regular r:id="rId48"/>
      <p:bold r:id="rId4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25" autoAdjust="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217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65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633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204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926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6456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149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6920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스펙 </a:t>
            </a:r>
            <a:r>
              <a:rPr lang="en-US" altLang="ko-KR" dirty="0"/>
              <a:t>- </a:t>
            </a:r>
            <a:r>
              <a:rPr lang="ko-KR" altLang="en-US" dirty="0"/>
              <a:t>학점 자격증 수상내역</a:t>
            </a:r>
            <a:endParaRPr lang="en-US" altLang="ko-KR" dirty="0"/>
          </a:p>
          <a:p>
            <a:r>
              <a:rPr lang="ko-KR" altLang="en-US" dirty="0" err="1"/>
              <a:t>내가하고싶은일</a:t>
            </a:r>
            <a:r>
              <a:rPr lang="en-US" altLang="ko-KR" dirty="0"/>
              <a:t>(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연관지어서</a:t>
            </a:r>
            <a:r>
              <a:rPr lang="en-US" altLang="ko-KR" dirty="0"/>
              <a:t>)</a:t>
            </a:r>
            <a:r>
              <a:rPr lang="ko-KR" altLang="en-US" dirty="0"/>
              <a:t>도 간단하게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스펙 </a:t>
            </a:r>
            <a:r>
              <a:rPr lang="en-US" altLang="ko-KR" dirty="0"/>
              <a:t>- </a:t>
            </a:r>
            <a:r>
              <a:rPr lang="ko-KR" altLang="en-US" dirty="0"/>
              <a:t>학점 자격증 수상내역</a:t>
            </a:r>
            <a:endParaRPr lang="en-US" altLang="ko-KR" dirty="0"/>
          </a:p>
          <a:p>
            <a:r>
              <a:rPr lang="ko-KR" altLang="en-US" dirty="0" err="1"/>
              <a:t>내가하고싶은일</a:t>
            </a:r>
            <a:r>
              <a:rPr lang="en-US" altLang="ko-KR" dirty="0"/>
              <a:t>(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연관지어서</a:t>
            </a:r>
            <a:r>
              <a:rPr lang="en-US" altLang="ko-KR" dirty="0"/>
              <a:t>)</a:t>
            </a:r>
            <a:r>
              <a:rPr lang="ko-KR" altLang="en-US" dirty="0"/>
              <a:t>도 간단하게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7416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스펙 </a:t>
            </a:r>
            <a:r>
              <a:rPr lang="en-US" altLang="ko-KR" dirty="0"/>
              <a:t>- </a:t>
            </a:r>
            <a:r>
              <a:rPr lang="ko-KR" altLang="en-US" dirty="0"/>
              <a:t>학점 자격증 수상내역</a:t>
            </a:r>
            <a:endParaRPr lang="en-US" altLang="ko-KR" dirty="0"/>
          </a:p>
          <a:p>
            <a:r>
              <a:rPr lang="ko-KR" altLang="en-US" dirty="0" err="1"/>
              <a:t>내가하고싶은일</a:t>
            </a:r>
            <a:r>
              <a:rPr lang="en-US" altLang="ko-KR" dirty="0"/>
              <a:t>(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연관지어서</a:t>
            </a:r>
            <a:r>
              <a:rPr lang="en-US" altLang="ko-KR" dirty="0"/>
              <a:t>)</a:t>
            </a:r>
            <a:r>
              <a:rPr lang="ko-KR" altLang="en-US" dirty="0"/>
              <a:t>도 간단하게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8880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스펙 </a:t>
            </a:r>
            <a:r>
              <a:rPr lang="en-US" altLang="ko-KR" dirty="0"/>
              <a:t>- </a:t>
            </a:r>
            <a:r>
              <a:rPr lang="ko-KR" altLang="en-US" dirty="0"/>
              <a:t>학점 자격증 수상내역</a:t>
            </a:r>
            <a:endParaRPr lang="en-US" altLang="ko-KR" dirty="0"/>
          </a:p>
          <a:p>
            <a:r>
              <a:rPr lang="ko-KR" altLang="en-US" dirty="0" err="1"/>
              <a:t>내가하고싶은일</a:t>
            </a:r>
            <a:r>
              <a:rPr lang="en-US" altLang="ko-KR" dirty="0"/>
              <a:t>(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연관지어서</a:t>
            </a:r>
            <a:r>
              <a:rPr lang="en-US" altLang="ko-KR" dirty="0"/>
              <a:t>)</a:t>
            </a:r>
            <a:r>
              <a:rPr lang="ko-KR" altLang="en-US" dirty="0"/>
              <a:t>도 간단하게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8300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스펙 </a:t>
            </a:r>
            <a:r>
              <a:rPr lang="en-US" altLang="ko-KR" dirty="0"/>
              <a:t>- </a:t>
            </a:r>
            <a:r>
              <a:rPr lang="ko-KR" altLang="en-US" dirty="0"/>
              <a:t>학점 자격증 수상내역</a:t>
            </a:r>
            <a:endParaRPr lang="en-US" altLang="ko-KR" dirty="0"/>
          </a:p>
          <a:p>
            <a:r>
              <a:rPr lang="ko-KR" altLang="en-US" dirty="0" err="1"/>
              <a:t>내가하고싶은일</a:t>
            </a:r>
            <a:r>
              <a:rPr lang="en-US" altLang="ko-KR" dirty="0"/>
              <a:t>(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연관지어서</a:t>
            </a:r>
            <a:r>
              <a:rPr lang="en-US" altLang="ko-KR" dirty="0"/>
              <a:t>)</a:t>
            </a:r>
            <a:r>
              <a:rPr lang="ko-KR" altLang="en-US" dirty="0"/>
              <a:t>도 간단하게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62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EF1E5-4998-47F2-BF49-17A47DE06D98}" type="datetimeFigureOut">
              <a:rPr lang="ko-KR" altLang="en-US" smtClean="0"/>
              <a:t>2020-11-11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파이썬</a:t>
            </a:r>
            <a:r>
              <a:rPr lang="en-US" altLang="ko-KR" sz="6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6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딥러닝 그리고 인공지능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951" y="1774085"/>
            <a:ext cx="1254096" cy="125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7942" y="40003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894153" y="1939464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894154" y="2865252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894153" y="3791040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894153" y="4716828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787" y="569617"/>
            <a:ext cx="771321" cy="7713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EA948B-EDBD-4DAA-918A-847994014BC5}"/>
              </a:ext>
            </a:extLst>
          </p:cNvPr>
          <p:cNvSpPr txBox="1"/>
          <p:nvPr/>
        </p:nvSpPr>
        <p:spPr>
          <a:xfrm>
            <a:off x="1674083" y="1896174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Python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소개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F5E2D-876E-4253-B28D-1F4E48B5CBA1}"/>
              </a:ext>
            </a:extLst>
          </p:cNvPr>
          <p:cNvSpPr txBox="1"/>
          <p:nvPr/>
        </p:nvSpPr>
        <p:spPr>
          <a:xfrm>
            <a:off x="1674083" y="2817295"/>
            <a:ext cx="375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머신 러닝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99606-E278-46FF-A047-257ABE3E2DB7}"/>
              </a:ext>
            </a:extLst>
          </p:cNvPr>
          <p:cNvSpPr txBox="1"/>
          <p:nvPr/>
        </p:nvSpPr>
        <p:spPr>
          <a:xfrm>
            <a:off x="1674083" y="3747750"/>
            <a:ext cx="375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딥 러닝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5928D8-D7E3-42CF-B4CD-EE7B861C373B}"/>
              </a:ext>
            </a:extLst>
          </p:cNvPr>
          <p:cNvSpPr/>
          <p:nvPr/>
        </p:nvSpPr>
        <p:spPr>
          <a:xfrm>
            <a:off x="894153" y="5587395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52D2D-94F5-49D9-B6F3-CDCF1F4E7A55}"/>
              </a:ext>
            </a:extLst>
          </p:cNvPr>
          <p:cNvSpPr txBox="1"/>
          <p:nvPr/>
        </p:nvSpPr>
        <p:spPr>
          <a:xfrm>
            <a:off x="1674082" y="4678205"/>
            <a:ext cx="480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머신 </a:t>
            </a: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러닝과 딥 러닝 라이브러리 및 프레임워크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C12BD6-378E-45B3-BBFF-EC486D45C328}"/>
              </a:ext>
            </a:extLst>
          </p:cNvPr>
          <p:cNvSpPr txBox="1"/>
          <p:nvPr/>
        </p:nvSpPr>
        <p:spPr>
          <a:xfrm>
            <a:off x="1674082" y="5539008"/>
            <a:ext cx="480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아나콘다 설치 실습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1.1 Python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언어소개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3786" y="1044558"/>
            <a:ext cx="11937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파이썬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언어는 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1991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프로그래머인 귀도 반 </a:t>
            </a: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로섬에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의해 처음 개발되었으며</a:t>
            </a:r>
            <a:b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귀도가 좋아하는 코미디 채널에서 따온 것이다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고급 프로그래밍 언어로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플랫폼에 독립적이며 인터프리터를 지원하고 객체지향적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동적 타이핑 대화형 언어이다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667B3-258A-495F-AE82-07C94914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2" y="2886007"/>
            <a:ext cx="9020175" cy="2057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7C54AB-B40C-4BE1-9283-B04A9AE01E12}"/>
              </a:ext>
            </a:extLst>
          </p:cNvPr>
          <p:cNvSpPr txBox="1"/>
          <p:nvPr/>
        </p:nvSpPr>
        <p:spPr>
          <a:xfrm>
            <a:off x="1663293" y="4943407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출처 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TIOBE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5C487-2C2F-43D4-8250-51949FDD3A3B}"/>
              </a:ext>
            </a:extLst>
          </p:cNvPr>
          <p:cNvSpPr txBox="1"/>
          <p:nvPr/>
        </p:nvSpPr>
        <p:spPr>
          <a:xfrm>
            <a:off x="4140159" y="4943407"/>
            <a:ext cx="3495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programing language ranking 2020</a:t>
            </a:r>
            <a:endParaRPr lang="ko-KR" altLang="en-US" sz="1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81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-1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1.2 Python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특징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59549-13C4-49D5-86C1-47213031B1D2}"/>
              </a:ext>
            </a:extLst>
          </p:cNvPr>
          <p:cNvSpPr txBox="1"/>
          <p:nvPr/>
        </p:nvSpPr>
        <p:spPr>
          <a:xfrm>
            <a:off x="2792670" y="1419665"/>
            <a:ext cx="3754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실행 중 변수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또는 함수 생성 가능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모서리가 둥근 직사각형 35">
            <a:extLst>
              <a:ext uri="{FF2B5EF4-FFF2-40B4-BE49-F238E27FC236}">
                <a16:creationId xmlns:a16="http://schemas.microsoft.com/office/drawing/2014/main" id="{C6CBA843-F6B8-4938-9D81-F0733866022E}"/>
              </a:ext>
            </a:extLst>
          </p:cNvPr>
          <p:cNvSpPr/>
          <p:nvPr/>
        </p:nvSpPr>
        <p:spPr>
          <a:xfrm>
            <a:off x="516089" y="1271312"/>
            <a:ext cx="2111183" cy="722681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동적 타이핑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6678FC-B21A-42D2-B4F9-E10859E606D1}"/>
              </a:ext>
            </a:extLst>
          </p:cNvPr>
          <p:cNvSpPr txBox="1"/>
          <p:nvPr/>
        </p:nvSpPr>
        <p:spPr>
          <a:xfrm>
            <a:off x="2840861" y="2484004"/>
            <a:ext cx="7359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한 번에 한 줄 씩 실행 가능하며 컴파일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과정이 필요 없고 실행 결과를 바로 확인  가능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id="{2A70E5F4-EC8B-4CF4-92A6-9308CE13DE93}"/>
              </a:ext>
            </a:extLst>
          </p:cNvPr>
          <p:cNvSpPr/>
          <p:nvPr/>
        </p:nvSpPr>
        <p:spPr>
          <a:xfrm>
            <a:off x="513308" y="2370151"/>
            <a:ext cx="2111183" cy="722681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인터프리터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38BF6F-5952-4B07-926D-967EB6B471A6}"/>
              </a:ext>
            </a:extLst>
          </p:cNvPr>
          <p:cNvSpPr txBox="1"/>
          <p:nvPr/>
        </p:nvSpPr>
        <p:spPr>
          <a:xfrm>
            <a:off x="891073" y="5737122"/>
            <a:ext cx="2264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sp>
        <p:nvSpPr>
          <p:cNvPr id="44" name="모서리가 둥근 직사각형 35">
            <a:extLst>
              <a:ext uri="{FF2B5EF4-FFF2-40B4-BE49-F238E27FC236}">
                <a16:creationId xmlns:a16="http://schemas.microsoft.com/office/drawing/2014/main" id="{C314E16E-760A-4C2F-804C-62FDBB7FD7B9}"/>
              </a:ext>
            </a:extLst>
          </p:cNvPr>
          <p:cNvSpPr/>
          <p:nvPr/>
        </p:nvSpPr>
        <p:spPr>
          <a:xfrm>
            <a:off x="513308" y="3635901"/>
            <a:ext cx="2111183" cy="722681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Multi</a:t>
            </a:r>
            <a:br>
              <a:rPr lang="en-US" altLang="ko-KR" sz="2000" b="1" dirty="0"/>
            </a:br>
            <a:r>
              <a:rPr lang="en-US" altLang="ko-KR" sz="2000" b="1" dirty="0"/>
              <a:t>Paradigm</a:t>
            </a:r>
            <a:endParaRPr lang="ko-KR" altLang="en-US" sz="2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D86DB5-A1BA-4AA5-8E79-E312130A7F9A}"/>
              </a:ext>
            </a:extLst>
          </p:cNvPr>
          <p:cNvSpPr txBox="1"/>
          <p:nvPr/>
        </p:nvSpPr>
        <p:spPr>
          <a:xfrm>
            <a:off x="2840861" y="5001317"/>
            <a:ext cx="6258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윈도우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리눅스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유닉스 등과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말한다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바이트 코드를 생성해서 소스코드 없이도 다른 플랫폼에서 잘 실행된다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53" name="모서리가 둥근 직사각형 35">
            <a:extLst>
              <a:ext uri="{FF2B5EF4-FFF2-40B4-BE49-F238E27FC236}">
                <a16:creationId xmlns:a16="http://schemas.microsoft.com/office/drawing/2014/main" id="{99BE9EC7-D313-4DB6-9BED-0609F007C464}"/>
              </a:ext>
            </a:extLst>
          </p:cNvPr>
          <p:cNvSpPr/>
          <p:nvPr/>
        </p:nvSpPr>
        <p:spPr>
          <a:xfrm>
            <a:off x="513308" y="5014441"/>
            <a:ext cx="2111183" cy="722681"/>
          </a:xfrm>
          <a:prstGeom prst="roundRect">
            <a:avLst>
              <a:gd name="adj" fmla="val 50000"/>
            </a:avLst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플랫폼에 </a:t>
            </a:r>
            <a:br>
              <a:rPr lang="en-US" altLang="ko-KR" sz="20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0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독립적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F6CCF1-C1B3-4706-8547-5F88DE71F5CE}"/>
              </a:ext>
            </a:extLst>
          </p:cNvPr>
          <p:cNvSpPr txBox="1"/>
          <p:nvPr/>
        </p:nvSpPr>
        <p:spPr>
          <a:xfrm>
            <a:off x="2840861" y="3850382"/>
            <a:ext cx="5170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절차적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객체지향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함수형과 같은 프로그래밍이 모두 가능하다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945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26509"/>
            <a:ext cx="5113568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인공지능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왜 </a:t>
            </a:r>
            <a:r>
              <a:rPr lang="ko-KR" altLang="en-US" sz="24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파이썬을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사용할까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591126" y="2644170"/>
            <a:ext cx="110097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인공지능을 구현하기 위해 사용되는 대표적인 프레임 워크가 구글에서 오픈소스로 공개된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‘TensorFlow’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이며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 개발환경은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Python 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 기반으로 구현되어 있다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6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 워크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(Framework) :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어플리케이션 개발에 바탕이 되는 템플릿과 같은 역할을 하는 클래스들과 인터페이스의 집합이다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19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14224"/>
            <a:ext cx="368908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2.1 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806773" y="1470563"/>
            <a:ext cx="10578454" cy="2921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머신 러닝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데이터를 구문 분석하고 해당 데이터를 통해 학습한 후 정보를 바탕으로 결정을 내리기 위해 학습한 내용을 적용하는 알고리즘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즉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데이터를 학습시키고 학습시킨 데이터를 활용하는 알고리즘</a:t>
            </a: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딥 러닝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실질적으로 딥 러닝은 머신 러닝의 하위 개념으로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인간의 뉴런과 비슷한 인공신경망 방식과 같이 수많은 데이터 속에서 패턴을 발견한 뒤 사물을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구분하는 정보처리 방식을 모방한 방식의 알고리즘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00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9617"/>
            <a:ext cx="5113568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2.2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러닝의 차이점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3036181" y="1291216"/>
            <a:ext cx="6119637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머신 러닝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데이터 특징에 대한 정보를 사람이 직접 제공하고 </a:t>
            </a:r>
            <a:b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딥 러닝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데이터의 특징을 스스로 파악해 분류한다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D59733-87EC-4783-B462-356BB6DCF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98" b="96285" l="4239" r="95290">
                        <a14:foregroundMark x1="11931" y1="36842" x2="11303" y2="47059"/>
                        <a14:foregroundMark x1="17739" y1="19195" x2="18367" y2="40557"/>
                        <a14:foregroundMark x1="14443" y1="23220" x2="5808" y2="24768"/>
                        <a14:foregroundMark x1="14600" y1="13313" x2="10675" y2="28483"/>
                        <a14:foregroundMark x1="10675" y1="28483" x2="9262" y2="16409"/>
                        <a14:foregroundMark x1="4553" y1="10217" x2="76138" y2="11765"/>
                        <a14:foregroundMark x1="76138" y1="11765" x2="85871" y2="20433"/>
                        <a14:foregroundMark x1="85871" y1="20433" x2="89011" y2="61610"/>
                        <a14:foregroundMark x1="89011" y1="61610" x2="85086" y2="75232"/>
                        <a14:foregroundMark x1="85086" y1="75232" x2="28885" y2="81115"/>
                        <a14:foregroundMark x1="28885" y1="81115" x2="18053" y2="62229"/>
                        <a14:foregroundMark x1="18053" y1="62229" x2="15071" y2="30031"/>
                        <a14:foregroundMark x1="4239" y1="17647" x2="4239" y2="17647"/>
                        <a14:foregroundMark x1="3140" y1="76471" x2="9890" y2="86378"/>
                        <a14:foregroundMark x1="9890" y1="86378" x2="32339" y2="83282"/>
                        <a14:foregroundMark x1="32339" y1="83282" x2="67504" y2="87616"/>
                        <a14:foregroundMark x1="67504" y1="87616" x2="78807" y2="85139"/>
                        <a14:foregroundMark x1="78807" y1="85139" x2="84301" y2="71207"/>
                        <a14:foregroundMark x1="84301" y1="71207" x2="89796" y2="41176"/>
                        <a14:foregroundMark x1="89796" y1="41176" x2="87912" y2="26935"/>
                        <a14:foregroundMark x1="87912" y1="26935" x2="90110" y2="41796"/>
                        <a14:foregroundMark x1="90110" y1="41796" x2="88854" y2="59133"/>
                        <a14:foregroundMark x1="88854" y1="59133" x2="81005" y2="74613"/>
                        <a14:foregroundMark x1="81005" y1="74613" x2="68917" y2="58514"/>
                        <a14:foregroundMark x1="68917" y1="58514" x2="69231" y2="40557"/>
                        <a14:foregroundMark x1="69231" y1="40557" x2="74254" y2="20743"/>
                        <a14:foregroundMark x1="74254" y1="20743" x2="72527" y2="47678"/>
                        <a14:foregroundMark x1="72527" y1="47678" x2="66876" y2="56966"/>
                        <a14:foregroundMark x1="68446" y1="30650" x2="72370" y2="46130"/>
                        <a14:foregroundMark x1="72370" y1="46130" x2="68132" y2="56347"/>
                        <a14:foregroundMark x1="81633" y1="23839" x2="83673" y2="40248"/>
                        <a14:foregroundMark x1="83673" y1="40248" x2="79749" y2="57585"/>
                        <a14:foregroundMark x1="79749" y1="57585" x2="76452" y2="63158"/>
                        <a14:foregroundMark x1="79435" y1="27554" x2="82575" y2="41486"/>
                        <a14:foregroundMark x1="82575" y1="41486" x2="79592" y2="54799"/>
                        <a14:foregroundMark x1="79592" y1="54799" x2="70644" y2="65325"/>
                        <a14:foregroundMark x1="70644" y1="65325" x2="62951" y2="63777"/>
                        <a14:foregroundMark x1="72841" y1="21362" x2="75196" y2="35604"/>
                        <a14:foregroundMark x1="75196" y1="35604" x2="68917" y2="46440"/>
                        <a14:foregroundMark x1="71586" y1="18576" x2="69702" y2="41486"/>
                        <a14:foregroundMark x1="67975" y1="21362" x2="71429" y2="35604"/>
                        <a14:foregroundMark x1="88226" y1="21362" x2="91366" y2="34675"/>
                        <a14:foregroundMark x1="91366" y1="34675" x2="88854" y2="83901"/>
                        <a14:foregroundMark x1="88854" y1="83901" x2="78650" y2="92260"/>
                        <a14:foregroundMark x1="78650" y1="92260" x2="87755" y2="89474"/>
                        <a14:foregroundMark x1="87755" y1="89474" x2="93093" y2="78019"/>
                        <a14:foregroundMark x1="93093" y1="78019" x2="96860" y2="24149"/>
                        <a14:foregroundMark x1="96860" y1="24149" x2="93093" y2="11146"/>
                        <a14:foregroundMark x1="93093" y1="11146" x2="83359" y2="10526"/>
                        <a14:foregroundMark x1="83359" y1="10526" x2="80848" y2="11765"/>
                        <a14:foregroundMark x1="95290" y1="8669" x2="97488" y2="23839"/>
                        <a14:foregroundMark x1="97488" y1="23839" x2="91523" y2="94737"/>
                        <a14:foregroundMark x1="91523" y1="94737" x2="39089" y2="96285"/>
                        <a14:foregroundMark x1="39089" y1="96285" x2="35636" y2="94737"/>
                        <a14:foregroundMark x1="10047" y1="23839" x2="7535" y2="58514"/>
                        <a14:foregroundMark x1="36578" y1="30031" x2="38305" y2="30031"/>
                        <a14:foregroundMark x1="34223" y1="25697" x2="37520" y2="27554"/>
                        <a14:foregroundMark x1="95290" y1="57895" x2="94662" y2="90093"/>
                        <a14:foregroundMark x1="21507" y1="60681" x2="17739" y2="77090"/>
                        <a14:foregroundMark x1="10832" y1="55728" x2="8791" y2="823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8217" y="2299766"/>
            <a:ext cx="7915563" cy="380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30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9617"/>
            <a:ext cx="310718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 종류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D8F04-2074-41DB-88FF-D5D7D82C9733}"/>
              </a:ext>
            </a:extLst>
          </p:cNvPr>
          <p:cNvSpPr txBox="1"/>
          <p:nvPr/>
        </p:nvSpPr>
        <p:spPr>
          <a:xfrm>
            <a:off x="271620" y="1321980"/>
            <a:ext cx="10547928" cy="4214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지도학습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</a:b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입력값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과 함께 결과값을 주고 학습시킨다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 )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분류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회귀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비지도학습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 없이 입력 값 만을 이용하여 학습시킨다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군집화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강화학습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결과값 대신 어떤 일 을 수행 했을 때 보상을 주는 방식으로 학습시킨다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 )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알파고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748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-1" y="325905"/>
            <a:ext cx="56817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2.4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지도 학습 분류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(Classification)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종류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271620" y="1321980"/>
            <a:ext cx="10547928" cy="4214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이진 분류 문제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(Binary Classification)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주어진 입력에 대해서 둘 중 하나의 답을 정하는 문제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 )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시험 성적의 합격 불합격 판단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다중 클래스 분류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(Multi-class Classification)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주어진 입력에 대해서 두 개 이상의 선택지 중에서 답을 정하는 문제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다섯 개의 책장 중에서 분야에 맞는 적절한 책을 구분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회귀 문제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(Regression)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분리된 문제의 답이 아니라 연속된 결과에 대한 판단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 )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주가 예측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생산량 예측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지수 예측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3715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1371"/>
            <a:ext cx="516680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2.5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지도 학습 회귀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(Regression)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종류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163398" y="1170220"/>
            <a:ext cx="4781464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선형 회귀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(Linear Regression)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선형 예측 함수를 사용해 회귀식을 모델링하는 방법 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98192-D0E6-4643-AB1A-94C46B516F92}"/>
              </a:ext>
            </a:extLst>
          </p:cNvPr>
          <p:cNvSpPr txBox="1"/>
          <p:nvPr/>
        </p:nvSpPr>
        <p:spPr>
          <a:xfrm>
            <a:off x="562462" y="2473042"/>
            <a:ext cx="772928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단순 선형 회귀 분석 </a:t>
            </a:r>
            <a:r>
              <a:rPr lang="en-US" altLang="ko-KR" sz="20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(Simple)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 = WX + b  (W :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가중치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b: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편향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같이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같다는 하나의 식 밖에 표현하지 못한다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6D624-AA87-47C4-9E36-2971A86A9E5E}"/>
              </a:ext>
            </a:extLst>
          </p:cNvPr>
          <p:cNvSpPr txBox="1"/>
          <p:nvPr/>
        </p:nvSpPr>
        <p:spPr>
          <a:xfrm>
            <a:off x="562462" y="3626806"/>
            <a:ext cx="772928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다중 선형 회귀 분석</a:t>
            </a:r>
            <a:r>
              <a:rPr lang="en-US" altLang="ko-KR" sz="20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(Multiple)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pl-PL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</a:t>
            </a:r>
            <a:r>
              <a:rPr lang="en-US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pl-PL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=</a:t>
            </a:r>
            <a:r>
              <a:rPr lang="en-US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pl-PL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W1</a:t>
            </a:r>
            <a:r>
              <a:rPr lang="en-US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</a:t>
            </a:r>
            <a:r>
              <a:rPr lang="pl-PL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1+W2</a:t>
            </a:r>
            <a:r>
              <a:rPr lang="en-US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</a:t>
            </a:r>
            <a:r>
              <a:rPr lang="pl-PL" altLang="ko-KR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2+...Wnxn+b</a:t>
            </a:r>
            <a:r>
              <a:rPr lang="ko-KR" altLang="en-US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같이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여러 개의 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존재</a:t>
            </a:r>
            <a:r>
              <a:rPr lang="ko-KR" altLang="en-US" sz="15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F730E-35DE-4FBC-8868-3EC44227A69E}"/>
              </a:ext>
            </a:extLst>
          </p:cNvPr>
          <p:cNvSpPr txBox="1"/>
          <p:nvPr/>
        </p:nvSpPr>
        <p:spPr>
          <a:xfrm>
            <a:off x="562462" y="4780570"/>
            <a:ext cx="7880560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비용 함수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Costfunction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: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실제 값과 예측 값에 대한 오차를 줄이기 위해 사용하는 함수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098" name="Picture 2" descr="https://upload.wikimedia.org/wikipedia/commons/b/be/Normdist_regression.png">
            <a:extLst>
              <a:ext uri="{FF2B5EF4-FFF2-40B4-BE49-F238E27FC236}">
                <a16:creationId xmlns:a16="http://schemas.microsoft.com/office/drawing/2014/main" id="{67AEBAB7-17E1-4FDF-BD89-2091845B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750" y="3517990"/>
            <a:ext cx="3015095" cy="247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196390" y="1084255"/>
            <a:ext cx="1202860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로지스틱 회귀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(Regression)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이진 분류 문제의 방법을 사용하는 대표적인 회귀 방식으로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개의 선택지 중 하나를 고르는 방법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ED2A1-8A50-4FFB-902A-3CF4B47D4351}"/>
              </a:ext>
            </a:extLst>
          </p:cNvPr>
          <p:cNvSpPr txBox="1"/>
          <p:nvPr/>
        </p:nvSpPr>
        <p:spPr>
          <a:xfrm>
            <a:off x="633274" y="2344440"/>
            <a:ext cx="10090144" cy="820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시그모이드</a:t>
            </a:r>
            <a:r>
              <a:rPr lang="ko-KR" altLang="en-US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함수</a:t>
            </a:r>
            <a:r>
              <a:rPr lang="en-US" altLang="ko-KR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(Sigmoid function)</a:t>
            </a:r>
            <a:b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사이의 값을 가지면서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S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 형태로 그려지는 조건을 충족하는 함수를 활용하여 로지스틱 회귀를 구현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6E31054-C7B2-4B65-BEAC-1FF67CD85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964" y="3710637"/>
            <a:ext cx="3397188" cy="239228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29EB3F0-70CE-49A3-9534-A015F5595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4" y="3219049"/>
            <a:ext cx="5067300" cy="43815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018F036-A62E-4D3B-900D-AEE162079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873084"/>
            <a:ext cx="3794742" cy="217639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7C1C22F-E5CF-44C0-B2CD-A713C4376954}"/>
              </a:ext>
            </a:extLst>
          </p:cNvPr>
          <p:cNvSpPr/>
          <p:nvPr/>
        </p:nvSpPr>
        <p:spPr>
          <a:xfrm>
            <a:off x="0" y="331371"/>
            <a:ext cx="516680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2.5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지도 학습 회귀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(Regression)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종류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955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196390" y="1084255"/>
            <a:ext cx="1202860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로지스틱 회귀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(Regression)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B5D1C-188C-4FC3-9F42-11FCFFD6711E}"/>
              </a:ext>
            </a:extLst>
          </p:cNvPr>
          <p:cNvSpPr txBox="1"/>
          <p:nvPr/>
        </p:nvSpPr>
        <p:spPr>
          <a:xfrm>
            <a:off x="196390" y="1877124"/>
            <a:ext cx="11474421" cy="386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단순선형회귀분석은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y=</a:t>
            </a: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Wx+b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사용했는데 로지스틱 회귀는 종속변수가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이기 때문에 이식을 이용하여 예측하는 것은 의미가 없다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Odds(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오즈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오즈란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사건이 일어날 확률을 나타내며 식은 다음과 같다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확률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범위가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(0,1)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이라면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Odds(p)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범위는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(0,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무한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음수를 나타내지 못하기 때문에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Odds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로그를 취하여 음수를 나타낸다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위의 식을 이용하여 선형회귀분석을 실시해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얻을수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있다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식을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정리하면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시그모이드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함수를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구할수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있다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1439DD-0B23-4BF4-8A88-F89F7A58F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79" y="3115799"/>
            <a:ext cx="1495425" cy="5143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CB9799-3606-4EA9-9A1C-1DE4BE979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79" y="4423018"/>
            <a:ext cx="1943100" cy="6000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A0C978A-2A5F-4C8B-BFAA-78D11F7B1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29" y="5010809"/>
            <a:ext cx="1885950" cy="4027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843D54-2990-423A-A0F6-03FCC8D18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29" y="5861025"/>
            <a:ext cx="1657350" cy="5715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E1FFB98-D599-4DBB-890F-C0EA5E2CCC6A}"/>
              </a:ext>
            </a:extLst>
          </p:cNvPr>
          <p:cNvSpPr/>
          <p:nvPr/>
        </p:nvSpPr>
        <p:spPr>
          <a:xfrm>
            <a:off x="0" y="331371"/>
            <a:ext cx="516680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2.5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지도 학습 회귀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(Regression)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종류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59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289088" y="1298375"/>
            <a:ext cx="1202860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소프트 맥스 회귀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en-US" altLang="ko-KR" sz="20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Softmax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Regression)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다중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 분류 방법을 사용하는 대표적인 회귀 방식으로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 이상의 선택지 중에서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개를 고르는 방법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9ED2A1-8A50-4FFB-902A-3CF4B47D4351}"/>
                  </a:ext>
                </a:extLst>
              </p:cNvPr>
              <p:cNvSpPr txBox="1"/>
              <p:nvPr/>
            </p:nvSpPr>
            <p:spPr>
              <a:xfrm>
                <a:off x="618965" y="2319528"/>
                <a:ext cx="11777221" cy="819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소프트 맥스 함수</a:t>
                </a:r>
                <a:br>
                  <a:rPr lang="en-US" altLang="ko-KR" sz="20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</a:br>
                <a:r>
                  <a:rPr lang="en-US" altLang="ko-KR" sz="15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n</a:t>
                </a:r>
                <a:r>
                  <a:rPr lang="ko-KR" altLang="en-US" sz="15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차원의 벡터에서 </a:t>
                </a:r>
                <a:r>
                  <a:rPr lang="en-US" altLang="ko-KR" sz="1500" spc="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i</a:t>
                </a:r>
                <a:r>
                  <a:rPr lang="ko-KR" altLang="en-US" sz="15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번째 원소를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500" b="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500" b="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𝑖</m:t>
                        </m:r>
                      </m:sub>
                    </m:sSub>
                    <m:r>
                      <a:rPr lang="en-US" altLang="ko-KR" sz="1500" b="0" i="0" spc="10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나눔스퀘어_ac Bold" panose="020B0600000101010101" pitchFamily="50" charset="-127"/>
                      </a:rPr>
                      <m:t>,</m:t>
                    </m:r>
                  </m:oMath>
                </a14:m>
                <a:r>
                  <a:rPr lang="en-US" altLang="ko-KR" sz="15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 </a:t>
                </a:r>
                <a:r>
                  <a:rPr lang="en-US" altLang="ko-KR" sz="1500" spc="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i</a:t>
                </a:r>
                <a:r>
                  <a:rPr lang="ko-KR" altLang="en-US" sz="15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번째 클래스가 정답인 확률을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500" b="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5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 Bold" panose="020B0600000101010101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5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로 나타낸다고 하였을 때 소프트 맥스 함수 </a:t>
                </a:r>
                <a:endParaRPr lang="en-US" altLang="ko-KR" sz="1500" spc="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9ED2A1-8A50-4FFB-902A-3CF4B47D4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65" y="2319528"/>
                <a:ext cx="11777221" cy="819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4BAA140F-80B1-4D5E-BEF5-26F57A79F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65" y="3429000"/>
            <a:ext cx="3655869" cy="82624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03D53C5-8C67-4317-9C74-2E849B54A9BC}"/>
              </a:ext>
            </a:extLst>
          </p:cNvPr>
          <p:cNvSpPr/>
          <p:nvPr/>
        </p:nvSpPr>
        <p:spPr>
          <a:xfrm>
            <a:off x="0" y="331371"/>
            <a:ext cx="516680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2.5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지도 학습 회귀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(Regression)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종류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1350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-1" y="331371"/>
            <a:ext cx="262976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 개요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352425" y="1333955"/>
            <a:ext cx="6542843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인간의 신경세포 뉴런을 모방한 모형으로 초기 인공 신경망인 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퍼셉트론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(Perceptron)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부터 </a:t>
            </a: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피드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포워드 신경망 언어 모델의 정의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1D751E-A086-498B-B9C1-069CC7952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3537018"/>
            <a:ext cx="57435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4FF0B1-0749-4932-83EB-C8DA90780044}"/>
              </a:ext>
            </a:extLst>
          </p:cNvPr>
          <p:cNvSpPr txBox="1"/>
          <p:nvPr/>
        </p:nvSpPr>
        <p:spPr>
          <a:xfrm>
            <a:off x="352425" y="2207368"/>
            <a:ext cx="6372834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피드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포워드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(Feed forward) :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미래의 목표에 대한 아이디어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CFEAD-10F5-4B38-81F7-E410F091463D}"/>
              </a:ext>
            </a:extLst>
          </p:cNvPr>
          <p:cNvSpPr txBox="1"/>
          <p:nvPr/>
        </p:nvSpPr>
        <p:spPr>
          <a:xfrm>
            <a:off x="2215489" y="3200910"/>
            <a:ext cx="1841606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인간의 신경세포 뉴런</a:t>
            </a:r>
            <a:endParaRPr lang="en-US" altLang="ko-KR" sz="1400" b="1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78294E9-1512-49B9-8A77-6A9362492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745" y="3585310"/>
            <a:ext cx="2354393" cy="206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2C4BFD-A486-4F67-85B9-5932916716AD}"/>
              </a:ext>
            </a:extLst>
          </p:cNvPr>
          <p:cNvSpPr txBox="1"/>
          <p:nvPr/>
        </p:nvSpPr>
        <p:spPr>
          <a:xfrm>
            <a:off x="8941671" y="3200909"/>
            <a:ext cx="912542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퍼셉트론</a:t>
            </a:r>
            <a:endParaRPr lang="en-US" altLang="ko-KR" sz="1400" b="1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266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1371"/>
            <a:ext cx="2045302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3.2 </a:t>
            </a:r>
            <a:r>
              <a:rPr lang="ko-KR" altLang="en-US" sz="24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퍼셉트론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463439" y="986088"/>
            <a:ext cx="8121268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퍼셉트론은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다수의 신호를 입력으로 받아 하나의 신호를 출력한다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b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이때 신호는 전류나 강물처럼 흐름이 있는 것을 상상하는 것이 좋으며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b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퍼셉트론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신호도 흐름을 만들고 정보를 앞으로 전달한다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이때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퍼셉트론의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신호는 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흐른다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안 흐른다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‘(1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또는 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0)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두 가지 값을 가질 수 있다</a:t>
            </a: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B6F7FDD-1D3A-4134-9689-A72108FDA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51" y="3579828"/>
            <a:ext cx="2354393" cy="206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E19F2F-1139-4F48-BF77-134A77FB7149}"/>
              </a:ext>
            </a:extLst>
          </p:cNvPr>
          <p:cNvSpPr txBox="1"/>
          <p:nvPr/>
        </p:nvSpPr>
        <p:spPr>
          <a:xfrm>
            <a:off x="1602399" y="2961115"/>
            <a:ext cx="119489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퍼셉트론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5BAEB3-E7B8-46ED-B7B6-0891FEA57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451" y="3364060"/>
            <a:ext cx="25812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F5A09A-DDBE-4699-9591-AADA1A82D166}"/>
              </a:ext>
            </a:extLst>
          </p:cNvPr>
          <p:cNvSpPr txBox="1"/>
          <p:nvPr/>
        </p:nvSpPr>
        <p:spPr>
          <a:xfrm>
            <a:off x="4619799" y="2955440"/>
            <a:ext cx="1301608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단층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퍼셉트론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A6A1CFA-2498-485A-AA76-0D2F62815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61" y="3429000"/>
            <a:ext cx="3188862" cy="269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21F030-EB15-4AEF-A117-B0F549DBBE2A}"/>
              </a:ext>
            </a:extLst>
          </p:cNvPr>
          <p:cNvSpPr txBox="1"/>
          <p:nvPr/>
        </p:nvSpPr>
        <p:spPr>
          <a:xfrm>
            <a:off x="7968728" y="2972471"/>
            <a:ext cx="163952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다층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퍼셉트론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1225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1371"/>
            <a:ext cx="2045302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3.2 </a:t>
            </a:r>
            <a:r>
              <a:rPr lang="ko-KR" altLang="en-US" sz="24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퍼셉트론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68472-0F54-4AF8-A96F-B425E0D2FD8C}"/>
              </a:ext>
            </a:extLst>
          </p:cNvPr>
          <p:cNvSpPr txBox="1"/>
          <p:nvPr/>
        </p:nvSpPr>
        <p:spPr>
          <a:xfrm>
            <a:off x="463439" y="986088"/>
            <a:ext cx="8121268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퍼셉트론의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동작 원리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15539B-6780-4487-A587-ECE9DFE2D43B}"/>
                  </a:ext>
                </a:extLst>
              </p:cNvPr>
              <p:cNvSpPr txBox="1"/>
              <p:nvPr/>
            </p:nvSpPr>
            <p:spPr>
              <a:xfrm>
                <a:off x="2931431" y="1914181"/>
                <a:ext cx="8121268" cy="1353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입력 신호가 뉴런에 보내질 때 각각 고유한 </a:t>
                </a:r>
                <a:r>
                  <a:rPr lang="ko-KR" altLang="en-US" sz="1400" b="1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가중치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가</a:t>
                </a:r>
                <a:r>
                  <a:rPr lang="ko-KR" altLang="en-US" sz="1400" b="1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곱해진다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ko-KR" sz="1400" i="1" spc="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(</m:t>
                    </m:r>
                    <m:sSub>
                      <m:sSubPr>
                        <m:ctrlPr>
                          <a:rPr lang="en-US" altLang="ko-KR" sz="140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W</m:t>
                        </m:r>
                      </m:e>
                      <m:sub>
                        <m: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X</m:t>
                        </m:r>
                      </m:e>
                      <m:sub>
                        <m: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나눔스퀘어_ac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W</m:t>
                        </m:r>
                      </m:e>
                      <m:sub>
                        <m: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나눔스퀘어_ac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spc="100" smtClean="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X</m:t>
                        </m:r>
                      </m:e>
                      <m:sub>
                        <m:r>
                          <a:rPr lang="en-US" altLang="ko-KR" sz="1400" i="1" spc="100">
                            <a:ln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뉴런에서 보내온 신호의 총합이 정해진 한계를 넘어설 때만 </a:t>
                </a:r>
                <a:r>
                  <a:rPr lang="en-US" altLang="ko-KR" sz="1400" b="1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1</a:t>
                </a:r>
                <a:r>
                  <a:rPr lang="ko-KR" altLang="en-US" sz="1400" b="1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을 출력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한다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이때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한계를 </a:t>
                </a:r>
                <a:r>
                  <a:rPr lang="ko-KR" altLang="en-US" sz="1400" b="1" spc="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임계값</a:t>
                </a:r>
                <a:r>
                  <a:rPr lang="ko-KR" altLang="en-US" sz="1400" spc="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이라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하며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400" i="1" spc="10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𝜃</m:t>
                    </m:r>
                  </m:oMath>
                </a14:m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로 표현한다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(</a:t>
                </a:r>
                <a:r>
                  <a:rPr lang="ko-KR" altLang="en-US" sz="1400" spc="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퍼셉트론의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가중치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(W)</a:t>
                </a:r>
                <a:r>
                  <a:rPr lang="ko-KR" altLang="en-US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는 값이 클수록 강한 신호를 </a:t>
                </a:r>
                <a:r>
                  <a:rPr lang="ko-KR" altLang="en-US" sz="1400" spc="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흘려보낸다</a:t>
                </a:r>
                <a:r>
                  <a:rPr lang="en-US" altLang="ko-KR" sz="1400" spc="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15539B-6780-4487-A587-ECE9DFE2D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431" y="1914181"/>
                <a:ext cx="8121268" cy="1353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797B0FDA-830D-4792-B823-1CF5AFA50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53" y="4150153"/>
            <a:ext cx="3924300" cy="923925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08618C21-2DDA-44F5-8571-169005685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" y="1705694"/>
            <a:ext cx="1833353" cy="160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DE6075-CADE-4FD2-8914-A56C89FADF12}"/>
              </a:ext>
            </a:extLst>
          </p:cNvPr>
          <p:cNvSpPr txBox="1"/>
          <p:nvPr/>
        </p:nvSpPr>
        <p:spPr>
          <a:xfrm>
            <a:off x="463439" y="3682268"/>
            <a:ext cx="21909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퍼셉트론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동작 수식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854A2-8B53-4DAF-9E7E-7D44F36E376C}"/>
              </a:ext>
            </a:extLst>
          </p:cNvPr>
          <p:cNvSpPr txBox="1"/>
          <p:nvPr/>
        </p:nvSpPr>
        <p:spPr>
          <a:xfrm>
            <a:off x="627747" y="5074078"/>
            <a:ext cx="812126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수식을 통해 </a:t>
            </a:r>
            <a:r>
              <a:rPr lang="ko-KR" altLang="en-US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퍼셉트론은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AND, NAND, OR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세가지 논리 회로를 표현할 수 있다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C7D457-00AE-462F-9953-8B06F9BDE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443" y="4154915"/>
            <a:ext cx="2990850" cy="18383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66961C-08DD-41E4-82B7-302B173BEE87}"/>
              </a:ext>
            </a:extLst>
          </p:cNvPr>
          <p:cNvSpPr txBox="1"/>
          <p:nvPr/>
        </p:nvSpPr>
        <p:spPr>
          <a:xfrm>
            <a:off x="7477311" y="3682268"/>
            <a:ext cx="127170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AND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표현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20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1371"/>
            <a:ext cx="2045302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3.2 </a:t>
            </a:r>
            <a:r>
              <a:rPr lang="ko-KR" altLang="en-US" sz="24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퍼셉트론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C7D457-00AE-462F-9953-8B06F9BDE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98" y="1998321"/>
            <a:ext cx="2990850" cy="18383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66961C-08DD-41E4-82B7-302B173BEE87}"/>
              </a:ext>
            </a:extLst>
          </p:cNvPr>
          <p:cNvSpPr txBox="1"/>
          <p:nvPr/>
        </p:nvSpPr>
        <p:spPr>
          <a:xfrm>
            <a:off x="386799" y="1001212"/>
            <a:ext cx="127170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AND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표현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CF54C8-91DA-4ED8-9FB5-C8714C376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32" y="1530436"/>
            <a:ext cx="2644259" cy="4678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39E6A9-5158-4BA2-8457-F6E3B7654C77}"/>
              </a:ext>
            </a:extLst>
          </p:cNvPr>
          <p:cNvSpPr txBox="1"/>
          <p:nvPr/>
        </p:nvSpPr>
        <p:spPr>
          <a:xfrm>
            <a:off x="3874672" y="1530436"/>
            <a:ext cx="5615556" cy="42623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import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numpy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as np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def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AND_basic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(x1, x2):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w1, w2, theta = 0.5, 0.5, 0.7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tmp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= x1*w1 + x2*w2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if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tmp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&lt;= theta: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   return 0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elif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tmp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&gt; theta: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   return 1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inputs = [(0, 0), (1, 0), (0, 1), (1, 1)]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for x1, x2 in inputs: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y = </a:t>
            </a:r>
            <a:r>
              <a:rPr lang="en-US" altLang="ko-KR" sz="14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AND_basic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(x1, x2)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print('({x1}, {x2}) -&gt; {y}'.format(x1=x1, x2=x2, y=y))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3BAF4-A042-4454-AC39-FDBAD1146F50}"/>
              </a:ext>
            </a:extLst>
          </p:cNvPr>
          <p:cNvSpPr txBox="1"/>
          <p:nvPr/>
        </p:nvSpPr>
        <p:spPr>
          <a:xfrm>
            <a:off x="3874672" y="1001212"/>
            <a:ext cx="210000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AND </a:t>
            </a: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구현하기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A454B0-1225-48C5-86EE-95CF31186C22}"/>
              </a:ext>
            </a:extLst>
          </p:cNvPr>
          <p:cNvSpPr txBox="1"/>
          <p:nvPr/>
        </p:nvSpPr>
        <p:spPr>
          <a:xfrm>
            <a:off x="10005007" y="2931968"/>
            <a:ext cx="1336520" cy="1353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(0, 0) -&gt; 0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(1, 0) -&gt; 0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(0, 1) -&gt; 0</a:t>
            </a:r>
          </a:p>
          <a:p>
            <a:pPr>
              <a:lnSpc>
                <a:spcPct val="150000"/>
              </a:lnSpc>
            </a:pP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(1, 1) -&gt;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4D007F-44DE-4915-9FD3-B3C91FC518FC}"/>
              </a:ext>
            </a:extLst>
          </p:cNvPr>
          <p:cNvSpPr txBox="1"/>
          <p:nvPr/>
        </p:nvSpPr>
        <p:spPr>
          <a:xfrm>
            <a:off x="9960620" y="2395007"/>
            <a:ext cx="96779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출력값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3344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31371"/>
            <a:ext cx="408634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595298" y="1371181"/>
            <a:ext cx="10271464" cy="154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CNN(Convolutional Neural Network)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이미지를 인식하는데 주로 사용된다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같은 이미지라 하더라도 위치가 변하거나 방향이 바뀌거나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이미지가 왜곡 되는 등 다양한 경우가 있을 수 있고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변화에 관계없이 인식하기 위해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Convolution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Pooling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과정을 반복 적용하여 이미지에서 추상화된 정보를 추출한다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EB738E-80A4-4313-A54C-3393677A5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98" y="2919297"/>
            <a:ext cx="10457401" cy="31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21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7746722" y="1414996"/>
            <a:ext cx="4232119" cy="1317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Convolution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여러가지 필터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(filter)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사용하여 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이미지의 특징을 도출한다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BC979C-5133-49D7-BFD0-B26B1E6A90DC}"/>
              </a:ext>
            </a:extLst>
          </p:cNvPr>
          <p:cNvSpPr txBox="1"/>
          <p:nvPr/>
        </p:nvSpPr>
        <p:spPr>
          <a:xfrm>
            <a:off x="2410120" y="4810217"/>
            <a:ext cx="4603423" cy="120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Pooling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이미지의 특징은 유지하면서 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차원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(dimension)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줄이는 역할을 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5850AB-B3C4-4B32-8DD4-7F7877530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43" y="1500610"/>
            <a:ext cx="6153592" cy="32773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A10EA8E-8B29-4EDF-8620-95F4AF353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776" y="4168814"/>
            <a:ext cx="3714750" cy="21431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FA47877-FF9D-4B4A-9269-5BFF1A82CB97}"/>
              </a:ext>
            </a:extLst>
          </p:cNvPr>
          <p:cNvSpPr/>
          <p:nvPr/>
        </p:nvSpPr>
        <p:spPr>
          <a:xfrm>
            <a:off x="0" y="331371"/>
            <a:ext cx="408634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706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765280" y="1357626"/>
            <a:ext cx="9461796" cy="199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RNN(Recurrent Neural Network)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음성과 글자 등 순차적인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(Sequential)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정보를 인식하는 데 주로 사용된다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아래 그림의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RNN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이전 상태의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상태값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(s)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다음 계산의 입력으로 들어가서 결과에 영향을 미치는 구조로 되어있다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이는 단어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문장 등을 인식할 때 앞의 단어와 글자를 참고하여 인식할 필요가 있기 때문이다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ex) “hell”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다음은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“o“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위치시켜서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“hello”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단어를 완성시키는데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RNN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모델을 이용할 수 있다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586656-DA4F-4E26-9FA3-B1B22CB98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04" y="3505470"/>
            <a:ext cx="5210175" cy="19716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387A946-A8FD-411B-A6F9-49D5DD721BA7}"/>
              </a:ext>
            </a:extLst>
          </p:cNvPr>
          <p:cNvSpPr/>
          <p:nvPr/>
        </p:nvSpPr>
        <p:spPr>
          <a:xfrm>
            <a:off x="0" y="331371"/>
            <a:ext cx="408634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474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387A946-A8FD-411B-A6F9-49D5DD721BA7}"/>
              </a:ext>
            </a:extLst>
          </p:cNvPr>
          <p:cNvSpPr/>
          <p:nvPr/>
        </p:nvSpPr>
        <p:spPr>
          <a:xfrm>
            <a:off x="0" y="331371"/>
            <a:ext cx="408634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D32CD04-8B68-4CE8-A9C6-CF2A33CE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05" y="781329"/>
            <a:ext cx="10901779" cy="57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92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387A946-A8FD-411B-A6F9-49D5DD721BA7}"/>
              </a:ext>
            </a:extLst>
          </p:cNvPr>
          <p:cNvSpPr/>
          <p:nvPr/>
        </p:nvSpPr>
        <p:spPr>
          <a:xfrm>
            <a:off x="0" y="331371"/>
            <a:ext cx="408634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1D0BCE-AC0C-4AC7-850D-B5FDCD1AB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60" y="877463"/>
            <a:ext cx="10955045" cy="584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89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461639" y="1443277"/>
            <a:ext cx="1044901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개의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RNN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이용한 기계 번역기 구현 모델</a:t>
            </a:r>
            <a:endParaRPr lang="en-US" altLang="ko-KR" sz="20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181B44-A4D3-4BD2-A558-F7E5D23D3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10" y="2403707"/>
            <a:ext cx="10573590" cy="303123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5D5713F-12A4-4A00-A9CC-CF4249AA6FCD}"/>
              </a:ext>
            </a:extLst>
          </p:cNvPr>
          <p:cNvSpPr/>
          <p:nvPr/>
        </p:nvSpPr>
        <p:spPr>
          <a:xfrm>
            <a:off x="0" y="331371"/>
            <a:ext cx="4847208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3.4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 활용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5045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254836" y="1491322"/>
            <a:ext cx="1202860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CNN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RNN</a:t>
            </a: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모델을 동시에 활용한 사례</a:t>
            </a:r>
            <a:endParaRPr lang="en-US" altLang="ko-KR" sz="20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7E85C7-6596-4448-99B0-18928F829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27" y="2840119"/>
            <a:ext cx="9519479" cy="276268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E3DF4CB-D40A-436C-B0A2-DDDAFDDFB47F}"/>
              </a:ext>
            </a:extLst>
          </p:cNvPr>
          <p:cNvSpPr/>
          <p:nvPr/>
        </p:nvSpPr>
        <p:spPr>
          <a:xfrm>
            <a:off x="0" y="331371"/>
            <a:ext cx="4086344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딥 러닝의 대표적인 모델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02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270434"/>
            <a:ext cx="9193963" cy="4999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러닝을 위해 사용되는 필수 도구와 라이브러리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639191" y="1443277"/>
            <a:ext cx="11471109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주피터 노트북</a:t>
            </a: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 코드를 브라우저에서 실행해주는 대화식 환경으로 탐색적 데이터 분석에 아주 적합하다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F66EE-D2D3-4BDC-9FAC-1A96BF4BAC8B}"/>
              </a:ext>
            </a:extLst>
          </p:cNvPr>
          <p:cNvSpPr txBox="1"/>
          <p:nvPr/>
        </p:nvSpPr>
        <p:spPr>
          <a:xfrm>
            <a:off x="639191" y="2632783"/>
            <a:ext cx="11471110" cy="120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Numpy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Numpy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파이썬으로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과학 계산을 하려면 꼭 필요한 패키지로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다차원 배열을 위한 기능과 선형대수 연산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푸리에 변환 같은 고수준 수학 함수와 유사 난수 생성기를 포함한다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열의 타입이 일치해야 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46825-3F83-4838-A04A-B00E8F455543}"/>
              </a:ext>
            </a:extLst>
          </p:cNvPr>
          <p:cNvSpPr txBox="1"/>
          <p:nvPr/>
        </p:nvSpPr>
        <p:spPr>
          <a:xfrm>
            <a:off x="424078" y="3864214"/>
            <a:ext cx="6117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*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선형 대수 연산 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벡터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행렬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선형 변환을 연구하는 수학의 연산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2624E8-2A1E-4610-9C24-B859136700A0}"/>
              </a:ext>
            </a:extLst>
          </p:cNvPr>
          <p:cNvSpPr txBox="1"/>
          <p:nvPr/>
        </p:nvSpPr>
        <p:spPr>
          <a:xfrm>
            <a:off x="824128" y="4201555"/>
            <a:ext cx="5717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*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푸리에 변환 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시간의 함수인 신호 등을 주파수 성분으로 분해하는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C5CA67-BCB4-4C57-8B2F-4472212D59A3}"/>
              </a:ext>
            </a:extLst>
          </p:cNvPr>
          <p:cNvSpPr txBox="1"/>
          <p:nvPr/>
        </p:nvSpPr>
        <p:spPr>
          <a:xfrm>
            <a:off x="639191" y="4783904"/>
            <a:ext cx="11471110" cy="120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SciPy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과학 계산용 함수를 모은 파이썬 패키지로 고성능 선형대수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 최적화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신호 처리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특수한 수학 함수와 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통계 분포 등과 같은 많은 기능을 제공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121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472316" y="1566379"/>
            <a:ext cx="1202860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matplotlib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파이썬의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대표적인 과학 계산용 그래프 라이브러리로 선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그래프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히스토그램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산점도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등을 지원하며 고품질 그래프를 그려준다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84B13-7E53-45BF-AB11-7AA2DC6DAF23}"/>
              </a:ext>
            </a:extLst>
          </p:cNvPr>
          <p:cNvSpPr txBox="1"/>
          <p:nvPr/>
        </p:nvSpPr>
        <p:spPr>
          <a:xfrm>
            <a:off x="472316" y="3126366"/>
            <a:ext cx="10837835" cy="1213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pandas</a:t>
            </a:r>
            <a:b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처리와 분석을 위한 파이썬 라이브러리로 </a:t>
            </a: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DataFrame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이라는 데이터 구조를 기반으로 만들어 졌다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pandas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DataFrame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엑셀의 스프레드시트와 비슷한 테이블 형태이고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열의 타입이 달라도 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4A66CF-A8AD-4B54-97F5-572224DB4372}"/>
              </a:ext>
            </a:extLst>
          </p:cNvPr>
          <p:cNvSpPr/>
          <p:nvPr/>
        </p:nvSpPr>
        <p:spPr>
          <a:xfrm>
            <a:off x="0" y="270434"/>
            <a:ext cx="9193963" cy="4999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러닝을 위해 사용되는 필수 도구와 라이브러리 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7436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24121"/>
            <a:ext cx="8782631" cy="4755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4.2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러닝을 위해 사용되는 대표적인 프레임워크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221942" y="1107448"/>
            <a:ext cx="11125367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Theano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최초의 딥러닝 프레임 워크 중 하나로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파이썬 기반이며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CPU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GPU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수치계산에 매우 유용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F81E6-276F-402A-8F76-260D0ACB28E0}"/>
              </a:ext>
            </a:extLst>
          </p:cNvPr>
          <p:cNvSpPr txBox="1"/>
          <p:nvPr/>
        </p:nvSpPr>
        <p:spPr>
          <a:xfrm>
            <a:off x="790112" y="2165536"/>
            <a:ext cx="11493326" cy="820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특징</a:t>
            </a: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 수준 라이브러리로 딥 러닝 모델을 직접 만들거나 그 위에 래퍼 라이브러리를 사용하여 프로세스를 사용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026314-9F8A-4600-9108-4FB668764FAC}"/>
              </a:ext>
            </a:extLst>
          </p:cNvPr>
          <p:cNvSpPr txBox="1"/>
          <p:nvPr/>
        </p:nvSpPr>
        <p:spPr>
          <a:xfrm>
            <a:off x="1272717" y="2986338"/>
            <a:ext cx="6979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래퍼 라이브러리 </a:t>
            </a:r>
            <a:r>
              <a:rPr lang="en-US" altLang="ko-KR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소프트웨어를 개발하는데 사용되는 서브루틴이나 클래스들의 모음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D7C7D6-6867-4C1F-A554-CBF69F72DDEB}"/>
              </a:ext>
            </a:extLst>
          </p:cNvPr>
          <p:cNvSpPr txBox="1"/>
          <p:nvPr/>
        </p:nvSpPr>
        <p:spPr>
          <a:xfrm>
            <a:off x="790111" y="3294115"/>
            <a:ext cx="11493327" cy="751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다차원 배열을 쉽게 다를 수 있다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탐색에 적합해서 다른 라이브러리들과 연동하여 연구용으로 많이 사용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5B6DC-AB17-42F3-A827-ED77DF36168F}"/>
              </a:ext>
            </a:extLst>
          </p:cNvPr>
          <p:cNvSpPr txBox="1"/>
          <p:nvPr/>
        </p:nvSpPr>
        <p:spPr>
          <a:xfrm>
            <a:off x="790110" y="4399003"/>
            <a:ext cx="11493328" cy="185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단점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사용하기 복잡하다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				 	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단일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GPU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지원한다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에러 메시지가 코드의 잘못된 부분에 크게 도움되지 못한다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컴파일 시간이 오래 걸린다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2756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01841"/>
            <a:ext cx="8933551" cy="4870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4.2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러닝을 위해 사용되는 대표적인 프레임워크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284085" y="960114"/>
            <a:ext cx="11457816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TensorFlow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구글이 개발한 오픈소스로 이식성이 좋은 프레임 워크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F81E6-276F-402A-8F76-260D0ACB28E0}"/>
              </a:ext>
            </a:extLst>
          </p:cNvPr>
          <p:cNvSpPr txBox="1"/>
          <p:nvPr/>
        </p:nvSpPr>
        <p:spPr>
          <a:xfrm>
            <a:off x="734185" y="2151795"/>
            <a:ext cx="11457815" cy="1513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특징</a:t>
            </a: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Theno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보다 컴파일 속도가 빠르다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TensorBoard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시각화 툴을 제공한다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CPU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GPU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활용한 계산이 수월하며 데이터나 모델들의 병렬처리에 적합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39B7B-F2E5-4D92-B212-D8BC088267C0}"/>
              </a:ext>
            </a:extLst>
          </p:cNvPr>
          <p:cNvSpPr txBox="1"/>
          <p:nvPr/>
        </p:nvSpPr>
        <p:spPr>
          <a:xfrm>
            <a:off x="734184" y="3908495"/>
            <a:ext cx="8995742" cy="1213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단점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사전 학습 모델이 많지 않다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다른 프레임워크보다 늦게 개발되었기 때문에 아직 다양한 플랫폼에서의 최적화가 부족한 경우도 있다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8226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01074A-6781-4792-A3A3-472B28DC9D55}"/>
              </a:ext>
            </a:extLst>
          </p:cNvPr>
          <p:cNvSpPr txBox="1"/>
          <p:nvPr/>
        </p:nvSpPr>
        <p:spPr>
          <a:xfrm>
            <a:off x="355107" y="1056551"/>
            <a:ext cx="10404629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Keras</a:t>
            </a:r>
            <a:br>
              <a:rPr lang="en-US" altLang="ko-KR" sz="24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내부적으로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Theano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Tensorflow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바탕으로 하고있으며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직관적이고 파이썬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형태에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가장 가까운 인터페이스를 제공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F81E6-276F-402A-8F76-260D0ACB28E0}"/>
              </a:ext>
            </a:extLst>
          </p:cNvPr>
          <p:cNvSpPr txBox="1"/>
          <p:nvPr/>
        </p:nvSpPr>
        <p:spPr>
          <a:xfrm>
            <a:off x="866755" y="2180401"/>
            <a:ext cx="11440059" cy="2205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특징</a:t>
            </a:r>
            <a:endParaRPr lang="en-US" altLang="ko-KR" sz="24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구글 개발자에 의해 만들어졌으며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가장 빠르게 발전하고 있는 프레임워크 중 하나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일반 사용 사례에 최적화된 간단하고 일관적인 인터페이스를 제공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케라스의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모델은 구성 요소의 설정에 의해 연결되는 식으로 제한 없이 생성 가능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확장하기 쉽다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향후 파이썬 표준 딥러닝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자리잡을 가능성이 있다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A49F8-1D44-482B-824F-B1CDF9382257}"/>
              </a:ext>
            </a:extLst>
          </p:cNvPr>
          <p:cNvSpPr txBox="1"/>
          <p:nvPr/>
        </p:nvSpPr>
        <p:spPr>
          <a:xfrm>
            <a:off x="866754" y="4643079"/>
            <a:ext cx="11440060" cy="1167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단점</a:t>
            </a:r>
            <a:endParaRPr lang="en-US" altLang="ko-KR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오류의 원인을 찾기 어렵다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참고 문헌이 부족하다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B34370-D5F7-485C-A1EC-63639C7319B6}"/>
              </a:ext>
            </a:extLst>
          </p:cNvPr>
          <p:cNvSpPr/>
          <p:nvPr/>
        </p:nvSpPr>
        <p:spPr>
          <a:xfrm>
            <a:off x="0" y="324121"/>
            <a:ext cx="8782631" cy="4755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4.2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머신 러닝과 딥 러닝을 위해 사용되는 대표적인 프레임워크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4131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60397"/>
            <a:ext cx="3053971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프레임 워크 추세</a:t>
            </a:r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B056C9-A4DF-4887-9326-4E8F09AAC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247" y="1354170"/>
            <a:ext cx="7045505" cy="46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12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60397"/>
            <a:ext cx="3897297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5.1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아나콘다 실행환경 설정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D8D0849-CC27-4519-B673-EE3D8558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75" y="1306615"/>
            <a:ext cx="5642025" cy="281588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B810600-582F-4501-ACE2-2677FAF78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10416"/>
            <a:ext cx="5935549" cy="2946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1BCA7E-5CA1-4694-B567-35417BF2D96A}"/>
              </a:ext>
            </a:extLst>
          </p:cNvPr>
          <p:cNvSpPr txBox="1"/>
          <p:nvPr/>
        </p:nvSpPr>
        <p:spPr>
          <a:xfrm>
            <a:off x="374077" y="4122498"/>
            <a:ext cx="2768618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아나콘다 네비게이션 실행화면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B9650-3F91-4C23-9A2A-975B5FBD2A6C}"/>
              </a:ext>
            </a:extLst>
          </p:cNvPr>
          <p:cNvSpPr txBox="1"/>
          <p:nvPr/>
        </p:nvSpPr>
        <p:spPr>
          <a:xfrm>
            <a:off x="10488703" y="3429000"/>
            <a:ext cx="1469519" cy="68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환경 생성 </a:t>
            </a:r>
            <a:b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2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ex) </a:t>
            </a:r>
            <a:r>
              <a:rPr lang="ko-KR" altLang="en-US" sz="12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윈도우 사용자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6618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60397"/>
            <a:ext cx="37842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5.2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주피터 노트북 설치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D0329D-6BFD-4A6C-8D7E-F3670256F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65" y="1324654"/>
            <a:ext cx="5943325" cy="31488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9B4A36-7FA9-4907-ADF8-B75C3A659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346" y="1324654"/>
            <a:ext cx="4694811" cy="481967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F43A36E-C1F5-4C21-BB26-72221B7CCB37}"/>
              </a:ext>
            </a:extLst>
          </p:cNvPr>
          <p:cNvSpPr/>
          <p:nvPr/>
        </p:nvSpPr>
        <p:spPr>
          <a:xfrm>
            <a:off x="5024761" y="2194560"/>
            <a:ext cx="1071239" cy="1320997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8E2A6-9882-4DA4-A48E-1A14D4E3B595}"/>
              </a:ext>
            </a:extLst>
          </p:cNvPr>
          <p:cNvSpPr txBox="1"/>
          <p:nvPr/>
        </p:nvSpPr>
        <p:spPr>
          <a:xfrm>
            <a:off x="303055" y="4557503"/>
            <a:ext cx="1827586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주피터 노트북 실행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000F5-1A21-4AD1-BE95-3EECCE383FAF}"/>
              </a:ext>
            </a:extLst>
          </p:cNvPr>
          <p:cNvSpPr txBox="1"/>
          <p:nvPr/>
        </p:nvSpPr>
        <p:spPr>
          <a:xfrm>
            <a:off x="6659467" y="770152"/>
            <a:ext cx="2200448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주피터 노트북 실행 화면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7045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360397"/>
            <a:ext cx="4012707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주피터 노트북 실행 화면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FE3C6D-7182-4793-9BD2-7E62FC486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27" y="1396350"/>
            <a:ext cx="6188846" cy="25988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EDB4C7-86AE-434E-A5E8-580BAF8AB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278" y="4481945"/>
            <a:ext cx="7280996" cy="2242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FC12B9-0D53-4F0A-8188-2DB29FC2A63C}"/>
              </a:ext>
            </a:extLst>
          </p:cNvPr>
          <p:cNvSpPr txBox="1"/>
          <p:nvPr/>
        </p:nvSpPr>
        <p:spPr>
          <a:xfrm>
            <a:off x="551630" y="4035933"/>
            <a:ext cx="1605644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파이썬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 생성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50DC0-F733-4BB4-8B71-6E5296DDD7D0}"/>
              </a:ext>
            </a:extLst>
          </p:cNvPr>
          <p:cNvSpPr txBox="1"/>
          <p:nvPr/>
        </p:nvSpPr>
        <p:spPr>
          <a:xfrm>
            <a:off x="9893629" y="4035933"/>
            <a:ext cx="1904793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파이썬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 실행화면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438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B251FE-EA10-4676-9284-011F885AA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79" y="1356157"/>
            <a:ext cx="5760196" cy="184886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51B111-ACD6-44DA-B82C-4E49E3402C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42" t="8182" r="75606" b="22592"/>
          <a:stretch/>
        </p:blipFill>
        <p:spPr>
          <a:xfrm>
            <a:off x="7102763" y="1986250"/>
            <a:ext cx="3805382" cy="419735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F59872E-4F04-4A0F-98FF-C4E0397BDD0B}"/>
              </a:ext>
            </a:extLst>
          </p:cNvPr>
          <p:cNvSpPr/>
          <p:nvPr/>
        </p:nvSpPr>
        <p:spPr>
          <a:xfrm>
            <a:off x="0" y="360397"/>
            <a:ext cx="4012707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5.3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주피터 노트북 실행 화면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8DF42-142D-45D8-A651-C72362B5FAB1}"/>
              </a:ext>
            </a:extLst>
          </p:cNvPr>
          <p:cNvSpPr txBox="1"/>
          <p:nvPr/>
        </p:nvSpPr>
        <p:spPr>
          <a:xfrm>
            <a:off x="409074" y="3205018"/>
            <a:ext cx="6157205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Tensorflow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설치하지 않은 상태로 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import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하여 에러가 발생한 모습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27EA8-6E53-4808-A63F-86DBD4AACB39}"/>
              </a:ext>
            </a:extLst>
          </p:cNvPr>
          <p:cNvSpPr txBox="1"/>
          <p:nvPr/>
        </p:nvSpPr>
        <p:spPr>
          <a:xfrm>
            <a:off x="8256233" y="1444933"/>
            <a:ext cx="3328188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Tensorflow</a:t>
            </a:r>
            <a:r>
              <a:rPr lang="en-US" altLang="ko-KR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 위해 터미널 실행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4973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926B0A7-CAED-44DC-B76F-DF338FB3D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0" y="1442315"/>
            <a:ext cx="5019675" cy="19335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9C6EDE-3D5A-4110-B407-B94364869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560" y="3986645"/>
            <a:ext cx="7439025" cy="22098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4D716D-5272-48DA-9410-F94E35DBFE2C}"/>
              </a:ext>
            </a:extLst>
          </p:cNvPr>
          <p:cNvSpPr/>
          <p:nvPr/>
        </p:nvSpPr>
        <p:spPr>
          <a:xfrm>
            <a:off x="0" y="360397"/>
            <a:ext cx="378420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5.4 TensorFlow </a:t>
            </a: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설치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D9BD7-2C8A-44CA-9255-9E9452C8D343}"/>
              </a:ext>
            </a:extLst>
          </p:cNvPr>
          <p:cNvSpPr txBox="1"/>
          <p:nvPr/>
        </p:nvSpPr>
        <p:spPr>
          <a:xfrm>
            <a:off x="5664654" y="1571526"/>
            <a:ext cx="1517381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텐서플로우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설치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97E91-8F66-41EC-8074-F47D66CA6F14}"/>
              </a:ext>
            </a:extLst>
          </p:cNvPr>
          <p:cNvSpPr txBox="1"/>
          <p:nvPr/>
        </p:nvSpPr>
        <p:spPr>
          <a:xfrm>
            <a:off x="569191" y="4980401"/>
            <a:ext cx="3451370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텐서플로우</a:t>
            </a:r>
            <a:r>
              <a:rPr lang="ko-KR" altLang="en-US" sz="1500" spc="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설치 후 버전을 출력한 모습</a:t>
            </a:r>
            <a:endParaRPr lang="en-US" altLang="ko-KR" sz="1500" spc="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678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1878</Words>
  <Application>Microsoft Office PowerPoint</Application>
  <PresentationFormat>와이드스크린</PresentationFormat>
  <Paragraphs>230</Paragraphs>
  <Slides>36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1" baseType="lpstr">
      <vt:lpstr>Megrim</vt:lpstr>
      <vt:lpstr>나눔스퀘어_ac Bold</vt:lpstr>
      <vt:lpstr>맑은 고딕</vt:lpstr>
      <vt:lpstr>Cambria Math</vt:lpstr>
      <vt:lpstr>나눔스퀘어_ac</vt:lpstr>
      <vt:lpstr>나눔고딕 ExtraBold</vt:lpstr>
      <vt:lpstr>나눔스퀘어 ExtraBold</vt:lpstr>
      <vt:lpstr>나눔스퀘어라운드 ExtraBold</vt:lpstr>
      <vt:lpstr>-윤고딕320</vt:lpstr>
      <vt:lpstr>나눔스퀘어라운드 Bold</vt:lpstr>
      <vt:lpstr>나눔스퀘어</vt:lpstr>
      <vt:lpstr>Arial</vt:lpstr>
      <vt:lpstr>나눔스퀘어_ac ExtraBold</vt:lpstr>
      <vt:lpstr>-윤고딕310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DDONGHO</cp:lastModifiedBy>
  <cp:revision>115</cp:revision>
  <dcterms:created xsi:type="dcterms:W3CDTF">2018-05-24T09:13:53Z</dcterms:created>
  <dcterms:modified xsi:type="dcterms:W3CDTF">2020-11-10T23:50:01Z</dcterms:modified>
</cp:coreProperties>
</file>